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charts/chart1.xml" ContentType="application/vnd.openxmlformats-officedocument.drawingml.chart+xml"/>
  <Override PartName="/ppt/slideMasters/slideMaster4.xml" ContentType="application/vnd.openxmlformats-officedocument.presentationml.slideMaster+xml"/>
  <Override PartName="/ppt/slides/slide4.xml" ContentType="application/vnd.openxmlformats-officedocument.presentationml.slide+xml"/>
  <Override PartName="/ppt/charts/chart2.xml" ContentType="application/vnd.openxmlformats-officedocument.drawingml.chart+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charts/chart3.xml" ContentType="application/vnd.openxmlformats-officedocument.drawingml.chart+xml"/>
  <Override PartName="/ppt/slideMasters/slideMaster7.xml" ContentType="application/vnd.openxmlformats-officedocument.presentationml.slideMaster+xml"/>
  <Override PartName="/ppt/slides/slide7.xml" ContentType="application/vnd.openxmlformats-officedocument.presentationml.slide+xml"/>
  <Override PartName="/ppt/charts/chart4.xml" ContentType="application/vnd.openxmlformats-officedocument.drawingml.chart+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charts/chart5.xml" ContentType="application/vnd.openxmlformats-officedocument.drawingml.chart+xml"/>
  <Override PartName="/ppt/slideMasters/slideMaster10.xml" ContentType="application/vnd.openxmlformats-officedocument.presentationml.slideMaster+xml"/>
  <Override PartName="/ppt/slides/slide10.xml" ContentType="application/vnd.openxmlformats-officedocument.presentationml.slide+xml"/>
  <Override PartName="/ppt/charts/chart6.xml" ContentType="application/vnd.openxmlformats-officedocument.drawingml.chart+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Lst>
  <p:notesMasterIdLst>
    <p:notesMasterId r:id="rId2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verview" id="{a380a9fb-8b4a-5e68-d561-b78f44c8aaca}">
          <p14:sldIdLst>
            <p14:sldId id="256"/>
            <p14:sldId id="257"/>
          </p14:sldIdLst>
        </p14:section>
        <p14:section name="Current situation" id="{3a3ea01f-d4e8-c66f-e492-02209ec3c68f}">
          <p14:sldIdLst>
            <p14:sldId id="258"/>
            <p14:sldId id="259"/>
            <p14:sldId id="260"/>
            <p14:sldId id="261"/>
          </p14:sldIdLst>
        </p14:section>
        <p14:section name="Outlook" id="{bd270265-607f-4141-3b62-c2febacaf40a}">
          <p14:sldIdLst>
            <p14:sldId id="262"/>
            <p14:sldId id="263"/>
          </p14:sldIdLst>
        </p14:section>
        <p14:section name="Pipeline and financing" id="{00123da7-d952-24ce-6e02-e8c535287065}">
          <p14:sldIdLst>
            <p14:sldId id="264"/>
            <p14:sldId id="265"/>
          </p14:sldIdLst>
        </p14:section>
        <p14:section name="National way forward" id="{4710eb62-0ed8-8239-62ca-ab6cce459379}">
          <p14:sldIdLst>
            <p14:sldId id="266"/>
            <p14:sldId id="267"/>
            <p14:sldId id="268"/>
          </p14:sldIdLst>
        </p14:section>
        <p14:section name="Action plan" id="{300366bb-2c14-ce84-e048-95b9e8e11f66}">
          <p14:sldIdLst>
            <p14:sldId id="269"/>
            <p14:sldId id="270"/>
            <p14:sldId id="271"/>
            <p14:sldId id="272"/>
            <p14:sldId id="273"/>
          </p14:sldIdLst>
        </p14:section>
        <p14:section name="References" id="{2708ea64-0ada-c7d6-bea0-e919fa70f107}">
          <p14:sldIdLst>
            <p14:sldId id="274"/>
            <p14:sldId id="275"/>
            <p14:sldId id="276"/>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notesMaster" Target="notesMasters/notesMaster1.xml"/><Relationship Id="rId24" Type="http://schemas.openxmlformats.org/officeDocument/2006/relationships/presProps" Target="presProps.xml"/><Relationship Id="rId25" Type="http://schemas.openxmlformats.org/officeDocument/2006/relationships/viewProps" Target="viewProps.xml"/><Relationship Id="rId26" Type="http://schemas.openxmlformats.org/officeDocument/2006/relationships/theme" Target="theme/theme1.xml"/><Relationship Id="rId27"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Relationships xmlns="http://schemas.openxmlformats.org/package/2006/relationships"><Relationship Id="rId1" Type="http://schemas.openxmlformats.org/officeDocument/2006/relationships/package" Target="../embeddings/Microsoft_Excel_Worksheet3.xlsx"/></Relationships>
</file>

<file path=ppt/charts/_rels/chart4.xml.rels><?xml version="1.0" encoding="UTF-8" standalone="yes"?><Relationships xmlns="http://schemas.openxmlformats.org/package/2006/relationships"><Relationship Id="rId1" Type="http://schemas.openxmlformats.org/officeDocument/2006/relationships/package" Target="../embeddings/Microsoft_Excel_Worksheet4.xlsx"/></Relationships>
</file>

<file path=ppt/charts/_rels/chart5.xml.rels><?xml version="1.0" encoding="UTF-8" standalone="yes"?><Relationships xmlns="http://schemas.openxmlformats.org/package/2006/relationships"><Relationship Id="rId1" Type="http://schemas.openxmlformats.org/officeDocument/2006/relationships/package" Target="../embeddings/Microsoft_Excel_Worksheet5.xlsx"/></Relationships>
</file>

<file path=ppt/charts/_rels/chart6.xml.rels><?xml version="1.0" encoding="UTF-8" standalone="yes"?><Relationships xmlns="http://schemas.openxmlformats.org/package/2006/relationships"><Relationship Id="rId1" Type="http://schemas.openxmlformats.org/officeDocument/2006/relationships/package" Target="../embeddings/Microsoft_Excel_Worksheet6.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123B4F"/>
                </a:solidFill>
                <a:latin typeface="+mn-lt"/>
              </a:defRPr>
            </a:pPr>
            <a:r>
              <a:rPr sz="1300" b="0" i="0" u="none" strike="noStrike">
                <a:solidFill>
                  <a:srgbClr val="123B4F"/>
                </a:solidFill>
                <a:latin typeface="+mn-lt"/>
              </a:rPr>
              <a:t>Peak load served, interconnected grid (MW)</a:t>
            </a:r>
          </a:p>
        </c:rich>
      </c:tx>
      <c:layout/>
      <c:overlay val="0"/>
    </c:title>
    <c:autoTitleDeleted val="0"/>
    <c:plotArea>
      <c:layout/>
      <c:lineChart>
        <c:varyColors val="0"/>
        <c:ser>
          <c:idx val="0"/>
          <c:order val="0"/>
          <c:tx>
            <c:strRef>
              <c:f>Sheet1!$B$1</c:f>
              <c:strCache>
                <c:ptCount val="1"/>
                <c:pt idx="0">
                  <c:v>Peak load served (MW)</c:v>
                </c:pt>
              </c:strCache>
            </c:strRef>
          </c:tx>
          <c:spPr>
            <a:solidFill>
              <a:srgbClr val="123B4F"/>
            </a:solidFill>
            <a:ln w="38100" cap="flat">
              <a:solidFill>
                <a:srgbClr val="123B4F"/>
              </a:solidFill>
              <a:prstDash val="solid"/>
              <a:round/>
            </a:ln>
            <a:effectLst/>
          </c:spPr>
          <c:invertIfNegative val="0"/>
          <c:dLbls>
            <c:numFmt formatCode="#,##0" sourceLinked="0"/>
            <c:txPr>
              <a:bodyPr/>
              <a:lstStyle/>
              <a:p>
                <a:pPr>
                  <a:defRPr b="0" i="0" strike="noStrike" sz="1100" u="none">
                    <a:solidFill>
                      <a:srgbClr val="333333"/>
                    </a:solidFill>
                    <a:latin typeface="+mn-lt"/>
                  </a:defRPr>
                </a:pPr>
              </a:p>
            </c:txPr>
            <c:dLblPos val="t"/>
            <c:showLegendKey val="0"/>
            <c:showVal val="1"/>
            <c:showCatName val="0"/>
            <c:showSerName val="0"/>
            <c:showPercent val="0"/>
            <c:showBubbleSize val="0"/>
            <c:showLeaderLines val="0"/>
          </c:dLbls>
          <c:marker>
            <c:symbol val="circle"/>
            <c:size val="9"/>
            <c:spPr>
              <a:solidFill>
                <a:srgbClr val="123B4F"/>
              </a:solidFill>
              <a:ln w="9525" cap="flat">
                <a:solidFill>
                  <a:srgbClr val="123B4F"/>
                </a:solidFill>
                <a:prstDash val="solid"/>
                <a:round/>
              </a:ln>
              <a:effectLst/>
            </c:spPr>
          </c:marker>
          <c:cat>
            <c:multiLvlStrRef>
              <c:f>Sheet1!$A$2:$A$6</c:f>
              <c:multiLvlStrCache>
                <c:ptCount val="5"/>
                <c:lvl>
                  <c:pt idx="0">
                    <c:v>2016</c:v>
                  </c:pt>
                  <c:pt idx="1">
                    <c:v>2017</c:v>
                  </c:pt>
                  <c:pt idx="2">
                    <c:v>2022</c:v>
                  </c:pt>
                  <c:pt idx="3">
                    <c:v>2024</c:v>
                  </c:pt>
                  <c:pt idx="4">
                    <c:v>2025</c:v>
                  </c:pt>
                </c:lvl>
              </c:multiLvlStrCache>
            </c:multiLvlStrRef>
          </c:cat>
          <c:val>
            <c:numRef>
              <c:f>Sheet1!$B$2:$B$6</c:f>
              <c:numCache>
                <c:formatCode>General</c:formatCode>
                <c:ptCount val="5"/>
                <c:pt idx="0">
                  <c:v>295</c:v>
                </c:pt>
                <c:pt idx="1">
                  <c:v>334</c:v>
                </c:pt>
                <c:pt idx="2">
                  <c:v>513</c:v>
                </c:pt>
                <c:pt idx="3">
                  <c:v>829</c:v>
                </c:pt>
                <c:pt idx="4">
                  <c:v>961</c:v>
                </c:pt>
              </c:numCache>
            </c:numRef>
          </c:val>
          <c:smooth val="0"/>
        </c:ser>
        <c:dLbls>
          <c:numFmt formatCode="#,##0" sourceLinked="0"/>
          <c:txPr>
            <a:bodyPr/>
            <a:lstStyle/>
            <a:p>
              <a:pPr>
                <a:defRPr b="0" i="0" strike="noStrike" sz="1100" u="none">
                  <a:solidFill>
                    <a:srgbClr val="333333"/>
                  </a:solidFill>
                  <a:latin typeface="+mn-lt"/>
                </a:defRPr>
              </a:pPr>
            </a:p>
          </c:txPr>
          <c:dLblPos val="t"/>
          <c:showLegendKey val="0"/>
          <c:showVal val="1"/>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444444"/>
                </a:solidFill>
                <a:latin typeface="+mn-lt"/>
              </a:defRPr>
            </a:pPr>
            <a:endParaRPr lang="en-US"/>
          </a:p>
        </c:txPr>
        <c:crossAx val="2094734552"/>
        <c:crosses val="autoZero"/>
        <c:auto val="1"/>
        <c:lblAlgn val="ctr"/>
        <c:noMultiLvlLbl val="1"/>
      </c:catAx>
      <c:valAx>
        <c:axId val="2094734552"/>
        <c:scaling>
          <c:orientation val="minMax"/>
          <c:max val="1200"/>
          <c:min val="0"/>
        </c:scaling>
        <c:delete val="0"/>
        <c:axPos val="l"/>
        <c:majorGridlines>
          <c:spPr>
            <a:ln w="9525" cap="flat">
              <a:solidFill>
                <a:srgbClr val="E3E8EB"/>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444444"/>
                </a:solidFill>
                <a:latin typeface="+mn-lt"/>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123B4F"/>
                </a:solidFill>
                <a:latin typeface="+mn-lt"/>
              </a:defRPr>
            </a:pPr>
            <a:r>
              <a:rPr sz="1300" b="0" i="0" u="none" strike="noStrike">
                <a:solidFill>
                  <a:srgbClr val="123B4F"/>
                </a:solidFill>
                <a:latin typeface="+mn-lt"/>
              </a:rPr>
              <a:t>Konkouré at Kaléta: natural mean monthly flow (m³/s), 1948–1993</a:t>
            </a:r>
          </a:p>
        </c:rich>
      </c:tx>
      <c:layout/>
      <c:overlay val="0"/>
    </c:title>
    <c:autoTitleDeleted val="0"/>
    <c:plotArea>
      <c:layout/>
      <c:barChart>
        <c:barDir val="col"/>
        <c:grouping val="clustered"/>
        <c:varyColors val="0"/>
        <c:ser>
          <c:idx val="0"/>
          <c:order val="0"/>
          <c:tx>
            <c:strRef>
              <c:f>Sheet1!$B$1</c:f>
              <c:strCache>
                <c:ptCount val="1"/>
                <c:pt idx="0">
                  <c:v>m³/s</c:v>
                </c:pt>
              </c:strCache>
            </c:strRef>
          </c:tx>
          <c:spPr>
            <a:solidFill>
              <a:srgbClr val="1F7A8C"/>
            </a:solidFill>
            <a:effectLst/>
          </c:spPr>
          <c:invertIfNegative val="0"/>
          <c:dLbls>
            <c:numFmt formatCode="#,##0" sourceLinked="0"/>
            <c:txPr>
              <a:bodyPr/>
              <a:lstStyle/>
              <a:p>
                <a:pPr>
                  <a:defRPr b="0" i="0" strike="noStrike" sz="1100" u="none">
                    <a:solidFill>
                      <a:srgbClr val="333333"/>
                    </a:solidFill>
                    <a:latin typeface="+mn-lt"/>
                  </a:defRPr>
                </a:pPr>
              </a:p>
            </c:txPr>
            <c:showLegendKey val="0"/>
            <c:showVal val="1"/>
            <c:showCatName val="0"/>
            <c:showSerName val="0"/>
            <c:showPercent val="0"/>
            <c:showBubbleSize val="0"/>
            <c:showLeaderLines val="0"/>
          </c:dLbls>
          <c:cat>
            <c:multiLvlStrRef>
              <c:f>Sheet1!$A$2:$A$13</c:f>
              <c:multiLvlStrCache>
                <c:ptCount val="12"/>
                <c:lvl>
                  <c:pt idx="0">
                    <c:v>Jan</c:v>
                  </c:pt>
                  <c:pt idx="1">
                    <c:v>Feb</c:v>
                  </c:pt>
                  <c:pt idx="2">
                    <c:v>Mar</c:v>
                  </c:pt>
                  <c:pt idx="3">
                    <c:v>Apr</c:v>
                  </c:pt>
                  <c:pt idx="4">
                    <c:v>May</c:v>
                  </c:pt>
                  <c:pt idx="5">
                    <c:v>Jun</c:v>
                  </c:pt>
                  <c:pt idx="6">
                    <c:v>Jul</c:v>
                  </c:pt>
                  <c:pt idx="7">
                    <c:v>Aug</c:v>
                  </c:pt>
                  <c:pt idx="8">
                    <c:v>Sep</c:v>
                  </c:pt>
                  <c:pt idx="9">
                    <c:v>Oct</c:v>
                  </c:pt>
                  <c:pt idx="10">
                    <c:v>Nov</c:v>
                  </c:pt>
                  <c:pt idx="11">
                    <c:v>Dec</c:v>
                  </c:pt>
                </c:lvl>
              </c:multiLvlStrCache>
            </c:multiLvlStrRef>
          </c:cat>
          <c:val>
            <c:numRef>
              <c:f>Sheet1!$B$2:$B$13</c:f>
              <c:numCache>
                <c:formatCode>General</c:formatCode>
                <c:ptCount val="12"/>
                <c:pt idx="0">
                  <c:v>68.7</c:v>
                </c:pt>
                <c:pt idx="1">
                  <c:v>38.4</c:v>
                </c:pt>
                <c:pt idx="2">
                  <c:v>22.2</c:v>
                </c:pt>
                <c:pt idx="3">
                  <c:v>18</c:v>
                </c:pt>
                <c:pt idx="4">
                  <c:v>34.8</c:v>
                </c:pt>
                <c:pt idx="5">
                  <c:v>136</c:v>
                </c:pt>
                <c:pt idx="6">
                  <c:v>506</c:v>
                </c:pt>
                <c:pt idx="7">
                  <c:v>1250</c:v>
                </c:pt>
                <c:pt idx="8">
                  <c:v>1090</c:v>
                </c:pt>
                <c:pt idx="9">
                  <c:v>664</c:v>
                </c:pt>
                <c:pt idx="10">
                  <c:v>309</c:v>
                </c:pt>
                <c:pt idx="11">
                  <c:v>126</c:v>
                </c:pt>
              </c:numCache>
            </c:numRef>
          </c:val>
        </c:ser>
        <c:dLbls>
          <c:numFmt formatCode="#,##0" sourceLinked="0"/>
          <c:txPr>
            <a:bodyPr/>
            <a:lstStyle/>
            <a:p>
              <a:pPr>
                <a:defRPr b="0" i="0" strike="noStrike" sz="1100" u="none">
                  <a:solidFill>
                    <a:srgbClr val="333333"/>
                  </a:solidFill>
                  <a:latin typeface="+mn-lt"/>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444444"/>
                </a:solidFill>
                <a:latin typeface="+mn-lt"/>
              </a:defRPr>
            </a:pPr>
            <a:endParaRPr lang="en-US"/>
          </a:p>
        </c:txPr>
        <c:crossAx val="2094734552"/>
        <c:crosses val="autoZero"/>
        <c:auto val="1"/>
        <c:lblAlgn val="ctr"/>
        <c:noMultiLvlLbl val="1"/>
      </c:catAx>
      <c:valAx>
        <c:axId val="2094734552"/>
        <c:scaling>
          <c:orientation val="minMax"/>
        </c:scaling>
        <c:delete val="0"/>
        <c:axPos val="l"/>
        <c:majorGridlines>
          <c:spPr>
            <a:ln w="9525" cap="flat">
              <a:solidFill>
                <a:srgbClr val="E3E8EB"/>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444444"/>
                </a:solidFill>
                <a:latin typeface="+mn-lt"/>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123B4F"/>
                </a:solidFill>
                <a:latin typeface="+mn-lt"/>
              </a:defRPr>
            </a:pPr>
            <a:r>
              <a:rPr sz="1300" b="0" i="0" u="none" strike="noStrike">
                <a:solidFill>
                  <a:srgbClr val="123B4F"/>
                </a:solidFill>
                <a:latin typeface="+mn-lt"/>
              </a:rPr>
              <a:t>US¢ per kWh (World Bank estimates, 2025)</a:t>
            </a:r>
          </a:p>
        </c:rich>
      </c:tx>
      <c:layout/>
      <c:overlay val="0"/>
    </c:title>
    <c:autoTitleDeleted val="0"/>
    <c:plotArea>
      <c:layout/>
      <c:barChart>
        <c:barDir val="col"/>
        <c:grouping val="clustered"/>
        <c:varyColors val="0"/>
        <c:ser>
          <c:idx val="0"/>
          <c:order val="0"/>
          <c:tx>
            <c:strRef>
              <c:f>Sheet1!$B$1</c:f>
              <c:strCache>
                <c:ptCount val="1"/>
                <c:pt idx="0">
                  <c:v>US¢/kWh</c:v>
                </c:pt>
              </c:strCache>
            </c:strRef>
          </c:tx>
          <c:spPr>
            <a:solidFill>
              <a:srgbClr val="1F7A8C"/>
            </a:solidFill>
            <a:effectLst/>
          </c:spPr>
          <c:invertIfNegative val="0"/>
          <c:dLbls>
            <c:numFmt formatCode="#,##0" sourceLinked="0"/>
            <c:txPr>
              <a:bodyPr/>
              <a:lstStyle/>
              <a:p>
                <a:pPr>
                  <a:defRPr b="0" i="0" strike="noStrike" sz="1100" u="none">
                    <a:solidFill>
                      <a:srgbClr val="333333"/>
                    </a:solidFill>
                    <a:latin typeface="+mn-lt"/>
                  </a:defRPr>
                </a:pPr>
              </a:p>
            </c:txPr>
            <c:showLegendKey val="0"/>
            <c:showVal val="1"/>
            <c:showCatName val="0"/>
            <c:showSerName val="0"/>
            <c:showPercent val="0"/>
            <c:showBubbleSize val="0"/>
            <c:showLeaderLines val="0"/>
          </c:dLbls>
          <c:dPt>
            <c:idx val="0"/>
            <c:invertIfNegative val="0"/>
            <c:bubble3D val="0"/>
            <c:spPr>
              <a:solidFill>
                <a:srgbClr val="1F7A8C"/>
              </a:solidFill>
              <a:effectLst/>
            </c:spPr>
          </c:dPt>
          <c:dPt>
            <c:idx val="1"/>
            <c:invertIfNegative val="0"/>
            <c:bubble3D val="0"/>
            <c:spPr>
              <a:solidFill>
                <a:srgbClr val="B5452E"/>
              </a:solidFill>
              <a:effectLst/>
            </c:spPr>
          </c:dPt>
          <c:cat>
            <c:multiLvlStrRef>
              <c:f>Sheet1!$A$2:$A$3</c:f>
              <c:multiLvlStrCache>
                <c:ptCount val="2"/>
                <c:lvl>
                  <c:pt idx="0">
                    <c:v>Average tariff</c:v>
                  </c:pt>
                  <c:pt idx="1">
                    <c:v>Cost of service</c:v>
                  </c:pt>
                </c:lvl>
              </c:multiLvlStrCache>
            </c:multiLvlStrRef>
          </c:cat>
          <c:val>
            <c:numRef>
              <c:f>Sheet1!$B$2:$B$3</c:f>
              <c:numCache>
                <c:formatCode>General</c:formatCode>
                <c:ptCount val="2"/>
                <c:pt idx="0">
                  <c:v>10</c:v>
                </c:pt>
                <c:pt idx="1">
                  <c:v>27</c:v>
                </c:pt>
              </c:numCache>
            </c:numRef>
          </c:val>
        </c:ser>
        <c:dLbls>
          <c:numFmt formatCode="#,##0" sourceLinked="0"/>
          <c:txPr>
            <a:bodyPr/>
            <a:lstStyle/>
            <a:p>
              <a:pPr>
                <a:defRPr b="0" i="0" strike="noStrike" sz="1100" u="none">
                  <a:solidFill>
                    <a:srgbClr val="333333"/>
                  </a:solidFill>
                  <a:latin typeface="+mn-lt"/>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444444"/>
                </a:solidFill>
                <a:latin typeface="+mn-lt"/>
              </a:defRPr>
            </a:pPr>
            <a:endParaRPr lang="en-US"/>
          </a:p>
        </c:txPr>
        <c:crossAx val="2094734552"/>
        <c:crosses val="autoZero"/>
        <c:auto val="1"/>
        <c:lblAlgn val="ctr"/>
        <c:noMultiLvlLbl val="1"/>
      </c:catAx>
      <c:valAx>
        <c:axId val="2094734552"/>
        <c:scaling>
          <c:orientation val="minMax"/>
          <c:max val="30"/>
          <c:min val="0"/>
        </c:scaling>
        <c:delete val="0"/>
        <c:axPos val="l"/>
        <c:majorGridlines>
          <c:spPr>
            <a:ln w="9525" cap="flat">
              <a:solidFill>
                <a:srgbClr val="E3E8EB"/>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444444"/>
                </a:solidFill>
                <a:latin typeface="+mn-lt"/>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123B4F"/>
                </a:solidFill>
                <a:latin typeface="+mn-lt"/>
              </a:defRPr>
            </a:pPr>
            <a:r>
              <a:rPr sz="1300" b="0" i="0" u="none" strike="noStrike">
                <a:solidFill>
                  <a:srgbClr val="123B4F"/>
                </a:solidFill>
                <a:latin typeface="+mn-lt"/>
              </a:rPr>
              <a:t>Peak demand, MW (illustrative scenarios)</a:t>
            </a:r>
          </a:p>
        </c:rich>
      </c:tx>
      <c:layout/>
      <c:overlay val="0"/>
    </c:title>
    <c:autoTitleDeleted val="0"/>
    <c:plotArea>
      <c:layout/>
      <c:barChart>
        <c:barDir val="col"/>
        <c:grouping val="clustered"/>
        <c:varyColors val="0"/>
        <c:ser>
          <c:idx val="0"/>
          <c:order val="0"/>
          <c:tx>
            <c:strRef>
              <c:f>Sheet1!$B$1</c:f>
              <c:strCache>
                <c:ptCount val="1"/>
                <c:pt idx="0">
                  <c:v>MW</c:v>
                </c:pt>
              </c:strCache>
            </c:strRef>
          </c:tx>
          <c:spPr>
            <a:solidFill>
              <a:srgbClr val="123B4F"/>
            </a:solidFill>
            <a:effectLst/>
          </c:spPr>
          <c:invertIfNegative val="0"/>
          <c:dLbls>
            <c:numFmt formatCode="#,##0" sourceLinked="0"/>
            <c:txPr>
              <a:bodyPr/>
              <a:lstStyle/>
              <a:p>
                <a:pPr>
                  <a:defRPr b="0" i="0" strike="noStrike" sz="1100" u="none">
                    <a:solidFill>
                      <a:srgbClr val="333333"/>
                    </a:solidFill>
                    <a:latin typeface="+mn-lt"/>
                  </a:defRPr>
                </a:pPr>
              </a:p>
            </c:txPr>
            <c:showLegendKey val="0"/>
            <c:showVal val="1"/>
            <c:showCatName val="0"/>
            <c:showSerName val="0"/>
            <c:showPercent val="0"/>
            <c:showBubbleSize val="0"/>
            <c:showLeaderLines val="0"/>
          </c:dLbls>
          <c:dPt>
            <c:idx val="0"/>
            <c:invertIfNegative val="0"/>
            <c:bubble3D val="0"/>
            <c:spPr>
              <a:solidFill>
                <a:srgbClr val="123B4F"/>
              </a:solidFill>
              <a:effectLst/>
            </c:spPr>
          </c:dPt>
          <c:dPt>
            <c:idx val="1"/>
            <c:invertIfNegative val="0"/>
            <c:bubble3D val="0"/>
            <c:spPr>
              <a:solidFill>
                <a:srgbClr val="1F7A8C"/>
              </a:solidFill>
              <a:effectLst/>
            </c:spPr>
          </c:dPt>
          <c:dPt>
            <c:idx val="2"/>
            <c:invertIfNegative val="0"/>
            <c:bubble3D val="0"/>
            <c:spPr>
              <a:solidFill>
                <a:srgbClr val="8C7B6B"/>
              </a:solidFill>
              <a:effectLst/>
            </c:spPr>
          </c:dPt>
          <c:cat>
            <c:multiLvlStrRef>
              <c:f>Sheet1!$A$2:$A$4</c:f>
              <c:multiLvlStrCache>
                <c:ptCount val="3"/>
                <c:lvl>
                  <c:pt idx="0">
                    <c:v>2025 reported (peak served)</c:v>
                  </c:pt>
                  <c:pt idx="1">
                    <c:v>2030 A: trend (estimate)</c:v>
                  </c:pt>
                  <c:pt idx="2">
                    <c:v>2030 B: national plan</c:v>
                  </c:pt>
                </c:lvl>
              </c:multiLvlStrCache>
            </c:multiLvlStrRef>
          </c:cat>
          <c:val>
            <c:numRef>
              <c:f>Sheet1!$B$2:$B$4</c:f>
              <c:numCache>
                <c:formatCode>General</c:formatCode>
                <c:ptCount val="3"/>
                <c:pt idx="0">
                  <c:v>961</c:v>
                </c:pt>
                <c:pt idx="1">
                  <c:v>1860</c:v>
                </c:pt>
                <c:pt idx="2">
                  <c:v>3894</c:v>
                </c:pt>
              </c:numCache>
            </c:numRef>
          </c:val>
        </c:ser>
        <c:dLbls>
          <c:numFmt formatCode="#,##0" sourceLinked="0"/>
          <c:txPr>
            <a:bodyPr/>
            <a:lstStyle/>
            <a:p>
              <a:pPr>
                <a:defRPr b="0" i="0" strike="noStrike" sz="1100" u="none">
                  <a:solidFill>
                    <a:srgbClr val="333333"/>
                  </a:solidFill>
                  <a:latin typeface="+mn-lt"/>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444444"/>
                </a:solidFill>
                <a:latin typeface="+mn-lt"/>
              </a:defRPr>
            </a:pPr>
            <a:endParaRPr lang="en-US"/>
          </a:p>
        </c:txPr>
        <c:crossAx val="2094734552"/>
        <c:crosses val="autoZero"/>
        <c:auto val="1"/>
        <c:lblAlgn val="ctr"/>
        <c:noMultiLvlLbl val="1"/>
      </c:catAx>
      <c:valAx>
        <c:axId val="2094734552"/>
        <c:scaling>
          <c:orientation val="minMax"/>
          <c:max val="4500"/>
          <c:min val="0"/>
        </c:scaling>
        <c:delete val="0"/>
        <c:axPos val="l"/>
        <c:majorGridlines>
          <c:spPr>
            <a:ln w="9525" cap="flat">
              <a:solidFill>
                <a:srgbClr val="E3E8EB"/>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444444"/>
                </a:solidFill>
                <a:latin typeface="+mn-lt"/>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123B4F"/>
                </a:solidFill>
                <a:latin typeface="+mn-lt"/>
              </a:defRPr>
            </a:pPr>
            <a:r>
              <a:rPr sz="1300" b="0" i="0" u="none" strike="noStrike">
                <a:solidFill>
                  <a:srgbClr val="123B4F"/>
                </a:solidFill>
                <a:latin typeface="+mn-lt"/>
              </a:rPr>
              <a:t>Stated nameplate MW by evidenced stage (estimate aggregation)</a:t>
            </a:r>
          </a:p>
        </c:rich>
      </c:tx>
      <c:layout/>
      <c:overlay val="0"/>
    </c:title>
    <c:autoTitleDeleted val="0"/>
    <c:plotArea>
      <c:layout/>
      <c:barChart>
        <c:barDir val="col"/>
        <c:grouping val="clustered"/>
        <c:varyColors val="0"/>
        <c:ser>
          <c:idx val="0"/>
          <c:order val="0"/>
          <c:tx>
            <c:strRef>
              <c:f>Sheet1!$B$1</c:f>
              <c:strCache>
                <c:ptCount val="1"/>
                <c:pt idx="0">
                  <c:v>Hydro</c:v>
                </c:pt>
              </c:strCache>
            </c:strRef>
          </c:tx>
          <c:spPr>
            <a:solidFill>
              <a:srgbClr val="1F7A8C"/>
            </a:solidFill>
            <a:effectLst/>
          </c:spPr>
          <c:invertIfNegative val="0"/>
          <c:dLbls>
            <c:numFmt formatCode="#,##0" sourceLinked="0"/>
            <c:txPr>
              <a:bodyPr/>
              <a:lstStyle/>
              <a:p>
                <a:pPr>
                  <a:defRPr b="0" i="0" strike="noStrike" sz="1100" u="none">
                    <a:solidFill>
                      <a:srgbClr val="333333"/>
                    </a:solidFill>
                    <a:latin typeface="+mn-lt"/>
                  </a:defRPr>
                </a:pPr>
              </a:p>
            </c:txPr>
            <c:showLegendKey val="0"/>
            <c:showVal val="0"/>
            <c:showCatName val="0"/>
            <c:showSerName val="0"/>
            <c:showPercent val="0"/>
            <c:showBubbleSize val="0"/>
            <c:showLeaderLines val="0"/>
          </c:dLbls>
          <c:cat>
            <c:multiLvlStrRef>
              <c:f>Sheet1!$A$2:$A$7</c:f>
              <c:multiLvlStrCache>
                <c:ptCount val="6"/>
                <c:lvl>
                  <c:pt idx="0">
                    <c:v>Operating</c:v>
                  </c:pt>
                  <c:pt idx="1">
                    <c:v>Under construction</c:v>
                  </c:pt>
                  <c:pt idx="2">
                    <c:v>Financing committed</c:v>
                  </c:pt>
                  <c:pt idx="3">
                    <c:v>Active development</c:v>
                  </c:pt>
                  <c:pt idx="4">
                    <c:v>Announced</c:v>
                  </c:pt>
                  <c:pt idx="5">
                    <c:v>Proposed</c:v>
                  </c:pt>
                </c:lvl>
              </c:multiLvlStrCache>
            </c:multiLvlStrRef>
          </c:cat>
          <c:val>
            <c:numRef>
              <c:f>Sheet1!$B$2:$B$7</c:f>
              <c:numCache>
                <c:formatCode>General</c:formatCode>
                <c:ptCount val="6"/>
                <c:pt idx="0">
                  <c:v>787.7</c:v>
                </c:pt>
                <c:pt idx="1">
                  <c:v>300</c:v>
                </c:pt>
                <c:pt idx="2">
                  <c:v>38.6</c:v>
                </c:pt>
                <c:pt idx="3">
                  <c:v>955.5</c:v>
                </c:pt>
                <c:pt idx="4">
                  <c:v>0</c:v>
                </c:pt>
                <c:pt idx="5">
                  <c:v>1731.1</c:v>
                </c:pt>
              </c:numCache>
            </c:numRef>
          </c:val>
        </c:ser>
        <c:ser>
          <c:idx val="1"/>
          <c:order val="1"/>
          <c:tx>
            <c:strRef>
              <c:f>Sheet1!$C$1</c:f>
              <c:strCache>
                <c:ptCount val="1"/>
                <c:pt idx="0">
                  <c:v>Thermal (incl. gas)</c:v>
                </c:pt>
              </c:strCache>
            </c:strRef>
          </c:tx>
          <c:spPr>
            <a:solidFill>
              <a:srgbClr val="8C7B6B"/>
            </a:solidFill>
            <a:effectLst/>
          </c:spPr>
          <c:invertIfNegative val="0"/>
          <c:dLbls>
            <c:numFmt formatCode="#,##0" sourceLinked="0"/>
            <c:txPr>
              <a:bodyPr/>
              <a:lstStyle/>
              <a:p>
                <a:pPr>
                  <a:defRPr b="0" i="0" strike="noStrike" sz="1100" u="none">
                    <a:solidFill>
                      <a:srgbClr val="333333"/>
                    </a:solidFill>
                    <a:latin typeface="+mn-lt"/>
                  </a:defRPr>
                </a:pPr>
              </a:p>
            </c:txPr>
            <c:showLegendKey val="0"/>
            <c:showVal val="0"/>
            <c:showCatName val="0"/>
            <c:showSerName val="0"/>
            <c:showPercent val="0"/>
            <c:showBubbleSize val="0"/>
            <c:showLeaderLines val="0"/>
          </c:dLbls>
          <c:cat>
            <c:multiLvlStrRef>
              <c:f>Sheet1!$A$2:$A$7</c:f>
              <c:multiLvlStrCache>
                <c:ptCount val="6"/>
                <c:lvl>
                  <c:pt idx="0">
                    <c:v>Operating</c:v>
                  </c:pt>
                  <c:pt idx="1">
                    <c:v>Under construction</c:v>
                  </c:pt>
                  <c:pt idx="2">
                    <c:v>Financing committed</c:v>
                  </c:pt>
                  <c:pt idx="3">
                    <c:v>Active development</c:v>
                  </c:pt>
                  <c:pt idx="4">
                    <c:v>Announced</c:v>
                  </c:pt>
                  <c:pt idx="5">
                    <c:v>Proposed</c:v>
                  </c:pt>
                </c:lvl>
              </c:multiLvlStrCache>
            </c:multiLvlStrRef>
          </c:cat>
          <c:val>
            <c:numRef>
              <c:f>Sheet1!$C$2:$C$7</c:f>
              <c:numCache>
                <c:formatCode>General</c:formatCode>
                <c:ptCount val="6"/>
                <c:pt idx="0">
                  <c:v>518</c:v>
                </c:pt>
                <c:pt idx="1">
                  <c:v>0</c:v>
                </c:pt>
                <c:pt idx="2">
                  <c:v>40</c:v>
                </c:pt>
                <c:pt idx="3">
                  <c:v>0</c:v>
                </c:pt>
                <c:pt idx="4">
                  <c:v>1938</c:v>
                </c:pt>
                <c:pt idx="5">
                  <c:v>600</c:v>
                </c:pt>
              </c:numCache>
            </c:numRef>
          </c:val>
        </c:ser>
        <c:ser>
          <c:idx val="2"/>
          <c:order val="2"/>
          <c:tx>
            <c:strRef>
              <c:f>Sheet1!$D$1</c:f>
              <c:strCache>
                <c:ptCount val="1"/>
                <c:pt idx="0">
                  <c:v>Solar PV</c:v>
                </c:pt>
              </c:strCache>
            </c:strRef>
          </c:tx>
          <c:spPr>
            <a:solidFill>
              <a:srgbClr val="E8A33D"/>
            </a:solidFill>
            <a:effectLst/>
          </c:spPr>
          <c:invertIfNegative val="0"/>
          <c:dLbls>
            <c:numFmt formatCode="#,##0" sourceLinked="0"/>
            <c:txPr>
              <a:bodyPr/>
              <a:lstStyle/>
              <a:p>
                <a:pPr>
                  <a:defRPr b="0" i="0" strike="noStrike" sz="1100" u="none">
                    <a:solidFill>
                      <a:srgbClr val="333333"/>
                    </a:solidFill>
                    <a:latin typeface="+mn-lt"/>
                  </a:defRPr>
                </a:pPr>
              </a:p>
            </c:txPr>
            <c:showLegendKey val="0"/>
            <c:showVal val="0"/>
            <c:showCatName val="0"/>
            <c:showSerName val="0"/>
            <c:showPercent val="0"/>
            <c:showBubbleSize val="0"/>
            <c:showLeaderLines val="0"/>
          </c:dLbls>
          <c:cat>
            <c:multiLvlStrRef>
              <c:f>Sheet1!$A$2:$A$7</c:f>
              <c:multiLvlStrCache>
                <c:ptCount val="6"/>
                <c:lvl>
                  <c:pt idx="0">
                    <c:v>Operating</c:v>
                  </c:pt>
                  <c:pt idx="1">
                    <c:v>Under construction</c:v>
                  </c:pt>
                  <c:pt idx="2">
                    <c:v>Financing committed</c:v>
                  </c:pt>
                  <c:pt idx="3">
                    <c:v>Active development</c:v>
                  </c:pt>
                  <c:pt idx="4">
                    <c:v>Announced</c:v>
                  </c:pt>
                  <c:pt idx="5">
                    <c:v>Proposed</c:v>
                  </c:pt>
                </c:lvl>
              </c:multiLvlStrCache>
            </c:multiLvlStrRef>
          </c:cat>
          <c:val>
            <c:numRef>
              <c:f>Sheet1!$D$2:$D$7</c:f>
              <c:numCache>
                <c:formatCode>General</c:formatCode>
                <c:ptCount val="6"/>
                <c:pt idx="0">
                  <c:v>0</c:v>
                </c:pt>
                <c:pt idx="1">
                  <c:v>0</c:v>
                </c:pt>
                <c:pt idx="2">
                  <c:v>0</c:v>
                </c:pt>
                <c:pt idx="3">
                  <c:v>90</c:v>
                </c:pt>
                <c:pt idx="4">
                  <c:v>107</c:v>
                </c:pt>
                <c:pt idx="5">
                  <c:v>996</c:v>
                </c:pt>
              </c:numCache>
            </c:numRef>
          </c:val>
        </c:ser>
        <c:dLbls>
          <c:numFmt formatCode="#,##0" sourceLinked="0"/>
          <c:txPr>
            <a:bodyPr/>
            <a:lstStyle/>
            <a:p>
              <a:pPr>
                <a:defRPr b="0" i="0" strike="noStrike" sz="1100" u="none">
                  <a:solidFill>
                    <a:srgbClr val="333333"/>
                  </a:solidFill>
                  <a:latin typeface="+mn-lt"/>
                </a:defRPr>
              </a:pPr>
            </a:p>
          </c:txPr>
          <c:showLegendKey val="0"/>
          <c:showVal val="0"/>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444444"/>
                </a:solidFill>
                <a:latin typeface="+mn-lt"/>
              </a:defRPr>
            </a:pPr>
            <a:endParaRPr lang="en-US"/>
          </a:p>
        </c:txPr>
        <c:crossAx val="2094734552"/>
        <c:crosses val="autoZero"/>
        <c:auto val="1"/>
        <c:lblAlgn val="ctr"/>
        <c:noMultiLvlLbl val="1"/>
      </c:catAx>
      <c:valAx>
        <c:axId val="2094734552"/>
        <c:scaling>
          <c:orientation val="minMax"/>
        </c:scaling>
        <c:delete val="0"/>
        <c:axPos val="l"/>
        <c:majorGridlines>
          <c:spPr>
            <a:ln w="9525" cap="flat">
              <a:solidFill>
                <a:srgbClr val="E3E8EB"/>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444444"/>
                </a:solidFill>
                <a:latin typeface="+mn-lt"/>
              </a:defRPr>
            </a:pPr>
            <a:endParaRPr lang="en-US"/>
          </a:p>
        </c:txPr>
        <c:crossAx val="2094734554"/>
        <c:crosses val="autoZero"/>
        <c:crossBetween val="between"/>
      </c:valAx>
      <c:spPr>
        <a:noFill/>
        <a:ln>
          <a:noFill/>
        </a:ln>
        <a:effectLst/>
      </c:spPr>
    </c:plotArea>
    <c:legend>
      <c:legendPos val="b"/>
      <c:overlay val="0"/>
      <c:txPr>
        <a:bodyPr/>
        <a:lstStyle/>
        <a:p>
          <a:pPr>
            <a:defRPr sz="1100">
              <a:latin typeface="+mn-lt"/>
              <a:cs typeface="+mn-lt"/>
            </a:defRPr>
          </a:pPr>
          <a:endParaRPr lang="en-US"/>
        </a:p>
      </c:txPr>
    </c:legend>
    <c:plotVisOnly val="1"/>
    <c:dispBlanksAs val="span"/>
  </c:chart>
  <c:spPr>
    <a:noFill/>
    <a:ln>
      <a:noFill/>
    </a:ln>
    <a:effectLst/>
  </c:spPr>
  <c:externalData r:id="rId1">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123B4F"/>
                </a:solidFill>
                <a:latin typeface="+mn-lt"/>
              </a:defRPr>
            </a:pPr>
            <a:r>
              <a:rPr sz="1300" b="0" i="0" u="none" strike="noStrike">
                <a:solidFill>
                  <a:srgbClr val="123B4F"/>
                </a:solidFill>
                <a:latin typeface="+mn-lt"/>
              </a:rPr>
              <a:t>Mission 300 compact need by segment, US$ bn (requested)</a:t>
            </a:r>
          </a:p>
        </c:rich>
      </c:tx>
      <c:layout/>
      <c:overlay val="0"/>
    </c:title>
    <c:autoTitleDeleted val="0"/>
    <c:plotArea>
      <c:layout/>
      <c:barChart>
        <c:barDir val="bar"/>
        <c:grouping val="clustered"/>
        <c:varyColors val="0"/>
        <c:ser>
          <c:idx val="0"/>
          <c:order val="0"/>
          <c:tx>
            <c:strRef>
              <c:f>Sheet1!$B$1</c:f>
              <c:strCache>
                <c:ptCount val="1"/>
                <c:pt idx="0">
                  <c:v>US$ bn</c:v>
                </c:pt>
              </c:strCache>
            </c:strRef>
          </c:tx>
          <c:spPr>
            <a:solidFill>
              <a:srgbClr val="123B4F"/>
            </a:solidFill>
            <a:effectLst/>
          </c:spPr>
          <c:invertIfNegative val="0"/>
          <c:dLbls>
            <c:numFmt formatCode="0.00" sourceLinked="0"/>
            <c:txPr>
              <a:bodyPr/>
              <a:lstStyle/>
              <a:p>
                <a:pPr>
                  <a:defRPr b="0" i="0" strike="noStrike" sz="1100" u="none">
                    <a:solidFill>
                      <a:srgbClr val="333333"/>
                    </a:solidFill>
                    <a:latin typeface="+mn-lt"/>
                  </a:defRPr>
                </a:pPr>
              </a:p>
            </c:txPr>
            <c:showLegendKey val="0"/>
            <c:showVal val="1"/>
            <c:showCatName val="0"/>
            <c:showSerName val="0"/>
            <c:showPercent val="0"/>
            <c:showBubbleSize val="0"/>
            <c:showLeaderLines val="0"/>
          </c:dLbls>
          <c:cat>
            <c:multiLvlStrRef>
              <c:f>Sheet1!$A$2:$A$5</c:f>
              <c:multiLvlStrCache>
                <c:ptCount val="4"/>
                <c:lvl>
                  <c:pt idx="0">
                    <c:v>Generation</c:v>
                  </c:pt>
                  <c:pt idx="1">
                    <c:v>Rural electrification</c:v>
                  </c:pt>
                  <c:pt idx="2">
                    <c:v>Transmission</c:v>
                  </c:pt>
                  <c:pt idx="3">
                    <c:v>Distribution</c:v>
                  </c:pt>
                </c:lvl>
              </c:multiLvlStrCache>
            </c:multiLvlStrRef>
          </c:cat>
          <c:val>
            <c:numRef>
              <c:f>Sheet1!$B$2:$B$5</c:f>
              <c:numCache>
                <c:formatCode>General</c:formatCode>
                <c:ptCount val="4"/>
                <c:pt idx="0">
                  <c:v>5.33</c:v>
                </c:pt>
                <c:pt idx="1">
                  <c:v>3.18</c:v>
                </c:pt>
                <c:pt idx="2">
                  <c:v>1.74</c:v>
                </c:pt>
                <c:pt idx="3">
                  <c:v>1.13</c:v>
                </c:pt>
              </c:numCache>
            </c:numRef>
          </c:val>
        </c:ser>
        <c:dLbls>
          <c:numFmt formatCode="0.00" sourceLinked="0"/>
          <c:txPr>
            <a:bodyPr/>
            <a:lstStyle/>
            <a:p>
              <a:pPr>
                <a:defRPr b="0" i="0" strike="noStrike" sz="1100" u="none">
                  <a:solidFill>
                    <a:srgbClr val="333333"/>
                  </a:solidFill>
                  <a:latin typeface="+mn-lt"/>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100" b="0" i="0" u="none" strike="noStrike">
                <a:solidFill>
                  <a:srgbClr val="444444"/>
                </a:solidFill>
                <a:latin typeface="+mn-lt"/>
              </a:defRPr>
            </a:pPr>
            <a:endParaRPr lang="en-US"/>
          </a:p>
        </c:txPr>
        <c:crossAx val="2094734552"/>
        <c:crosses val="autoZero"/>
        <c:auto val="1"/>
        <c:lblAlgn val="ctr"/>
        <c:noMultiLvlLbl val="1"/>
      </c:catAx>
      <c:valAx>
        <c:axId val="2094734552"/>
        <c:scaling>
          <c:orientation val="minMax"/>
          <c:max val="6.5"/>
          <c:min val="0"/>
        </c:scaling>
        <c:delete val="0"/>
        <c:axPos val="b"/>
        <c:majorGridlines>
          <c:spPr>
            <a:ln w="9525" cap="flat">
              <a:solidFill>
                <a:srgbClr val="E3E8EB"/>
              </a:solidFill>
              <a:prstDash val="solid"/>
              <a:round/>
            </a:ln>
          </c:spPr>
        </c:majorGridlines>
        <c:numFmt formatCode="General" sourceLinked="0"/>
        <c:majorTickMark val="out"/>
        <c:minorTickMark val="none"/>
        <c:tickLblPos val="low"/>
        <c:spPr>
          <a:ln w="12700" cap="flat">
            <a:solidFill>
              <a:srgbClr val="888888"/>
            </a:solidFill>
            <a:prstDash val="solid"/>
            <a:round/>
          </a:ln>
        </c:spPr>
        <c:txPr>
          <a:bodyPr/>
          <a:lstStyle/>
          <a:p>
            <a:pPr>
              <a:defRPr sz="1000" b="0" i="0" u="none" strike="noStrike">
                <a:solidFill>
                  <a:srgbClr val="444444"/>
                </a:solidFill>
                <a:latin typeface="+mn-lt"/>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_DARK">
    <p:bg>
      <p:bgPr>
        <a:solidFill>
          <a:srgbClr val="123B4F"/>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640080" y="1737360"/>
            <a:ext cx="10881360" cy="1371600"/>
          </a:xfrm>
          <a:prstGeom prst="rect">
            <a:avLst/>
          </a:prstGeom>
          <a:noFill/>
          <a:ln/>
        </p:spPr>
        <p:txBody>
          <a:bodyPr wrap="square" rtlCol="0"/>
          <a:lstStyle>
            <a:lvl1pPr indent="0" marL="0">
              <a:buNone/>
              <a:defRPr lang="en-US" sz="4000" b="1" dirty="0">
                <a:solidFill>
                  <a:srgbClr val="FFFFFF"/>
                </a:solidFill>
                <a:latin typeface="Cambria" pitchFamily="34" charset="0"/>
                <a:ea typeface="Cambria" pitchFamily="34" charset="-122"/>
                <a:cs typeface="Cambria" pitchFamily="34" charset="-120"/>
              </a:defRPr>
            </a:lvl1pPr>
          </a:lstStyle>
          <a:p>
            <a:pPr indent="0" marL="0">
              <a:buNone/>
            </a:pPr>
            <a:endParaRPr lang="en-US" sz="4000" dirty="0"/>
          </a:p>
        </p:txBody>
      </p:sp>
      <p:sp>
        <p:nvSpPr>
          <p:cNvPr id="3" name="Text 0"/>
          <p:cNvSpPr/>
          <p:nvPr>
            <p:ph idx="101" type="body" hasCustomPrompt="1"/>
          </p:nvPr>
        </p:nvSpPr>
        <p:spPr>
          <a:xfrm>
            <a:off x="640080" y="3246120"/>
            <a:ext cx="10881360" cy="2377440"/>
          </a:xfrm>
          <a:prstGeom prst="rect">
            <a:avLst/>
          </a:prstGeom>
          <a:noFill/>
          <a:ln/>
        </p:spPr>
        <p:txBody>
          <a:bodyPr wrap="square" rtlCol="0"/>
          <a:lstStyle>
            <a:lvl1pPr indent="0" marL="0">
              <a:buNone/>
              <a:defRPr lang="en-US" sz="1800" dirty="0">
                <a:solidFill>
                  <a:srgbClr val="DCE8EC"/>
                </a:solidFill>
                <a:latin typeface="Calibri" pitchFamily="34" charset="0"/>
                <a:ea typeface="Calibri" pitchFamily="34" charset="-122"/>
                <a:cs typeface="Calibri" pitchFamily="34" charset="-120"/>
              </a:defRPr>
            </a:lvl1pPr>
          </a:lstStyle>
          <a:p>
            <a:pPr indent="0" marL="0">
              <a:buNone/>
            </a:pPr>
            <a:endParaRPr lang="en-US" sz="18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rtlCol="0"/>
          <a:lstStyle>
            <a:lvl1pPr indent="0" marL="0">
              <a:buNone/>
              <a:defRPr lang="en-US" sz="3000" b="1" dirty="0">
                <a:solidFill>
                  <a:srgbClr val="123B4F"/>
                </a:solidFill>
                <a:latin typeface="Cambria" pitchFamily="34" charset="0"/>
                <a:ea typeface="Cambria" pitchFamily="34" charset="-122"/>
                <a:cs typeface="Cambria" pitchFamily="34" charset="-120"/>
              </a:defRPr>
            </a:lvl1pPr>
          </a:lstStyle>
          <a:p>
            <a:pPr indent="0" marL="0">
              <a:buNone/>
            </a:pPr>
            <a:endParaRPr lang="en-US" sz="3000" dirty="0"/>
          </a:p>
        </p:txBody>
      </p:sp>
      <p:sp>
        <p:nvSpPr>
          <p:cNvPr id="3" name="Text 0"/>
          <p:cNvSpPr/>
          <p:nvPr/>
        </p:nvSpPr>
        <p:spPr>
          <a:xfrm>
            <a:off x="548640" y="6446520"/>
            <a:ext cx="10058400" cy="274320"/>
          </a:xfrm>
          <a:prstGeom prst="rect">
            <a:avLst/>
          </a:prstGeom>
          <a:noFill/>
          <a:ln/>
        </p:spPr>
        <p:txBody>
          <a:bodyPr wrap="square" rtlCol="0" anchor="ctr"/>
          <a:lstStyle/>
          <a:p>
            <a:pPr indent="0" marL="0">
              <a:buNone/>
            </a:pPr>
            <a:r>
              <a:rPr lang="en-US" sz="900" dirty="0">
                <a:solidFill>
                  <a:srgbClr val="4B5563"/>
                </a:solidFill>
                <a:latin typeface="Calibri" pitchFamily="34" charset="0"/>
                <a:ea typeface="Calibri" pitchFamily="34" charset="-122"/>
                <a:cs typeface="Calibri" pitchFamily="34" charset="-120"/>
              </a:rPr>
              <a:t>Guinea Energy Intelligence — Public/Government Edition — v1.3 (draft) · Alendei Green RE Pvt. Ltd. · Evidence-led; not a government-approved dataset</a:t>
            </a:r>
            <a:endParaRPr lang="en-US" sz="900" dirty="0"/>
          </a:p>
        </p:txBody>
      </p:sp>
      <p:sp>
        <p:nvSpPr>
          <p:cNvPr id="25" name="Slide Number Placeholder 0"/>
          <p:cNvSpPr>
            <a:spLocks noGrp="1"/>
          </p:cNvSpPr>
          <p:nvPr>
            <p:ph type="sldNum" sz="quarter" idx="4294967295"/>
          </p:nvPr>
        </p:nvSpPr>
        <p:spPr>
          <a:xfrm>
            <a:off x="11155680" y="6446520"/>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4B5563"/>
                </a:solidFill>
                <a:latin typeface="Calibri"/>
                <a:ea typeface="Calibri"/>
                <a:cs typeface="Calibri"/>
              </a:defRPr>
            </a:lvl1pPr>
          </a:lstStyle>
          <a:p>
            <a:pPr algn="l"/>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55680" y="6446520"/>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4B5563"/>
                </a:solidFill>
                <a:latin typeface="Calibri"/>
                <a:ea typeface="Calibri"/>
                <a:cs typeface="Calibri"/>
              </a:defRPr>
            </a:lvl1pPr>
          </a:lstStyle>
          <a:p>
            <a:pPr algn="l"/>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3.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slideLayout" Target="../slideLayouts/slideLayout3.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chart" Target="/ppt/charts/chart3.xml"/><Relationship Id="rId2" Type="http://schemas.openxmlformats.org/officeDocument/2006/relationships/slideLayout" Target="../slideLayouts/slideLayout3.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chart" Target="/ppt/charts/chart4.xml"/><Relationship Id="rId2" Type="http://schemas.openxmlformats.org/officeDocument/2006/relationships/slideLayout" Target="../slideLayouts/slideLayout3.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chart" Target="/ppt/charts/chart5.xml"/><Relationship Id="rId2" Type="http://schemas.openxmlformats.org/officeDocument/2006/relationships/slideLayout" Target="../slideLayouts/slideLayout3.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chart" Target="/ppt/charts/chart6.xml"/><Relationship Id="rId2" Type="http://schemas.openxmlformats.org/officeDocument/2006/relationships/slideLayout" Target="../slideLayouts/slideLayout3.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title" hasCustomPrompt="1"/>
          </p:nvPr>
        </p:nvSpPr>
        <p:spPr>
          <a:xfrm>
            <a:off x="640080" y="1737360"/>
            <a:ext cx="10881360" cy="1371600"/>
          </a:xfrm>
          <a:prstGeom prst="rect">
            <a:avLst/>
          </a:prstGeom>
          <a:noFill/>
          <a:ln/>
        </p:spPr>
        <p:txBody>
          <a:bodyPr wrap="square" rtlCol="0" anchor="b"/>
          <a:lstStyle/>
          <a:p>
            <a:pPr indent="0" marL="0">
              <a:buNone/>
            </a:pPr>
            <a:r>
              <a:rPr lang="en-US" sz="4000" b="1" dirty="0">
                <a:solidFill>
                  <a:srgbClr val="FFFFFF"/>
                </a:solidFill>
                <a:latin typeface="Cambria" pitchFamily="34" charset="0"/>
                <a:ea typeface="Cambria" pitchFamily="34" charset="-122"/>
                <a:cs typeface="Cambria" pitchFamily="34" charset="-120"/>
              </a:rPr>
              <a:t>Guinea Energy Intelligence 2026</a:t>
            </a:r>
            <a:endParaRPr lang="en-US" sz="4000" dirty="0"/>
          </a:p>
        </p:txBody>
      </p:sp>
      <p:sp>
        <p:nvSpPr>
          <p:cNvPr id="3" name="Text 0"/>
          <p:cNvSpPr/>
          <p:nvPr>
            <p:ph idx="101" type="body" hasCustomPrompt="1"/>
          </p:nvPr>
        </p:nvSpPr>
        <p:spPr>
          <a:xfrm>
            <a:off x="640080" y="3246120"/>
            <a:ext cx="10881360" cy="2377440"/>
          </a:xfrm>
          <a:prstGeom prst="rect">
            <a:avLst/>
          </a:prstGeom>
          <a:noFill/>
          <a:ln/>
        </p:spPr>
        <p:txBody>
          <a:bodyPr wrap="square" rtlCol="0" anchor="t"/>
          <a:lstStyle/>
          <a:p>
            <a:pPr indent="0" marL="0">
              <a:buNone/>
            </a:pPr>
            <a:r>
              <a:rPr lang="en-US" sz="1800" dirty="0">
                <a:solidFill>
                  <a:srgbClr val="DCE8EC"/>
                </a:solidFill>
                <a:latin typeface="Calibri" pitchFamily="34" charset="0"/>
                <a:ea typeface="Calibri" pitchFamily="34" charset="-122"/>
                <a:cs typeface="Calibri" pitchFamily="34" charset="-120"/>
              </a:rPr>
              <a:t>Power-sector assessment, investment pipeline and priorities for 2027–2035</a:t>
            </a:r>
            <a:endParaRPr lang="en-US" sz="1800" dirty="0"/>
          </a:p>
          <a:p>
            <a:pPr indent="0" marL="0">
              <a:buNone/>
            </a:pPr>
            <a:r>
              <a:rPr lang="en-US" sz="1800" dirty="0">
                <a:solidFill>
                  <a:srgbClr val="DCE8EC"/>
                </a:solidFill>
                <a:latin typeface="Calibri" pitchFamily="34" charset="0"/>
                <a:ea typeface="Calibri" pitchFamily="34" charset="-122"/>
                <a:cs typeface="Calibri" pitchFamily="34" charset="-120"/>
              </a:rPr>
              <a:t>Public/Government Edition — v1.3 (draft for owner review; not approved; not published)</a:t>
            </a:r>
            <a:endParaRPr lang="en-US" sz="1800" dirty="0"/>
          </a:p>
          <a:p>
            <a:pPr indent="0" marL="0">
              <a:buNone/>
            </a:pPr>
            <a:r>
              <a:rPr lang="en-US" sz="1800" dirty="0">
                <a:solidFill>
                  <a:srgbClr val="DCE8EC"/>
                </a:solidFill>
                <a:latin typeface="Calibri" pitchFamily="34" charset="0"/>
                <a:ea typeface="Calibri" pitchFamily="34" charset="-122"/>
                <a:cs typeface="Calibri" pitchFamily="34" charset="-120"/>
              </a:rPr>
              <a:t>Executive presentation · 16-Oct-2026</a:t>
            </a:r>
            <a:endParaRPr lang="en-US" sz="1800" dirty="0"/>
          </a:p>
          <a:p>
            <a:pPr indent="0" marL="0">
              <a:buNone/>
            </a:pPr>
            <a:r>
              <a:rPr lang="en-US" sz="1800" dirty="0">
                <a:solidFill>
                  <a:srgbClr val="DCE8EC"/>
                </a:solidFill>
                <a:latin typeface="Calibri" pitchFamily="34" charset="0"/>
                <a:ea typeface="Calibri" pitchFamily="34" charset="-122"/>
                <a:cs typeface="Calibri" pitchFamily="34" charset="-120"/>
              </a:rPr>
              <a:t>Prepared by Alendei Green RE Pvt. Ltd. (Alendei Group), Vadodara, India</a:t>
            </a:r>
            <a:endParaRPr lang="en-US" sz="1800" dirty="0"/>
          </a:p>
          <a:p>
            <a:pPr indent="0" marL="0">
              <a:buNone/>
            </a:pPr>
            <a:r>
              <a:rPr lang="en-US" sz="1800" dirty="0">
                <a:solidFill>
                  <a:srgbClr val="DCE8EC"/>
                </a:solidFill>
                <a:latin typeface="Calibri" pitchFamily="34" charset="0"/>
                <a:ea typeface="Calibri" pitchFamily="34" charset="-122"/>
                <a:cs typeface="Calibri" pitchFamily="34" charset="-120"/>
              </a:rPr>
              <a:t>Evidence-led research submission; not a government-approved dataset · Evidence retrieved 08–15 October 2026</a:t>
            </a:r>
            <a:endParaRPr lang="en-US" sz="18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rtlCol="0" anchor="ctr"/>
          <a:lstStyle/>
          <a:p>
            <a:pPr indent="0" marL="0">
              <a:buNone/>
            </a:pPr>
            <a:r>
              <a:rPr lang="en-US" sz="3000" b="1" dirty="0">
                <a:solidFill>
                  <a:srgbClr val="123B4F"/>
                </a:solidFill>
                <a:latin typeface="Cambria" pitchFamily="34" charset="0"/>
                <a:ea typeface="Cambria" pitchFamily="34" charset="-122"/>
                <a:cs typeface="Cambria" pitchFamily="34" charset="-120"/>
              </a:rPr>
              <a:t>Large hydro base, but the system is not yet firm</a:t>
            </a:r>
            <a:endParaRPr lang="en-US" sz="3000" dirty="0"/>
          </a:p>
        </p:txBody>
      </p:sp>
      <p:sp>
        <p:nvSpPr>
          <p:cNvPr id="3" name="Text 1"/>
          <p:cNvSpPr txBox="1"/>
          <p:nvPr/>
        </p:nvSpPr>
        <p:spPr>
          <a:xfrm>
            <a:off x="548640" y="1234440"/>
            <a:ext cx="11064240" cy="640080"/>
          </a:xfrm>
          <a:prstGeom prst="rect">
            <a:avLst/>
          </a:prstGeom>
          <a:noFill/>
          <a:ln/>
        </p:spPr>
        <p:txBody>
          <a:bodyPr wrap="square" lIns="0" tIns="0" rIns="0" bIns="0" rtlCol="0" anchor="ctr"/>
          <a:lstStyle/>
          <a:p>
            <a:pPr indent="0" marL="0">
              <a:buNone/>
            </a:pPr>
            <a:r>
              <a:rPr lang="en-US" sz="1700" i="1" dirty="0">
                <a:solidFill>
                  <a:srgbClr val="1F7A8C"/>
                </a:solidFill>
              </a:rPr>
              <a:t>Guinea was a net exporter in 2025, a wet year. Dry-season firm supply, the Conakry grid and utility finances are the binding constraints.</a:t>
            </a:r>
            <a:endParaRPr lang="en-US" sz="1700" dirty="0"/>
          </a:p>
        </p:txBody>
      </p:sp>
      <p:sp>
        <p:nvSpPr>
          <p:cNvPr id="4" name="stat-card"/>
          <p:cNvSpPr/>
          <p:nvPr/>
        </p:nvSpPr>
        <p:spPr>
          <a:xfrm>
            <a:off x="548640" y="2148840"/>
            <a:ext cx="2606040" cy="1417320"/>
          </a:xfrm>
          <a:prstGeom prst="roundRect">
            <a:avLst>
              <a:gd name="adj" fmla="val 5161"/>
            </a:avLst>
          </a:prstGeom>
          <a:solidFill>
            <a:srgbClr val="EEF3F5"/>
          </a:solidFill>
          <a:ln w="12700">
            <a:solidFill>
              <a:srgbClr val="EEF3F5"/>
            </a:solidFill>
            <a:prstDash val="solid"/>
          </a:ln>
        </p:spPr>
      </p:sp>
      <p:sp>
        <p:nvSpPr>
          <p:cNvPr id="5" name="stat-value"/>
          <p:cNvSpPr txBox="1"/>
          <p:nvPr/>
        </p:nvSpPr>
        <p:spPr>
          <a:xfrm>
            <a:off x="731520" y="2258568"/>
            <a:ext cx="2240280" cy="685800"/>
          </a:xfrm>
          <a:prstGeom prst="rect">
            <a:avLst/>
          </a:prstGeom>
          <a:noFill/>
          <a:ln/>
        </p:spPr>
        <p:txBody>
          <a:bodyPr wrap="square" lIns="0" tIns="0" rIns="0" bIns="0" rtlCol="0" anchor="ctr"/>
          <a:lstStyle/>
          <a:p>
            <a:pPr indent="0" marL="0">
              <a:buNone/>
            </a:pPr>
            <a:r>
              <a:rPr lang="en-US" sz="2400" b="1" dirty="0">
                <a:solidFill>
                  <a:srgbClr val="123B4F"/>
                </a:solidFill>
                <a:latin typeface="Cambria" pitchFamily="34" charset="0"/>
                <a:ea typeface="Cambria" pitchFamily="34" charset="-122"/>
                <a:cs typeface="Cambria" pitchFamily="34" charset="-120"/>
              </a:rPr>
              <a:t>1,305.6 MW</a:t>
            </a:r>
            <a:endParaRPr lang="en-US" sz="2400" dirty="0"/>
          </a:p>
        </p:txBody>
      </p:sp>
      <p:sp>
        <p:nvSpPr>
          <p:cNvPr id="6" name="stat-label"/>
          <p:cNvSpPr txBox="1"/>
          <p:nvPr/>
        </p:nvSpPr>
        <p:spPr>
          <a:xfrm>
            <a:off x="731520" y="2953512"/>
            <a:ext cx="2240280" cy="548640"/>
          </a:xfrm>
          <a:prstGeom prst="rect">
            <a:avLst/>
          </a:prstGeom>
          <a:noFill/>
          <a:ln/>
        </p:spPr>
        <p:txBody>
          <a:bodyPr wrap="square" lIns="0" tIns="0" rIns="0" bIns="0" rtlCol="0" anchor="t"/>
          <a:lstStyle/>
          <a:p>
            <a:pPr indent="0" marL="0">
              <a:buNone/>
            </a:pPr>
            <a:r>
              <a:rPr lang="en-US" sz="1200" dirty="0">
                <a:solidFill>
                  <a:srgbClr val="1B2A33"/>
                </a:solidFill>
              </a:rPr>
              <a:t>Installed capacity, 2025 (hydro 787.7 · thermal 518)</a:t>
            </a:r>
            <a:endParaRPr lang="en-US" sz="1200" dirty="0"/>
          </a:p>
        </p:txBody>
      </p:sp>
      <p:sp>
        <p:nvSpPr>
          <p:cNvPr id="7" name="stat-card"/>
          <p:cNvSpPr/>
          <p:nvPr/>
        </p:nvSpPr>
        <p:spPr>
          <a:xfrm>
            <a:off x="3383280" y="2148840"/>
            <a:ext cx="2606040" cy="1417320"/>
          </a:xfrm>
          <a:prstGeom prst="roundRect">
            <a:avLst>
              <a:gd name="adj" fmla="val 5161"/>
            </a:avLst>
          </a:prstGeom>
          <a:solidFill>
            <a:srgbClr val="EEF3F5"/>
          </a:solidFill>
          <a:ln w="12700">
            <a:solidFill>
              <a:srgbClr val="EEF3F5"/>
            </a:solidFill>
            <a:prstDash val="solid"/>
          </a:ln>
        </p:spPr>
      </p:sp>
      <p:sp>
        <p:nvSpPr>
          <p:cNvPr id="8" name="stat-value"/>
          <p:cNvSpPr txBox="1"/>
          <p:nvPr/>
        </p:nvSpPr>
        <p:spPr>
          <a:xfrm>
            <a:off x="3566160" y="2258568"/>
            <a:ext cx="2240280" cy="685800"/>
          </a:xfrm>
          <a:prstGeom prst="rect">
            <a:avLst/>
          </a:prstGeom>
          <a:noFill/>
          <a:ln/>
        </p:spPr>
        <p:txBody>
          <a:bodyPr wrap="square" lIns="0" tIns="0" rIns="0" bIns="0" rtlCol="0" anchor="ctr"/>
          <a:lstStyle/>
          <a:p>
            <a:pPr indent="0" marL="0">
              <a:buNone/>
            </a:pPr>
            <a:r>
              <a:rPr lang="en-US" sz="2400" b="1" dirty="0">
                <a:solidFill>
                  <a:srgbClr val="B5452E"/>
                </a:solidFill>
                <a:latin typeface="Cambria" pitchFamily="34" charset="0"/>
                <a:ea typeface="Cambria" pitchFamily="34" charset="-122"/>
                <a:cs typeface="Cambria" pitchFamily="34" charset="-120"/>
              </a:rPr>
              <a:t>≈1,000 MW</a:t>
            </a:r>
            <a:endParaRPr lang="en-US" sz="2400" dirty="0"/>
          </a:p>
        </p:txBody>
      </p:sp>
      <p:sp>
        <p:nvSpPr>
          <p:cNvPr id="9" name="stat-label"/>
          <p:cNvSpPr txBox="1"/>
          <p:nvPr/>
        </p:nvSpPr>
        <p:spPr>
          <a:xfrm>
            <a:off x="3566160" y="2953512"/>
            <a:ext cx="2240280" cy="548640"/>
          </a:xfrm>
          <a:prstGeom prst="rect">
            <a:avLst/>
          </a:prstGeom>
          <a:noFill/>
          <a:ln/>
        </p:spPr>
        <p:txBody>
          <a:bodyPr wrap="square" lIns="0" tIns="0" rIns="0" bIns="0" rtlCol="0" anchor="t"/>
          <a:lstStyle/>
          <a:p>
            <a:pPr indent="0" marL="0">
              <a:buNone/>
            </a:pPr>
            <a:r>
              <a:rPr lang="en-US" sz="1200" dirty="0">
                <a:solidFill>
                  <a:srgbClr val="1B2A33"/>
                </a:solidFill>
              </a:rPr>
              <a:t>'Reliably available' (World Bank; term undefined)</a:t>
            </a:r>
            <a:endParaRPr lang="en-US" sz="1200" dirty="0"/>
          </a:p>
        </p:txBody>
      </p:sp>
      <p:sp>
        <p:nvSpPr>
          <p:cNvPr id="10" name="stat-card"/>
          <p:cNvSpPr/>
          <p:nvPr/>
        </p:nvSpPr>
        <p:spPr>
          <a:xfrm>
            <a:off x="6217920" y="2148840"/>
            <a:ext cx="2606040" cy="1417320"/>
          </a:xfrm>
          <a:prstGeom prst="roundRect">
            <a:avLst>
              <a:gd name="adj" fmla="val 5161"/>
            </a:avLst>
          </a:prstGeom>
          <a:solidFill>
            <a:srgbClr val="EEF3F5"/>
          </a:solidFill>
          <a:ln w="12700">
            <a:solidFill>
              <a:srgbClr val="EEF3F5"/>
            </a:solidFill>
            <a:prstDash val="solid"/>
          </a:ln>
        </p:spPr>
      </p:sp>
      <p:sp>
        <p:nvSpPr>
          <p:cNvPr id="11" name="stat-value"/>
          <p:cNvSpPr txBox="1"/>
          <p:nvPr/>
        </p:nvSpPr>
        <p:spPr>
          <a:xfrm>
            <a:off x="6400800" y="2258568"/>
            <a:ext cx="2240280" cy="685800"/>
          </a:xfrm>
          <a:prstGeom prst="rect">
            <a:avLst/>
          </a:prstGeom>
          <a:noFill/>
          <a:ln/>
        </p:spPr>
        <p:txBody>
          <a:bodyPr wrap="square" lIns="0" tIns="0" rIns="0" bIns="0" rtlCol="0" anchor="ctr"/>
          <a:lstStyle/>
          <a:p>
            <a:pPr indent="0" marL="0">
              <a:buNone/>
            </a:pPr>
            <a:r>
              <a:rPr lang="en-US" sz="2400" b="1" dirty="0">
                <a:solidFill>
                  <a:srgbClr val="123B4F"/>
                </a:solidFill>
                <a:latin typeface="Cambria" pitchFamily="34" charset="0"/>
                <a:ea typeface="Cambria" pitchFamily="34" charset="-122"/>
                <a:cs typeface="Cambria" pitchFamily="34" charset="-120"/>
              </a:rPr>
              <a:t>961 MW</a:t>
            </a:r>
            <a:endParaRPr lang="en-US" sz="2400" dirty="0"/>
          </a:p>
        </p:txBody>
      </p:sp>
      <p:sp>
        <p:nvSpPr>
          <p:cNvPr id="12" name="stat-label"/>
          <p:cNvSpPr txBox="1"/>
          <p:nvPr/>
        </p:nvSpPr>
        <p:spPr>
          <a:xfrm>
            <a:off x="6400800" y="2953512"/>
            <a:ext cx="2240280" cy="548640"/>
          </a:xfrm>
          <a:prstGeom prst="rect">
            <a:avLst/>
          </a:prstGeom>
          <a:noFill/>
          <a:ln/>
        </p:spPr>
        <p:txBody>
          <a:bodyPr wrap="square" lIns="0" tIns="0" rIns="0" bIns="0" rtlCol="0" anchor="t"/>
          <a:lstStyle/>
          <a:p>
            <a:pPr indent="0" marL="0">
              <a:buNone/>
            </a:pPr>
            <a:r>
              <a:rPr lang="en-US" sz="1200" dirty="0">
                <a:solidFill>
                  <a:srgbClr val="1B2A33"/>
                </a:solidFill>
              </a:rPr>
              <a:t>Peak load served, May 2025 (334 MW in 2017)</a:t>
            </a:r>
            <a:endParaRPr lang="en-US" sz="1200" dirty="0"/>
          </a:p>
        </p:txBody>
      </p:sp>
      <p:sp>
        <p:nvSpPr>
          <p:cNvPr id="13" name="stat-card"/>
          <p:cNvSpPr/>
          <p:nvPr/>
        </p:nvSpPr>
        <p:spPr>
          <a:xfrm>
            <a:off x="9052560" y="2148840"/>
            <a:ext cx="2560320" cy="1417320"/>
          </a:xfrm>
          <a:prstGeom prst="roundRect">
            <a:avLst>
              <a:gd name="adj" fmla="val 5161"/>
            </a:avLst>
          </a:prstGeom>
          <a:solidFill>
            <a:srgbClr val="EEF3F5"/>
          </a:solidFill>
          <a:ln w="12700">
            <a:solidFill>
              <a:srgbClr val="EEF3F5"/>
            </a:solidFill>
            <a:prstDash val="solid"/>
          </a:ln>
        </p:spPr>
      </p:sp>
      <p:sp>
        <p:nvSpPr>
          <p:cNvPr id="14" name="stat-value"/>
          <p:cNvSpPr txBox="1"/>
          <p:nvPr/>
        </p:nvSpPr>
        <p:spPr>
          <a:xfrm>
            <a:off x="9235440" y="2258568"/>
            <a:ext cx="2194560" cy="685800"/>
          </a:xfrm>
          <a:prstGeom prst="rect">
            <a:avLst/>
          </a:prstGeom>
          <a:noFill/>
          <a:ln/>
        </p:spPr>
        <p:txBody>
          <a:bodyPr wrap="square" lIns="0" tIns="0" rIns="0" bIns="0" rtlCol="0" anchor="ctr"/>
          <a:lstStyle/>
          <a:p>
            <a:pPr indent="0" marL="0">
              <a:buNone/>
            </a:pPr>
            <a:r>
              <a:rPr lang="en-US" sz="2400" b="1" dirty="0">
                <a:solidFill>
                  <a:srgbClr val="1F7A8C"/>
                </a:solidFill>
                <a:latin typeface="Cambria" pitchFamily="34" charset="0"/>
                <a:ea typeface="Cambria" pitchFamily="34" charset="-122"/>
                <a:cs typeface="Cambria" pitchFamily="34" charset="-120"/>
              </a:rPr>
              <a:t>903 GWh</a:t>
            </a:r>
            <a:endParaRPr lang="en-US" sz="2400" dirty="0"/>
          </a:p>
        </p:txBody>
      </p:sp>
      <p:sp>
        <p:nvSpPr>
          <p:cNvPr id="15" name="stat-label"/>
          <p:cNvSpPr txBox="1"/>
          <p:nvPr/>
        </p:nvSpPr>
        <p:spPr>
          <a:xfrm>
            <a:off x="9235440" y="2953512"/>
            <a:ext cx="2194560" cy="548640"/>
          </a:xfrm>
          <a:prstGeom prst="rect">
            <a:avLst/>
          </a:prstGeom>
          <a:noFill/>
          <a:ln/>
        </p:spPr>
        <p:txBody>
          <a:bodyPr wrap="square" lIns="0" tIns="0" rIns="0" bIns="0" rtlCol="0" anchor="t"/>
          <a:lstStyle/>
          <a:p>
            <a:pPr indent="0" marL="0">
              <a:buNone/>
            </a:pPr>
            <a:r>
              <a:rPr lang="en-US" sz="1200" dirty="0">
                <a:solidFill>
                  <a:srgbClr val="1B2A33"/>
                </a:solidFill>
              </a:rPr>
              <a:t>Exports, 2025 (EDG table; unit not stated)</a:t>
            </a:r>
            <a:endParaRPr lang="en-US" sz="1200" dirty="0"/>
          </a:p>
        </p:txBody>
      </p:sp>
      <p:sp>
        <p:nvSpPr>
          <p:cNvPr id="16" name="stat-card"/>
          <p:cNvSpPr/>
          <p:nvPr/>
        </p:nvSpPr>
        <p:spPr>
          <a:xfrm>
            <a:off x="548640" y="3840480"/>
            <a:ext cx="2606040" cy="1417320"/>
          </a:xfrm>
          <a:prstGeom prst="roundRect">
            <a:avLst>
              <a:gd name="adj" fmla="val 5161"/>
            </a:avLst>
          </a:prstGeom>
          <a:solidFill>
            <a:srgbClr val="EEF3F5"/>
          </a:solidFill>
          <a:ln w="12700">
            <a:solidFill>
              <a:srgbClr val="EEF3F5"/>
            </a:solidFill>
            <a:prstDash val="solid"/>
          </a:ln>
        </p:spPr>
      </p:sp>
      <p:sp>
        <p:nvSpPr>
          <p:cNvPr id="17" name="stat-value"/>
          <p:cNvSpPr txBox="1"/>
          <p:nvPr/>
        </p:nvSpPr>
        <p:spPr>
          <a:xfrm>
            <a:off x="731520" y="3950208"/>
            <a:ext cx="2240280" cy="685800"/>
          </a:xfrm>
          <a:prstGeom prst="rect">
            <a:avLst/>
          </a:prstGeom>
          <a:noFill/>
          <a:ln/>
        </p:spPr>
        <p:txBody>
          <a:bodyPr wrap="square" lIns="0" tIns="0" rIns="0" bIns="0" rtlCol="0" anchor="ctr"/>
          <a:lstStyle/>
          <a:p>
            <a:pPr indent="0" marL="0">
              <a:buNone/>
            </a:pPr>
            <a:r>
              <a:rPr lang="en-US" sz="2400" b="1" dirty="0">
                <a:solidFill>
                  <a:srgbClr val="123B4F"/>
                </a:solidFill>
                <a:latin typeface="Cambria" pitchFamily="34" charset="0"/>
                <a:ea typeface="Cambria" pitchFamily="34" charset="-122"/>
                <a:cs typeface="Cambria" pitchFamily="34" charset="-120"/>
              </a:rPr>
              <a:t>53.8%</a:t>
            </a:r>
            <a:endParaRPr lang="en-US" sz="2400" dirty="0"/>
          </a:p>
        </p:txBody>
      </p:sp>
      <p:sp>
        <p:nvSpPr>
          <p:cNvPr id="18" name="stat-label"/>
          <p:cNvSpPr txBox="1"/>
          <p:nvPr/>
        </p:nvSpPr>
        <p:spPr>
          <a:xfrm>
            <a:off x="731520" y="4645152"/>
            <a:ext cx="2240280" cy="548640"/>
          </a:xfrm>
          <a:prstGeom prst="rect">
            <a:avLst/>
          </a:prstGeom>
          <a:noFill/>
          <a:ln/>
        </p:spPr>
        <p:txBody>
          <a:bodyPr wrap="square" lIns="0" tIns="0" rIns="0" bIns="0" rtlCol="0" anchor="t"/>
          <a:lstStyle/>
          <a:p>
            <a:pPr indent="0" marL="0">
              <a:buNone/>
            </a:pPr>
            <a:r>
              <a:rPr lang="en-US" sz="1200" dirty="0">
                <a:solidFill>
                  <a:srgbClr val="1B2A33"/>
                </a:solidFill>
              </a:rPr>
              <a:t>Access 2024 · rural 29.4%</a:t>
            </a:r>
            <a:endParaRPr lang="en-US" sz="1200" dirty="0"/>
          </a:p>
        </p:txBody>
      </p:sp>
      <p:sp>
        <p:nvSpPr>
          <p:cNvPr id="19" name="stat-card"/>
          <p:cNvSpPr/>
          <p:nvPr/>
        </p:nvSpPr>
        <p:spPr>
          <a:xfrm>
            <a:off x="3383280" y="3840480"/>
            <a:ext cx="2606040" cy="1417320"/>
          </a:xfrm>
          <a:prstGeom prst="roundRect">
            <a:avLst>
              <a:gd name="adj" fmla="val 5161"/>
            </a:avLst>
          </a:prstGeom>
          <a:solidFill>
            <a:srgbClr val="EEF3F5"/>
          </a:solidFill>
          <a:ln w="12700">
            <a:solidFill>
              <a:srgbClr val="EEF3F5"/>
            </a:solidFill>
            <a:prstDash val="solid"/>
          </a:ln>
        </p:spPr>
      </p:sp>
      <p:sp>
        <p:nvSpPr>
          <p:cNvPr id="20" name="stat-value"/>
          <p:cNvSpPr txBox="1"/>
          <p:nvPr/>
        </p:nvSpPr>
        <p:spPr>
          <a:xfrm>
            <a:off x="3566160" y="3950208"/>
            <a:ext cx="2240280" cy="685800"/>
          </a:xfrm>
          <a:prstGeom prst="rect">
            <a:avLst/>
          </a:prstGeom>
          <a:noFill/>
          <a:ln/>
        </p:spPr>
        <p:txBody>
          <a:bodyPr wrap="square" lIns="0" tIns="0" rIns="0" bIns="0" rtlCol="0" anchor="ctr"/>
          <a:lstStyle/>
          <a:p>
            <a:pPr indent="0" marL="0">
              <a:buNone/>
            </a:pPr>
            <a:r>
              <a:rPr lang="en-US" sz="2400" b="1" dirty="0">
                <a:solidFill>
                  <a:srgbClr val="B5452E"/>
                </a:solidFill>
                <a:latin typeface="Cambria" pitchFamily="34" charset="0"/>
                <a:ea typeface="Cambria" pitchFamily="34" charset="-122"/>
                <a:cs typeface="Cambria" pitchFamily="34" charset="-120"/>
              </a:rPr>
              <a:t>¢10 vs ¢27</a:t>
            </a:r>
            <a:endParaRPr lang="en-US" sz="2400" dirty="0"/>
          </a:p>
        </p:txBody>
      </p:sp>
      <p:sp>
        <p:nvSpPr>
          <p:cNvPr id="21" name="stat-label"/>
          <p:cNvSpPr txBox="1"/>
          <p:nvPr/>
        </p:nvSpPr>
        <p:spPr>
          <a:xfrm>
            <a:off x="3566160" y="4645152"/>
            <a:ext cx="2240280" cy="548640"/>
          </a:xfrm>
          <a:prstGeom prst="rect">
            <a:avLst/>
          </a:prstGeom>
          <a:noFill/>
          <a:ln/>
        </p:spPr>
        <p:txBody>
          <a:bodyPr wrap="square" lIns="0" tIns="0" rIns="0" bIns="0" rtlCol="0" anchor="t"/>
          <a:lstStyle/>
          <a:p>
            <a:pPr indent="0" marL="0">
              <a:buNone/>
            </a:pPr>
            <a:r>
              <a:rPr lang="en-US" sz="1200" dirty="0">
                <a:solidFill>
                  <a:srgbClr val="1B2A33"/>
                </a:solidFill>
              </a:rPr>
              <a:t>US¢/kWh: average tariff vs cost of service</a:t>
            </a:r>
            <a:endParaRPr lang="en-US" sz="1200" dirty="0"/>
          </a:p>
        </p:txBody>
      </p:sp>
      <p:sp>
        <p:nvSpPr>
          <p:cNvPr id="22" name="stat-card"/>
          <p:cNvSpPr/>
          <p:nvPr/>
        </p:nvSpPr>
        <p:spPr>
          <a:xfrm>
            <a:off x="6217920" y="3840480"/>
            <a:ext cx="2606040" cy="1417320"/>
          </a:xfrm>
          <a:prstGeom prst="roundRect">
            <a:avLst>
              <a:gd name="adj" fmla="val 5161"/>
            </a:avLst>
          </a:prstGeom>
          <a:solidFill>
            <a:srgbClr val="EEF3F5"/>
          </a:solidFill>
          <a:ln w="12700">
            <a:solidFill>
              <a:srgbClr val="EEF3F5"/>
            </a:solidFill>
            <a:prstDash val="solid"/>
          </a:ln>
        </p:spPr>
      </p:sp>
      <p:sp>
        <p:nvSpPr>
          <p:cNvPr id="23" name="stat-value"/>
          <p:cNvSpPr txBox="1"/>
          <p:nvPr/>
        </p:nvSpPr>
        <p:spPr>
          <a:xfrm>
            <a:off x="6400800" y="3950208"/>
            <a:ext cx="2240280" cy="685800"/>
          </a:xfrm>
          <a:prstGeom prst="rect">
            <a:avLst/>
          </a:prstGeom>
          <a:noFill/>
          <a:ln/>
        </p:spPr>
        <p:txBody>
          <a:bodyPr wrap="square" lIns="0" tIns="0" rIns="0" bIns="0" rtlCol="0" anchor="ctr"/>
          <a:lstStyle/>
          <a:p>
            <a:pPr indent="0" marL="0">
              <a:buNone/>
            </a:pPr>
            <a:r>
              <a:rPr lang="en-US" sz="2400" b="1" dirty="0">
                <a:solidFill>
                  <a:srgbClr val="123B4F"/>
                </a:solidFill>
                <a:latin typeface="Cambria" pitchFamily="34" charset="0"/>
                <a:ea typeface="Cambria" pitchFamily="34" charset="-122"/>
                <a:cs typeface="Cambria" pitchFamily="34" charset="-120"/>
              </a:rPr>
              <a:t>≈379 MW</a:t>
            </a:r>
            <a:endParaRPr lang="en-US" sz="2400" dirty="0"/>
          </a:p>
        </p:txBody>
      </p:sp>
      <p:sp>
        <p:nvSpPr>
          <p:cNvPr id="24" name="stat-label"/>
          <p:cNvSpPr txBox="1"/>
          <p:nvPr/>
        </p:nvSpPr>
        <p:spPr>
          <a:xfrm>
            <a:off x="6400800" y="4645152"/>
            <a:ext cx="2240280" cy="548640"/>
          </a:xfrm>
          <a:prstGeom prst="rect">
            <a:avLst/>
          </a:prstGeom>
          <a:noFill/>
          <a:ln/>
        </p:spPr>
        <p:txBody>
          <a:bodyPr wrap="square" lIns="0" tIns="0" rIns="0" bIns="0" rtlCol="0" anchor="t"/>
          <a:lstStyle/>
          <a:p>
            <a:pPr indent="0" marL="0">
              <a:buNone/>
            </a:pPr>
            <a:r>
              <a:rPr lang="en-US" sz="1200" dirty="0">
                <a:solidFill>
                  <a:srgbClr val="1B2A33"/>
                </a:solidFill>
              </a:rPr>
              <a:t>Nameplate under construction or financed; none commissioned</a:t>
            </a:r>
            <a:endParaRPr lang="en-US" sz="1200" dirty="0"/>
          </a:p>
        </p:txBody>
      </p:sp>
      <p:sp>
        <p:nvSpPr>
          <p:cNvPr id="25" name="stat-card"/>
          <p:cNvSpPr/>
          <p:nvPr/>
        </p:nvSpPr>
        <p:spPr>
          <a:xfrm>
            <a:off x="9052560" y="3840480"/>
            <a:ext cx="2560320" cy="1417320"/>
          </a:xfrm>
          <a:prstGeom prst="roundRect">
            <a:avLst>
              <a:gd name="adj" fmla="val 5161"/>
            </a:avLst>
          </a:prstGeom>
          <a:solidFill>
            <a:srgbClr val="EEF3F5"/>
          </a:solidFill>
          <a:ln w="12700">
            <a:solidFill>
              <a:srgbClr val="EEF3F5"/>
            </a:solidFill>
            <a:prstDash val="solid"/>
          </a:ln>
        </p:spPr>
      </p:sp>
      <p:sp>
        <p:nvSpPr>
          <p:cNvPr id="26" name="stat-value"/>
          <p:cNvSpPr txBox="1"/>
          <p:nvPr/>
        </p:nvSpPr>
        <p:spPr>
          <a:xfrm>
            <a:off x="9235440" y="3950208"/>
            <a:ext cx="2194560" cy="685800"/>
          </a:xfrm>
          <a:prstGeom prst="rect">
            <a:avLst/>
          </a:prstGeom>
          <a:noFill/>
          <a:ln/>
        </p:spPr>
        <p:txBody>
          <a:bodyPr wrap="square" lIns="0" tIns="0" rIns="0" bIns="0" rtlCol="0" anchor="ctr"/>
          <a:lstStyle/>
          <a:p>
            <a:pPr indent="0" marL="0">
              <a:buNone/>
            </a:pPr>
            <a:r>
              <a:rPr lang="en-US" sz="2400" b="1" dirty="0">
                <a:solidFill>
                  <a:srgbClr val="8A5A00"/>
                </a:solidFill>
                <a:latin typeface="Cambria" pitchFamily="34" charset="0"/>
                <a:ea typeface="Cambria" pitchFamily="34" charset="-122"/>
                <a:cs typeface="Cambria" pitchFamily="34" charset="-120"/>
              </a:rPr>
              <a:t>US$8.9 bn</a:t>
            </a:r>
            <a:endParaRPr lang="en-US" sz="2400" dirty="0"/>
          </a:p>
        </p:txBody>
      </p:sp>
      <p:sp>
        <p:nvSpPr>
          <p:cNvPr id="27" name="stat-label"/>
          <p:cNvSpPr txBox="1"/>
          <p:nvPr/>
        </p:nvSpPr>
        <p:spPr>
          <a:xfrm>
            <a:off x="9235440" y="4645152"/>
            <a:ext cx="2194560" cy="548640"/>
          </a:xfrm>
          <a:prstGeom prst="rect">
            <a:avLst/>
          </a:prstGeom>
          <a:noFill/>
          <a:ln/>
        </p:spPr>
        <p:txBody>
          <a:bodyPr wrap="square" lIns="0" tIns="0" rIns="0" bIns="0" rtlCol="0" anchor="t"/>
          <a:lstStyle/>
          <a:p>
            <a:pPr indent="0" marL="0">
              <a:buNone/>
            </a:pPr>
            <a:r>
              <a:rPr lang="en-US" sz="1200" dirty="0">
                <a:solidFill>
                  <a:srgbClr val="1B2A33"/>
                </a:solidFill>
              </a:rPr>
              <a:t>Still to raise of the US$11.47 bn compact need</a:t>
            </a:r>
            <a:endParaRPr lang="en-US" sz="1200" dirty="0"/>
          </a:p>
        </p:txBody>
      </p:sp>
      <p:sp>
        <p:nvSpPr>
          <p:cNvPr id="28" name="source"/>
          <p:cNvSpPr txBox="1"/>
          <p:nvPr/>
        </p:nvSpPr>
        <p:spPr>
          <a:xfrm>
            <a:off x="548640" y="5916168"/>
            <a:ext cx="11064240" cy="512064"/>
          </a:xfrm>
          <a:prstGeom prst="rect">
            <a:avLst/>
          </a:prstGeom>
          <a:noFill/>
          <a:ln/>
        </p:spPr>
        <p:txBody>
          <a:bodyPr wrap="square" rtlCol="0" anchor="t"/>
          <a:lstStyle/>
          <a:p>
            <a:pPr indent="0" marL="0">
              <a:buNone/>
            </a:pPr>
            <a:r>
              <a:rPr lang="en-US" sz="900" dirty="0">
                <a:solidFill>
                  <a:srgbClr val="4B5563"/>
                </a:solidFill>
              </a:rPr>
              <a:t>Sources: Électricité de Guinée [79]; World Bank [64]; World Bank [69]; Government of Guinea [22]; Ministère de l'Énergie, republished by Mediaguinee [33]; Guinéenews [30]; Islamic Development Bank / Gouvernement de Guinée [32]; Électricité de Guinée for the Ministère de l'Énergie [80]; ECOWAS Bank for Investment and Development [11]; ECOWAS Bank for Investment and Development [13]; ECOWAS Bank for Investment and Development [12]. [n] = reference list at end.</a:t>
            </a:r>
            <a:endParaRPr lang="en-US" sz="900" dirty="0"/>
          </a:p>
        </p:txBody>
      </p:sp>
      <p:sp>
        <p:nvSpPr>
          <p:cNvPr id="25" name="Slide Number Placeholder 0"/>
          <p:cNvSpPr>
            <a:spLocks noGrp="1"/>
          </p:cNvSpPr>
          <p:nvPr>
            <p:ph type="sldNum" sz="quarter" idx="4294967295"/>
          </p:nvPr>
        </p:nvSpPr>
        <p:spPr>
          <a:xfrm>
            <a:off x="11155680" y="6446520"/>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4B5563"/>
                </a:solidFill>
                <a:latin typeface="Calibri"/>
                <a:ea typeface="Calibri"/>
                <a:cs typeface="Calibri"/>
              </a:defRPr>
            </a:lvl1pPr>
          </a:lstStyle>
          <a:p>
            <a:pPr algn="l"/>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rtlCol="0" anchor="ctr"/>
          <a:lstStyle/>
          <a:p>
            <a:pPr indent="0" marL="0">
              <a:buNone/>
            </a:pPr>
            <a:r>
              <a:rPr lang="en-US" sz="3000" b="1" dirty="0">
                <a:solidFill>
                  <a:srgbClr val="123B4F"/>
                </a:solidFill>
                <a:latin typeface="Cambria" pitchFamily="34" charset="0"/>
                <a:ea typeface="Cambria" pitchFamily="34" charset="-122"/>
                <a:cs typeface="Cambria" pitchFamily="34" charset="-120"/>
              </a:rPr>
              <a:t>Served demand has nearly tripled since 2017</a:t>
            </a:r>
            <a:endParaRPr lang="en-US" sz="3000" dirty="0"/>
          </a:p>
        </p:txBody>
      </p:sp>
      <p:graphicFrame>
        <p:nvGraphicFramePr>
          <p:cNvPr id="3" name="Chart 0" descr=""/>
          <p:cNvGraphicFramePr/>
          <p:nvPr/>
        </p:nvGraphicFramePr>
        <p:xfrm>
          <a:off x="548640" y="1280160"/>
          <a:ext cx="6949440" cy="4572000"/>
        </p:xfrm>
        <a:graphic xmlns:a="http://schemas.openxmlformats.org/drawingml/2006/main">
          <a:graphicData uri="http://schemas.openxmlformats.org/drawingml/2006/chart">
            <c:chart xmlns:c="http://schemas.openxmlformats.org/drawingml/2006/chart" r:id="rId1"/>
          </a:graphicData>
        </a:graphic>
      </p:graphicFrame>
      <p:sp>
        <p:nvSpPr>
          <p:cNvPr id="4" name="bullets"/>
          <p:cNvSpPr txBox="1"/>
          <p:nvPr/>
        </p:nvSpPr>
        <p:spPr>
          <a:xfrm>
            <a:off x="7772400" y="1371600"/>
            <a:ext cx="3840480" cy="4480560"/>
          </a:xfrm>
          <a:prstGeom prst="rect">
            <a:avLst/>
          </a:prstGeom>
          <a:noFill/>
          <a:ln/>
        </p:spPr>
        <p:txBody>
          <a:bodyPr wrap="square" rtlCol="0" anchor="t"/>
          <a:lstStyle/>
          <a:p>
            <a:pPr marL="342900" indent="-342900">
              <a:spcAft>
                <a:spcPts val="800"/>
              </a:spcAft>
              <a:buSzPct val="100000"/>
              <a:buChar char="•"/>
            </a:pPr>
            <a:r>
              <a:rPr lang="en-US" sz="1400" dirty="0">
                <a:solidFill>
                  <a:srgbClr val="1B2A33"/>
                </a:solidFill>
              </a:rPr>
              <a:t>Peak served reached 961 MW in May 2025 (late dry season); earlier annual peaks fell around 21:00.</a:t>
            </a:r>
            <a:endParaRPr lang="en-US" sz="1400" dirty="0"/>
          </a:p>
          <a:p>
            <a:pPr marL="342900" indent="-342900">
              <a:spcAft>
                <a:spcPts val="800"/>
              </a:spcAft>
              <a:buSzPct val="100000"/>
              <a:buChar char="•"/>
            </a:pPr>
            <a:r>
              <a:rPr lang="en-US" sz="1400" dirty="0">
                <a:solidFill>
                  <a:srgbClr val="1B2A33"/>
                </a:solidFill>
              </a:rPr>
              <a:t>The World Bank describes about 1,000 MW as 'reliably available' without defining the term, so no reserve margin can be derived.</a:t>
            </a:r>
            <a:endParaRPr lang="en-US" sz="1400" dirty="0"/>
          </a:p>
          <a:p>
            <a:pPr marL="342900" indent="-342900">
              <a:spcAft>
                <a:spcPts val="800"/>
              </a:spcAft>
              <a:buSzPct val="100000"/>
              <a:buChar char="•"/>
            </a:pPr>
            <a:r>
              <a:rPr lang="en-US" sz="1400" dirty="0">
                <a:solidFill>
                  <a:srgbClr val="1B2A33"/>
                </a:solidFill>
              </a:rPr>
              <a:t>No seasonal dependable capacity is documented for any hydro plant.</a:t>
            </a:r>
            <a:endParaRPr lang="en-US" sz="1400" dirty="0"/>
          </a:p>
          <a:p>
            <a:pPr marL="342900" indent="-342900">
              <a:spcAft>
                <a:spcPts val="800"/>
              </a:spcAft>
              <a:buSzPct val="100000"/>
              <a:buChar char="•"/>
            </a:pPr>
            <a:r>
              <a:rPr lang="en-US" sz="1400" dirty="0">
                <a:solidFill>
                  <a:srgbClr val="1B2A33"/>
                </a:solidFill>
              </a:rPr>
              <a:t>2024 drought: 129,797 hours of load shedding for production deficit; energy not distributed 543–794 GWh (two EDG figures conflict).</a:t>
            </a:r>
            <a:endParaRPr lang="en-US" sz="1400" dirty="0"/>
          </a:p>
        </p:txBody>
      </p:sp>
      <p:sp>
        <p:nvSpPr>
          <p:cNvPr id="5" name="source"/>
          <p:cNvSpPr txBox="1"/>
          <p:nvPr/>
        </p:nvSpPr>
        <p:spPr>
          <a:xfrm>
            <a:off x="548640" y="5916168"/>
            <a:ext cx="11064240" cy="512064"/>
          </a:xfrm>
          <a:prstGeom prst="rect">
            <a:avLst/>
          </a:prstGeom>
          <a:noFill/>
          <a:ln/>
        </p:spPr>
        <p:txBody>
          <a:bodyPr wrap="square" rtlCol="0" anchor="t"/>
          <a:lstStyle/>
          <a:p>
            <a:pPr indent="0" marL="0">
              <a:buNone/>
            </a:pPr>
            <a:r>
              <a:rPr lang="en-US" sz="900" dirty="0">
                <a:solidFill>
                  <a:srgbClr val="4B5563"/>
                </a:solidFill>
              </a:rPr>
              <a:t>Sources: Électricité de Guinée [75]; World Bank [64]; Électricité de Guinée [79]; Électricité de Guinée [78]. Served load is not underlying demand. [n] = reference list at end.</a:t>
            </a:r>
            <a:endParaRPr lang="en-US" sz="900" dirty="0"/>
          </a:p>
        </p:txBody>
      </p:sp>
      <p:sp>
        <p:nvSpPr>
          <p:cNvPr id="25" name="Slide Number Placeholder 0"/>
          <p:cNvSpPr>
            <a:spLocks noGrp="1"/>
          </p:cNvSpPr>
          <p:nvPr>
            <p:ph type="sldNum" sz="quarter" idx="4294967295"/>
          </p:nvPr>
        </p:nvSpPr>
        <p:spPr>
          <a:xfrm>
            <a:off x="11155680" y="6446520"/>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4B5563"/>
                </a:solidFill>
                <a:latin typeface="Calibri"/>
                <a:ea typeface="Calibri"/>
                <a:cs typeface="Calibri"/>
              </a:defRPr>
            </a:lvl1pPr>
          </a:lstStyle>
          <a:p>
            <a:pPr algn="l"/>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rtlCol="0" anchor="ctr"/>
          <a:lstStyle/>
          <a:p>
            <a:pPr indent="0" marL="0">
              <a:buNone/>
            </a:pPr>
            <a:r>
              <a:rPr lang="en-US" sz="3000" b="1" dirty="0">
                <a:solidFill>
                  <a:srgbClr val="123B4F"/>
                </a:solidFill>
                <a:latin typeface="Cambria" pitchFamily="34" charset="0"/>
                <a:ea typeface="Cambria" pitchFamily="34" charset="-122"/>
                <a:cs typeface="Cambria" pitchFamily="34" charset="-120"/>
              </a:rPr>
              <a:t>One river drives supply, and its flow swings 70-fold</a:t>
            </a:r>
            <a:endParaRPr lang="en-US" sz="3000" dirty="0"/>
          </a:p>
        </p:txBody>
      </p:sp>
      <p:graphicFrame>
        <p:nvGraphicFramePr>
          <p:cNvPr id="3" name="Chart 0" descr=""/>
          <p:cNvGraphicFramePr/>
          <p:nvPr/>
        </p:nvGraphicFramePr>
        <p:xfrm>
          <a:off x="548640" y="1280160"/>
          <a:ext cx="6949440" cy="4572000"/>
        </p:xfrm>
        <a:graphic xmlns:a="http://schemas.openxmlformats.org/drawingml/2006/main">
          <a:graphicData uri="http://schemas.openxmlformats.org/drawingml/2006/chart">
            <c:chart xmlns:c="http://schemas.openxmlformats.org/drawingml/2006/chart" r:id="rId1"/>
          </a:graphicData>
        </a:graphic>
      </p:graphicFrame>
      <p:sp>
        <p:nvSpPr>
          <p:cNvPr id="4" name="bullets"/>
          <p:cNvSpPr txBox="1"/>
          <p:nvPr/>
        </p:nvSpPr>
        <p:spPr>
          <a:xfrm>
            <a:off x="7772400" y="1371600"/>
            <a:ext cx="3840480" cy="4480560"/>
          </a:xfrm>
          <a:prstGeom prst="rect">
            <a:avLst/>
          </a:prstGeom>
          <a:noFill/>
          <a:ln/>
        </p:spPr>
        <p:txBody>
          <a:bodyPr wrap="square" rtlCol="0" anchor="t"/>
          <a:lstStyle/>
          <a:p>
            <a:pPr marL="342900" indent="-342900">
              <a:spcAft>
                <a:spcPts val="800"/>
              </a:spcAft>
              <a:buSzPct val="100000"/>
              <a:buChar char="•"/>
            </a:pPr>
            <a:r>
              <a:rPr lang="en-US" sz="1500" dirty="0">
                <a:solidFill>
                  <a:srgbClr val="1B2A33"/>
                </a:solidFill>
              </a:rPr>
              <a:t>Natural flow ranges from 18 m³/s in April to 1,250 m³/s in August; about 90% of runoff falls June–November.</a:t>
            </a:r>
            <a:endParaRPr lang="en-US" sz="1500" dirty="0"/>
          </a:p>
          <a:p>
            <a:pPr marL="342900" indent="-342900">
              <a:spcAft>
                <a:spcPts val="800"/>
              </a:spcAft>
              <a:buSzPct val="100000"/>
              <a:buChar char="•"/>
            </a:pPr>
            <a:r>
              <a:rPr lang="en-US" sz="1500" dirty="0">
                <a:solidFill>
                  <a:srgbClr val="1B2A33"/>
                </a:solidFill>
              </a:rPr>
              <a:t>Souapiti, Kaléta and Garafiri share one river, with no published cascade operating rules.</a:t>
            </a:r>
            <a:endParaRPr lang="en-US" sz="1500" dirty="0"/>
          </a:p>
          <a:p>
            <a:pPr marL="342900" indent="-342900">
              <a:spcAft>
                <a:spcPts val="800"/>
              </a:spcAft>
              <a:buSzPct val="100000"/>
              <a:buChar char="•"/>
            </a:pPr>
            <a:r>
              <a:rPr lang="en-US" sz="1500" dirty="0">
                <a:solidFill>
                  <a:srgbClr val="1B2A33"/>
                </a:solidFill>
              </a:rPr>
              <a:t>The 2024 drought cut hydro output by more than 10%.</a:t>
            </a:r>
            <a:endParaRPr lang="en-US" sz="1500" dirty="0"/>
          </a:p>
          <a:p>
            <a:pPr marL="342900" indent="-342900">
              <a:spcAft>
                <a:spcPts val="800"/>
              </a:spcAft>
              <a:buSzPct val="100000"/>
              <a:buChar char="•"/>
            </a:pPr>
            <a:r>
              <a:rPr lang="en-US" sz="1500" dirty="0">
                <a:solidFill>
                  <a:srgbClr val="1B2A33"/>
                </a:solidFill>
              </a:rPr>
              <a:t>Climate projections (World Bank): hydro output in 2050 from −30% to +25%.</a:t>
            </a:r>
            <a:endParaRPr lang="en-US" sz="1500" dirty="0"/>
          </a:p>
        </p:txBody>
      </p:sp>
      <p:sp>
        <p:nvSpPr>
          <p:cNvPr id="5" name="source"/>
          <p:cNvSpPr txBox="1"/>
          <p:nvPr/>
        </p:nvSpPr>
        <p:spPr>
          <a:xfrm>
            <a:off x="548640" y="5916168"/>
            <a:ext cx="11064240" cy="512064"/>
          </a:xfrm>
          <a:prstGeom prst="rect">
            <a:avLst/>
          </a:prstGeom>
          <a:noFill/>
          <a:ln/>
        </p:spPr>
        <p:txBody>
          <a:bodyPr wrap="square" rtlCol="0" anchor="t"/>
          <a:lstStyle/>
          <a:p>
            <a:pPr indent="0" marL="0">
              <a:buNone/>
            </a:pPr>
            <a:r>
              <a:rPr lang="en-US" sz="900" dirty="0">
                <a:solidFill>
                  <a:srgbClr val="4B5563"/>
                </a:solidFill>
              </a:rPr>
              <a:t>Sources: Groupement d'Intérêt Economique ORSTOM-EDF, for Ministère des Ressources Naturelles, des Energies et de l'Environnement [23]; World Bank [64]; World Bank Group [71]. [n] = reference list at end.</a:t>
            </a:r>
            <a:endParaRPr lang="en-US" sz="900" dirty="0"/>
          </a:p>
        </p:txBody>
      </p:sp>
      <p:sp>
        <p:nvSpPr>
          <p:cNvPr id="25" name="Slide Number Placeholder 0"/>
          <p:cNvSpPr>
            <a:spLocks noGrp="1"/>
          </p:cNvSpPr>
          <p:nvPr>
            <p:ph type="sldNum" sz="quarter" idx="4294967295"/>
          </p:nvPr>
        </p:nvSpPr>
        <p:spPr>
          <a:xfrm>
            <a:off x="11155680" y="6446520"/>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4B5563"/>
                </a:solidFill>
                <a:latin typeface="Calibri"/>
                <a:ea typeface="Calibri"/>
                <a:cs typeface="Calibri"/>
              </a:defRPr>
            </a:lvl1pPr>
          </a:lstStyle>
          <a:p>
            <a:pPr algn="l"/>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rtlCol="0" anchor="ctr"/>
          <a:lstStyle/>
          <a:p>
            <a:pPr indent="0" marL="0">
              <a:buNone/>
            </a:pPr>
            <a:r>
              <a:rPr lang="en-US" sz="3000" b="1" dirty="0">
                <a:solidFill>
                  <a:srgbClr val="123B4F"/>
                </a:solidFill>
                <a:latin typeface="Cambria" pitchFamily="34" charset="0"/>
                <a:ea typeface="Cambria" pitchFamily="34" charset="-122"/>
                <a:cs typeface="Cambria" pitchFamily="34" charset="-120"/>
              </a:rPr>
              <a:t>Grid works are financed but slow to deliver</a:t>
            </a:r>
            <a:endParaRPr lang="en-US" sz="300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548640" y="1325880"/>
          <a:ext cx="11064240" cy="914400"/>
        </p:xfrm>
        <a:graphic>
          <a:graphicData uri="http://schemas.openxmlformats.org/drawingml/2006/table">
            <a:tbl>
              <a:tblPr/>
              <a:tblGrid>
                <a:gridCol w="3108960"/>
                <a:gridCol w="2743200"/>
                <a:gridCol w="5212080"/>
              </a:tblGrid>
              <a:tr h="640080">
                <a:tc>
                  <a:txBody>
                    <a:bodyPr/>
                    <a:lstStyle/>
                    <a:p>
                      <a:pPr indent="0" marL="0">
                        <a:buNone/>
                      </a:pPr>
                      <a:r>
                        <a:rPr lang="en-US" sz="1400" b="1" dirty="0">
                          <a:solidFill>
                            <a:srgbClr val="FFFFFF"/>
                          </a:solidFill>
                        </a:rPr>
                        <a:t>Line / project</a:t>
                      </a:r>
                      <a:endParaRPr lang="en-US" sz="1400" dirty="0"/>
                    </a:p>
                  </a:txBody>
                  <a:tcPr marL="91440" marR="91440" marT="45720" marB="45720" anchor="ctr">
                    <a:lnL w="9525" cap="flat" cmpd="sng" algn="ctr">
                      <a:solidFill>
                        <a:srgbClr val="D7E3E8"/>
                      </a:solidFill>
                      <a:prstDash val="solid"/>
                      <a:round/>
                      <a:headEnd type="none" w="med" len="med"/>
                      <a:tailEnd type="none" w="med" len="med"/>
                    </a:lnL>
                    <a:lnR w="9525" cap="flat" cmpd="sng" algn="ctr">
                      <a:solidFill>
                        <a:srgbClr val="D7E3E8"/>
                      </a:solidFill>
                      <a:prstDash val="solid"/>
                      <a:round/>
                      <a:headEnd type="none" w="med" len="med"/>
                      <a:tailEnd type="none" w="med" len="med"/>
                    </a:lnR>
                    <a:lnT w="9525" cap="flat" cmpd="sng" algn="ctr">
                      <a:solidFill>
                        <a:srgbClr val="D7E3E8"/>
                      </a:solidFill>
                      <a:prstDash val="solid"/>
                      <a:round/>
                      <a:headEnd type="none" w="med" len="med"/>
                      <a:tailEnd type="none" w="med" len="med"/>
                    </a:lnT>
                    <a:lnB w="9525" cap="flat" cmpd="sng" algn="ctr">
                      <a:solidFill>
                        <a:srgbClr val="D7E3E8"/>
                      </a:solidFill>
                      <a:prstDash val="solid"/>
                      <a:round/>
                      <a:headEnd type="none" w="med" len="med"/>
                      <a:tailEnd type="none" w="med" len="med"/>
                    </a:lnB>
                    <a:solidFill>
                      <a:srgbClr val="123B4F"/>
                    </a:solidFill>
                  </a:tcPr>
                </a:tc>
                <a:tc>
                  <a:txBody>
                    <a:bodyPr/>
                    <a:lstStyle/>
                    <a:p>
                      <a:pPr indent="0" marL="0">
                        <a:buNone/>
                      </a:pPr>
                      <a:r>
                        <a:rPr lang="en-US" sz="1400" b="1" dirty="0">
                          <a:solidFill>
                            <a:srgbClr val="FFFFFF"/>
                          </a:solidFill>
                        </a:rPr>
                        <a:t>Evidenced stage</a:t>
                      </a:r>
                      <a:endParaRPr lang="en-US" sz="1400" dirty="0"/>
                    </a:p>
                  </a:txBody>
                  <a:tcPr marL="91440" marR="91440" marT="45720" marB="45720" anchor="ctr">
                    <a:lnL w="9525" cap="flat" cmpd="sng" algn="ctr">
                      <a:solidFill>
                        <a:srgbClr val="D7E3E8"/>
                      </a:solidFill>
                      <a:prstDash val="solid"/>
                      <a:round/>
                      <a:headEnd type="none" w="med" len="med"/>
                      <a:tailEnd type="none" w="med" len="med"/>
                    </a:lnL>
                    <a:lnR w="9525" cap="flat" cmpd="sng" algn="ctr">
                      <a:solidFill>
                        <a:srgbClr val="D7E3E8"/>
                      </a:solidFill>
                      <a:prstDash val="solid"/>
                      <a:round/>
                      <a:headEnd type="none" w="med" len="med"/>
                      <a:tailEnd type="none" w="med" len="med"/>
                    </a:lnR>
                    <a:lnT w="9525" cap="flat" cmpd="sng" algn="ctr">
                      <a:solidFill>
                        <a:srgbClr val="D7E3E8"/>
                      </a:solidFill>
                      <a:prstDash val="solid"/>
                      <a:round/>
                      <a:headEnd type="none" w="med" len="med"/>
                      <a:tailEnd type="none" w="med" len="med"/>
                    </a:lnT>
                    <a:lnB w="9525" cap="flat" cmpd="sng" algn="ctr">
                      <a:solidFill>
                        <a:srgbClr val="D7E3E8"/>
                      </a:solidFill>
                      <a:prstDash val="solid"/>
                      <a:round/>
                      <a:headEnd type="none" w="med" len="med"/>
                      <a:tailEnd type="none" w="med" len="med"/>
                    </a:lnB>
                    <a:solidFill>
                      <a:srgbClr val="123B4F"/>
                    </a:solidFill>
                  </a:tcPr>
                </a:tc>
                <a:tc>
                  <a:txBody>
                    <a:bodyPr/>
                    <a:lstStyle/>
                    <a:p>
                      <a:pPr indent="0" marL="0">
                        <a:buNone/>
                      </a:pPr>
                      <a:r>
                        <a:rPr lang="en-US" sz="1400" b="1" dirty="0">
                          <a:solidFill>
                            <a:srgbClr val="FFFFFF"/>
                          </a:solidFill>
                        </a:rPr>
                        <a:t>Status</a:t>
                      </a:r>
                      <a:endParaRPr lang="en-US" sz="1400" dirty="0"/>
                    </a:p>
                  </a:txBody>
                  <a:tcPr marL="91440" marR="91440" marT="45720" marB="45720" anchor="ctr">
                    <a:lnL w="9525" cap="flat" cmpd="sng" algn="ctr">
                      <a:solidFill>
                        <a:srgbClr val="D7E3E8"/>
                      </a:solidFill>
                      <a:prstDash val="solid"/>
                      <a:round/>
                      <a:headEnd type="none" w="med" len="med"/>
                      <a:tailEnd type="none" w="med" len="med"/>
                    </a:lnL>
                    <a:lnR w="9525" cap="flat" cmpd="sng" algn="ctr">
                      <a:solidFill>
                        <a:srgbClr val="D7E3E8"/>
                      </a:solidFill>
                      <a:prstDash val="solid"/>
                      <a:round/>
                      <a:headEnd type="none" w="med" len="med"/>
                      <a:tailEnd type="none" w="med" len="med"/>
                    </a:lnR>
                    <a:lnT w="9525" cap="flat" cmpd="sng" algn="ctr">
                      <a:solidFill>
                        <a:srgbClr val="D7E3E8"/>
                      </a:solidFill>
                      <a:prstDash val="solid"/>
                      <a:round/>
                      <a:headEnd type="none" w="med" len="med"/>
                      <a:tailEnd type="none" w="med" len="med"/>
                    </a:lnT>
                    <a:lnB w="9525" cap="flat" cmpd="sng" algn="ctr">
                      <a:solidFill>
                        <a:srgbClr val="D7E3E8"/>
                      </a:solidFill>
                      <a:prstDash val="solid"/>
                      <a:round/>
                      <a:headEnd type="none" w="med" len="med"/>
                      <a:tailEnd type="none" w="med" len="med"/>
                    </a:lnB>
                    <a:solidFill>
                      <a:srgbClr val="123B4F"/>
                    </a:solidFill>
                  </a:tcPr>
                </a:tc>
              </a:tr>
              <a:tr h="640080">
                <a:tc>
                  <a:txBody>
                    <a:bodyPr/>
                    <a:lstStyle/>
                    <a:p>
                      <a:pPr indent="0" marL="0">
                        <a:buNone/>
                      </a:pPr>
                      <a:r>
                        <a:rPr lang="en-US" sz="1400" dirty="0">
                          <a:solidFill>
                            <a:srgbClr val="1B2A33"/>
                          </a:solidFill>
                        </a:rPr>
                        <a:t>Manéah–Linsan 225 kV</a:t>
                      </a:r>
                      <a:endParaRPr lang="en-US" sz="1400" dirty="0"/>
                    </a:p>
                  </a:txBody>
                  <a:tcPr marL="91440" marR="91440" marT="45720" marB="45720" anchor="ctr">
                    <a:lnL w="9525" cap="flat" cmpd="sng" algn="ctr">
                      <a:solidFill>
                        <a:srgbClr val="D7E3E8"/>
                      </a:solidFill>
                      <a:prstDash val="solid"/>
                      <a:round/>
                      <a:headEnd type="none" w="med" len="med"/>
                      <a:tailEnd type="none" w="med" len="med"/>
                    </a:lnL>
                    <a:lnR w="9525" cap="flat" cmpd="sng" algn="ctr">
                      <a:solidFill>
                        <a:srgbClr val="D7E3E8"/>
                      </a:solidFill>
                      <a:prstDash val="solid"/>
                      <a:round/>
                      <a:headEnd type="none" w="med" len="med"/>
                      <a:tailEnd type="none" w="med" len="med"/>
                    </a:lnR>
                    <a:lnT w="9525" cap="flat" cmpd="sng" algn="ctr">
                      <a:solidFill>
                        <a:srgbClr val="D7E3E8"/>
                      </a:solidFill>
                      <a:prstDash val="solid"/>
                      <a:round/>
                      <a:headEnd type="none" w="med" len="med"/>
                      <a:tailEnd type="none" w="med" len="med"/>
                    </a:lnT>
                    <a:lnB w="9525" cap="flat" cmpd="sng" algn="ctr">
                      <a:solidFill>
                        <a:srgbClr val="D7E3E8"/>
                      </a:solidFill>
                      <a:prstDash val="solid"/>
                      <a:round/>
                      <a:headEnd type="none" w="med" len="med"/>
                      <a:tailEnd type="none" w="med" len="med"/>
                    </a:lnB>
                    <a:solidFill>
                      <a:srgbClr val="FFFFFF"/>
                    </a:solidFill>
                  </a:tcPr>
                </a:tc>
                <a:tc>
                  <a:txBody>
                    <a:bodyPr/>
                    <a:lstStyle/>
                    <a:p>
                      <a:pPr indent="0" marL="0">
                        <a:buNone/>
                      </a:pPr>
                      <a:r>
                        <a:rPr lang="en-US" sz="1400" dirty="0">
                          <a:solidFill>
                            <a:srgbClr val="1B2A33"/>
                          </a:solidFill>
                        </a:rPr>
                        <a:t>Financing committed</a:t>
                      </a:r>
                      <a:endParaRPr lang="en-US" sz="1400" dirty="0"/>
                    </a:p>
                  </a:txBody>
                  <a:tcPr marL="91440" marR="91440" marT="45720" marB="45720" anchor="ctr">
                    <a:lnL w="9525" cap="flat" cmpd="sng" algn="ctr">
                      <a:solidFill>
                        <a:srgbClr val="D7E3E8"/>
                      </a:solidFill>
                      <a:prstDash val="solid"/>
                      <a:round/>
                      <a:headEnd type="none" w="med" len="med"/>
                      <a:tailEnd type="none" w="med" len="med"/>
                    </a:lnL>
                    <a:lnR w="9525" cap="flat" cmpd="sng" algn="ctr">
                      <a:solidFill>
                        <a:srgbClr val="D7E3E8"/>
                      </a:solidFill>
                      <a:prstDash val="solid"/>
                      <a:round/>
                      <a:headEnd type="none" w="med" len="med"/>
                      <a:tailEnd type="none" w="med" len="med"/>
                    </a:lnR>
                    <a:lnT w="9525" cap="flat" cmpd="sng" algn="ctr">
                      <a:solidFill>
                        <a:srgbClr val="D7E3E8"/>
                      </a:solidFill>
                      <a:prstDash val="solid"/>
                      <a:round/>
                      <a:headEnd type="none" w="med" len="med"/>
                      <a:tailEnd type="none" w="med" len="med"/>
                    </a:lnT>
                    <a:lnB w="9525" cap="flat" cmpd="sng" algn="ctr">
                      <a:solidFill>
                        <a:srgbClr val="D7E3E8"/>
                      </a:solidFill>
                      <a:prstDash val="solid"/>
                      <a:round/>
                      <a:headEnd type="none" w="med" len="med"/>
                      <a:tailEnd type="none" w="med" len="med"/>
                    </a:lnB>
                    <a:solidFill>
                      <a:srgbClr val="FFFFFF"/>
                    </a:solidFill>
                  </a:tcPr>
                </a:tc>
                <a:tc>
                  <a:txBody>
                    <a:bodyPr/>
                    <a:lstStyle/>
                    <a:p>
                      <a:pPr indent="0" marL="0">
                        <a:buNone/>
                      </a:pPr>
                      <a:r>
                        <a:rPr lang="en-US" sz="1400" dirty="0">
                          <a:solidFill>
                            <a:srgbClr val="1B2A33"/>
                          </a:solidFill>
                        </a:rPr>
                        <a:t>AFD EUR 80 m; 41% disbursed; 8% site progress (end-2025)</a:t>
                      </a:r>
                      <a:endParaRPr lang="en-US" sz="1400" dirty="0"/>
                    </a:p>
                  </a:txBody>
                  <a:tcPr marL="91440" marR="91440" marT="45720" marB="45720" anchor="ctr">
                    <a:lnL w="9525" cap="flat" cmpd="sng" algn="ctr">
                      <a:solidFill>
                        <a:srgbClr val="D7E3E8"/>
                      </a:solidFill>
                      <a:prstDash val="solid"/>
                      <a:round/>
                      <a:headEnd type="none" w="med" len="med"/>
                      <a:tailEnd type="none" w="med" len="med"/>
                    </a:lnL>
                    <a:lnR w="9525" cap="flat" cmpd="sng" algn="ctr">
                      <a:solidFill>
                        <a:srgbClr val="D7E3E8"/>
                      </a:solidFill>
                      <a:prstDash val="solid"/>
                      <a:round/>
                      <a:headEnd type="none" w="med" len="med"/>
                      <a:tailEnd type="none" w="med" len="med"/>
                    </a:lnR>
                    <a:lnT w="9525" cap="flat" cmpd="sng" algn="ctr">
                      <a:solidFill>
                        <a:srgbClr val="D7E3E8"/>
                      </a:solidFill>
                      <a:prstDash val="solid"/>
                      <a:round/>
                      <a:headEnd type="none" w="med" len="med"/>
                      <a:tailEnd type="none" w="med" len="med"/>
                    </a:lnT>
                    <a:lnB w="9525" cap="flat" cmpd="sng" algn="ctr">
                      <a:solidFill>
                        <a:srgbClr val="D7E3E8"/>
                      </a:solidFill>
                      <a:prstDash val="solid"/>
                      <a:round/>
                      <a:headEnd type="none" w="med" len="med"/>
                      <a:tailEnd type="none" w="med" len="med"/>
                    </a:lnB>
                    <a:solidFill>
                      <a:srgbClr val="FFFFFF"/>
                    </a:solidFill>
                  </a:tcPr>
                </a:tc>
              </a:tr>
              <a:tr h="640080">
                <a:tc>
                  <a:txBody>
                    <a:bodyPr/>
                    <a:lstStyle/>
                    <a:p>
                      <a:pPr indent="0" marL="0">
                        <a:buNone/>
                      </a:pPr>
                      <a:r>
                        <a:rPr lang="en-US" sz="1400" dirty="0">
                          <a:solidFill>
                            <a:srgbClr val="1B2A33"/>
                          </a:solidFill>
                        </a:rPr>
                        <a:t>Linsan–Fomi 225 kV</a:t>
                      </a:r>
                      <a:endParaRPr lang="en-US" sz="1400" dirty="0"/>
                    </a:p>
                  </a:txBody>
                  <a:tcPr marL="91440" marR="91440" marT="45720" marB="45720" anchor="ctr">
                    <a:lnL w="9525" cap="flat" cmpd="sng" algn="ctr">
                      <a:solidFill>
                        <a:srgbClr val="D7E3E8"/>
                      </a:solidFill>
                      <a:prstDash val="solid"/>
                      <a:round/>
                      <a:headEnd type="none" w="med" len="med"/>
                      <a:tailEnd type="none" w="med" len="med"/>
                    </a:lnL>
                    <a:lnR w="9525" cap="flat" cmpd="sng" algn="ctr">
                      <a:solidFill>
                        <a:srgbClr val="D7E3E8"/>
                      </a:solidFill>
                      <a:prstDash val="solid"/>
                      <a:round/>
                      <a:headEnd type="none" w="med" len="med"/>
                      <a:tailEnd type="none" w="med" len="med"/>
                    </a:lnR>
                    <a:lnT w="9525" cap="flat" cmpd="sng" algn="ctr">
                      <a:solidFill>
                        <a:srgbClr val="D7E3E8"/>
                      </a:solidFill>
                      <a:prstDash val="solid"/>
                      <a:round/>
                      <a:headEnd type="none" w="med" len="med"/>
                      <a:tailEnd type="none" w="med" len="med"/>
                    </a:lnT>
                    <a:lnB w="9525" cap="flat" cmpd="sng" algn="ctr">
                      <a:solidFill>
                        <a:srgbClr val="D7E3E8"/>
                      </a:solidFill>
                      <a:prstDash val="solid"/>
                      <a:round/>
                      <a:headEnd type="none" w="med" len="med"/>
                      <a:tailEnd type="none" w="med" len="med"/>
                    </a:lnB>
                    <a:solidFill>
                      <a:srgbClr val="FFFFFF"/>
                    </a:solidFill>
                  </a:tcPr>
                </a:tc>
                <a:tc>
                  <a:txBody>
                    <a:bodyPr/>
                    <a:lstStyle/>
                    <a:p>
                      <a:pPr indent="0" marL="0">
                        <a:buNone/>
                      </a:pPr>
                      <a:r>
                        <a:rPr lang="en-US" sz="1400" dirty="0">
                          <a:solidFill>
                            <a:srgbClr val="1B2A33"/>
                          </a:solidFill>
                        </a:rPr>
                        <a:t>Financing committed</a:t>
                      </a:r>
                      <a:endParaRPr lang="en-US" sz="1400" dirty="0"/>
                    </a:p>
                  </a:txBody>
                  <a:tcPr marL="91440" marR="91440" marT="45720" marB="45720" anchor="ctr">
                    <a:lnL w="9525" cap="flat" cmpd="sng" algn="ctr">
                      <a:solidFill>
                        <a:srgbClr val="D7E3E8"/>
                      </a:solidFill>
                      <a:prstDash val="solid"/>
                      <a:round/>
                      <a:headEnd type="none" w="med" len="med"/>
                      <a:tailEnd type="none" w="med" len="med"/>
                    </a:lnL>
                    <a:lnR w="9525" cap="flat" cmpd="sng" algn="ctr">
                      <a:solidFill>
                        <a:srgbClr val="D7E3E8"/>
                      </a:solidFill>
                      <a:prstDash val="solid"/>
                      <a:round/>
                      <a:headEnd type="none" w="med" len="med"/>
                      <a:tailEnd type="none" w="med" len="med"/>
                    </a:lnR>
                    <a:lnT w="9525" cap="flat" cmpd="sng" algn="ctr">
                      <a:solidFill>
                        <a:srgbClr val="D7E3E8"/>
                      </a:solidFill>
                      <a:prstDash val="solid"/>
                      <a:round/>
                      <a:headEnd type="none" w="med" len="med"/>
                      <a:tailEnd type="none" w="med" len="med"/>
                    </a:lnT>
                    <a:lnB w="9525" cap="flat" cmpd="sng" algn="ctr">
                      <a:solidFill>
                        <a:srgbClr val="D7E3E8"/>
                      </a:solidFill>
                      <a:prstDash val="solid"/>
                      <a:round/>
                      <a:headEnd type="none" w="med" len="med"/>
                      <a:tailEnd type="none" w="med" len="med"/>
                    </a:lnB>
                    <a:solidFill>
                      <a:srgbClr val="FFFFFF"/>
                    </a:solidFill>
                  </a:tcPr>
                </a:tc>
                <a:tc>
                  <a:txBody>
                    <a:bodyPr/>
                    <a:lstStyle/>
                    <a:p>
                      <a:pPr indent="0" marL="0">
                        <a:buNone/>
                      </a:pPr>
                      <a:r>
                        <a:rPr lang="en-US" sz="1400" dirty="0">
                          <a:solidFill>
                            <a:srgbClr val="1B2A33"/>
                          </a:solidFill>
                        </a:rPr>
                        <a:t>EIB EUR 170 m signed 2021; no works start evidenced</a:t>
                      </a:r>
                      <a:endParaRPr lang="en-US" sz="1400" dirty="0"/>
                    </a:p>
                  </a:txBody>
                  <a:tcPr marL="91440" marR="91440" marT="45720" marB="45720" anchor="ctr">
                    <a:lnL w="9525" cap="flat" cmpd="sng" algn="ctr">
                      <a:solidFill>
                        <a:srgbClr val="D7E3E8"/>
                      </a:solidFill>
                      <a:prstDash val="solid"/>
                      <a:round/>
                      <a:headEnd type="none" w="med" len="med"/>
                      <a:tailEnd type="none" w="med" len="med"/>
                    </a:lnL>
                    <a:lnR w="9525" cap="flat" cmpd="sng" algn="ctr">
                      <a:solidFill>
                        <a:srgbClr val="D7E3E8"/>
                      </a:solidFill>
                      <a:prstDash val="solid"/>
                      <a:round/>
                      <a:headEnd type="none" w="med" len="med"/>
                      <a:tailEnd type="none" w="med" len="med"/>
                    </a:lnR>
                    <a:lnT w="9525" cap="flat" cmpd="sng" algn="ctr">
                      <a:solidFill>
                        <a:srgbClr val="D7E3E8"/>
                      </a:solidFill>
                      <a:prstDash val="solid"/>
                      <a:round/>
                      <a:headEnd type="none" w="med" len="med"/>
                      <a:tailEnd type="none" w="med" len="med"/>
                    </a:lnT>
                    <a:lnB w="9525" cap="flat" cmpd="sng" algn="ctr">
                      <a:solidFill>
                        <a:srgbClr val="D7E3E8"/>
                      </a:solidFill>
                      <a:prstDash val="solid"/>
                      <a:round/>
                      <a:headEnd type="none" w="med" len="med"/>
                      <a:tailEnd type="none" w="med" len="med"/>
                    </a:lnB>
                    <a:solidFill>
                      <a:srgbClr val="FFFFFF"/>
                    </a:solidFill>
                  </a:tcPr>
                </a:tc>
              </a:tr>
              <a:tr h="640080">
                <a:tc>
                  <a:txBody>
                    <a:bodyPr/>
                    <a:lstStyle/>
                    <a:p>
                      <a:pPr indent="0" marL="0">
                        <a:buNone/>
                      </a:pPr>
                      <a:r>
                        <a:rPr lang="en-US" sz="1400" dirty="0">
                          <a:solidFill>
                            <a:srgbClr val="1B2A33"/>
                          </a:solidFill>
                        </a:rPr>
                        <a:t>Guinea–Mali 225 kV</a:t>
                      </a:r>
                      <a:endParaRPr lang="en-US" sz="1400" dirty="0"/>
                    </a:p>
                  </a:txBody>
                  <a:tcPr marL="91440" marR="91440" marT="45720" marB="45720" anchor="ctr">
                    <a:lnL w="9525" cap="flat" cmpd="sng" algn="ctr">
                      <a:solidFill>
                        <a:srgbClr val="D7E3E8"/>
                      </a:solidFill>
                      <a:prstDash val="solid"/>
                      <a:round/>
                      <a:headEnd type="none" w="med" len="med"/>
                      <a:tailEnd type="none" w="med" len="med"/>
                    </a:lnL>
                    <a:lnR w="9525" cap="flat" cmpd="sng" algn="ctr">
                      <a:solidFill>
                        <a:srgbClr val="D7E3E8"/>
                      </a:solidFill>
                      <a:prstDash val="solid"/>
                      <a:round/>
                      <a:headEnd type="none" w="med" len="med"/>
                      <a:tailEnd type="none" w="med" len="med"/>
                    </a:lnR>
                    <a:lnT w="9525" cap="flat" cmpd="sng" algn="ctr">
                      <a:solidFill>
                        <a:srgbClr val="D7E3E8"/>
                      </a:solidFill>
                      <a:prstDash val="solid"/>
                      <a:round/>
                      <a:headEnd type="none" w="med" len="med"/>
                      <a:tailEnd type="none" w="med" len="med"/>
                    </a:lnT>
                    <a:lnB w="9525" cap="flat" cmpd="sng" algn="ctr">
                      <a:solidFill>
                        <a:srgbClr val="D7E3E8"/>
                      </a:solidFill>
                      <a:prstDash val="solid"/>
                      <a:round/>
                      <a:headEnd type="none" w="med" len="med"/>
                      <a:tailEnd type="none" w="med" len="med"/>
                    </a:lnB>
                    <a:solidFill>
                      <a:srgbClr val="FFFFFF"/>
                    </a:solidFill>
                  </a:tcPr>
                </a:tc>
                <a:tc>
                  <a:txBody>
                    <a:bodyPr/>
                    <a:lstStyle/>
                    <a:p>
                      <a:pPr indent="0" marL="0">
                        <a:buNone/>
                      </a:pPr>
                      <a:r>
                        <a:rPr lang="en-US" sz="1400" dirty="0">
                          <a:solidFill>
                            <a:srgbClr val="1B2A33"/>
                          </a:solidFill>
                        </a:rPr>
                        <a:t>Under construction, delayed</a:t>
                      </a:r>
                      <a:endParaRPr lang="en-US" sz="1400" dirty="0"/>
                    </a:p>
                  </a:txBody>
                  <a:tcPr marL="91440" marR="91440" marT="45720" marB="45720" anchor="ctr">
                    <a:lnL w="9525" cap="flat" cmpd="sng" algn="ctr">
                      <a:solidFill>
                        <a:srgbClr val="D7E3E8"/>
                      </a:solidFill>
                      <a:prstDash val="solid"/>
                      <a:round/>
                      <a:headEnd type="none" w="med" len="med"/>
                      <a:tailEnd type="none" w="med" len="med"/>
                    </a:lnL>
                    <a:lnR w="9525" cap="flat" cmpd="sng" algn="ctr">
                      <a:solidFill>
                        <a:srgbClr val="D7E3E8"/>
                      </a:solidFill>
                      <a:prstDash val="solid"/>
                      <a:round/>
                      <a:headEnd type="none" w="med" len="med"/>
                      <a:tailEnd type="none" w="med" len="med"/>
                    </a:lnR>
                    <a:lnT w="9525" cap="flat" cmpd="sng" algn="ctr">
                      <a:solidFill>
                        <a:srgbClr val="D7E3E8"/>
                      </a:solidFill>
                      <a:prstDash val="solid"/>
                      <a:round/>
                      <a:headEnd type="none" w="med" len="med"/>
                      <a:tailEnd type="none" w="med" len="med"/>
                    </a:lnT>
                    <a:lnB w="9525" cap="flat" cmpd="sng" algn="ctr">
                      <a:solidFill>
                        <a:srgbClr val="D7E3E8"/>
                      </a:solidFill>
                      <a:prstDash val="solid"/>
                      <a:round/>
                      <a:headEnd type="none" w="med" len="med"/>
                      <a:tailEnd type="none" w="med" len="med"/>
                    </a:lnB>
                    <a:solidFill>
                      <a:srgbClr val="FFFFFF"/>
                    </a:solidFill>
                  </a:tcPr>
                </a:tc>
                <a:tc>
                  <a:txBody>
                    <a:bodyPr/>
                    <a:lstStyle/>
                    <a:p>
                      <a:pPr indent="0" marL="0">
                        <a:buNone/>
                      </a:pPr>
                      <a:r>
                        <a:rPr lang="en-US" sz="1400" dirty="0">
                          <a:solidFill>
                            <a:srgbClr val="1B2A33"/>
                          </a:solidFill>
                        </a:rPr>
                        <a:t>~85% progress on World Bank-financed works; US$380.8 m approved in total</a:t>
                      </a:r>
                      <a:endParaRPr lang="en-US" sz="1400" dirty="0"/>
                    </a:p>
                  </a:txBody>
                  <a:tcPr marL="91440" marR="91440" marT="45720" marB="45720" anchor="ctr">
                    <a:lnL w="9525" cap="flat" cmpd="sng" algn="ctr">
                      <a:solidFill>
                        <a:srgbClr val="D7E3E8"/>
                      </a:solidFill>
                      <a:prstDash val="solid"/>
                      <a:round/>
                      <a:headEnd type="none" w="med" len="med"/>
                      <a:tailEnd type="none" w="med" len="med"/>
                    </a:lnL>
                    <a:lnR w="9525" cap="flat" cmpd="sng" algn="ctr">
                      <a:solidFill>
                        <a:srgbClr val="D7E3E8"/>
                      </a:solidFill>
                      <a:prstDash val="solid"/>
                      <a:round/>
                      <a:headEnd type="none" w="med" len="med"/>
                      <a:tailEnd type="none" w="med" len="med"/>
                    </a:lnR>
                    <a:lnT w="9525" cap="flat" cmpd="sng" algn="ctr">
                      <a:solidFill>
                        <a:srgbClr val="D7E3E8"/>
                      </a:solidFill>
                      <a:prstDash val="solid"/>
                      <a:round/>
                      <a:headEnd type="none" w="med" len="med"/>
                      <a:tailEnd type="none" w="med" len="med"/>
                    </a:lnT>
                    <a:lnB w="9525" cap="flat" cmpd="sng" algn="ctr">
                      <a:solidFill>
                        <a:srgbClr val="D7E3E8"/>
                      </a:solidFill>
                      <a:prstDash val="solid"/>
                      <a:round/>
                      <a:headEnd type="none" w="med" len="med"/>
                      <a:tailEnd type="none" w="med" len="med"/>
                    </a:lnB>
                    <a:solidFill>
                      <a:srgbClr val="FFFFFF"/>
                    </a:solidFill>
                  </a:tcPr>
                </a:tc>
              </a:tr>
              <a:tr h="640080">
                <a:tc>
                  <a:txBody>
                    <a:bodyPr/>
                    <a:lstStyle/>
                    <a:p>
                      <a:pPr indent="0" marL="0">
                        <a:buNone/>
                      </a:pPr>
                      <a:r>
                        <a:rPr lang="en-US" sz="1400" dirty="0">
                          <a:solidFill>
                            <a:srgbClr val="1B2A33"/>
                          </a:solidFill>
                        </a:rPr>
                        <a:t>OMVG and CLSG regional loops</a:t>
                      </a:r>
                      <a:endParaRPr lang="en-US" sz="1400" dirty="0"/>
                    </a:p>
                  </a:txBody>
                  <a:tcPr marL="91440" marR="91440" marT="45720" marB="45720" anchor="ctr">
                    <a:lnL w="9525" cap="flat" cmpd="sng" algn="ctr">
                      <a:solidFill>
                        <a:srgbClr val="D7E3E8"/>
                      </a:solidFill>
                      <a:prstDash val="solid"/>
                      <a:round/>
                      <a:headEnd type="none" w="med" len="med"/>
                      <a:tailEnd type="none" w="med" len="med"/>
                    </a:lnL>
                    <a:lnR w="9525" cap="flat" cmpd="sng" algn="ctr">
                      <a:solidFill>
                        <a:srgbClr val="D7E3E8"/>
                      </a:solidFill>
                      <a:prstDash val="solid"/>
                      <a:round/>
                      <a:headEnd type="none" w="med" len="med"/>
                      <a:tailEnd type="none" w="med" len="med"/>
                    </a:lnR>
                    <a:lnT w="9525" cap="flat" cmpd="sng" algn="ctr">
                      <a:solidFill>
                        <a:srgbClr val="D7E3E8"/>
                      </a:solidFill>
                      <a:prstDash val="solid"/>
                      <a:round/>
                      <a:headEnd type="none" w="med" len="med"/>
                      <a:tailEnd type="none" w="med" len="med"/>
                    </a:lnT>
                    <a:lnB w="9525" cap="flat" cmpd="sng" algn="ctr">
                      <a:solidFill>
                        <a:srgbClr val="D7E3E8"/>
                      </a:solidFill>
                      <a:prstDash val="solid"/>
                      <a:round/>
                      <a:headEnd type="none" w="med" len="med"/>
                      <a:tailEnd type="none" w="med" len="med"/>
                    </a:lnB>
                    <a:solidFill>
                      <a:srgbClr val="FFFFFF"/>
                    </a:solidFill>
                  </a:tcPr>
                </a:tc>
                <a:tc>
                  <a:txBody>
                    <a:bodyPr/>
                    <a:lstStyle/>
                    <a:p>
                      <a:pPr indent="0" marL="0">
                        <a:buNone/>
                      </a:pPr>
                      <a:r>
                        <a:rPr lang="en-US" sz="1400" dirty="0">
                          <a:solidFill>
                            <a:srgbClr val="1B2A33"/>
                          </a:solidFill>
                        </a:rPr>
                        <a:t>Operating</a:t>
                      </a:r>
                      <a:endParaRPr lang="en-US" sz="1400" dirty="0"/>
                    </a:p>
                  </a:txBody>
                  <a:tcPr marL="91440" marR="91440" marT="45720" marB="45720" anchor="ctr">
                    <a:lnL w="9525" cap="flat" cmpd="sng" algn="ctr">
                      <a:solidFill>
                        <a:srgbClr val="D7E3E8"/>
                      </a:solidFill>
                      <a:prstDash val="solid"/>
                      <a:round/>
                      <a:headEnd type="none" w="med" len="med"/>
                      <a:tailEnd type="none" w="med" len="med"/>
                    </a:lnL>
                    <a:lnR w="9525" cap="flat" cmpd="sng" algn="ctr">
                      <a:solidFill>
                        <a:srgbClr val="D7E3E8"/>
                      </a:solidFill>
                      <a:prstDash val="solid"/>
                      <a:round/>
                      <a:headEnd type="none" w="med" len="med"/>
                      <a:tailEnd type="none" w="med" len="med"/>
                    </a:lnR>
                    <a:lnT w="9525" cap="flat" cmpd="sng" algn="ctr">
                      <a:solidFill>
                        <a:srgbClr val="D7E3E8"/>
                      </a:solidFill>
                      <a:prstDash val="solid"/>
                      <a:round/>
                      <a:headEnd type="none" w="med" len="med"/>
                      <a:tailEnd type="none" w="med" len="med"/>
                    </a:lnT>
                    <a:lnB w="9525" cap="flat" cmpd="sng" algn="ctr">
                      <a:solidFill>
                        <a:srgbClr val="D7E3E8"/>
                      </a:solidFill>
                      <a:prstDash val="solid"/>
                      <a:round/>
                      <a:headEnd type="none" w="med" len="med"/>
                      <a:tailEnd type="none" w="med" len="med"/>
                    </a:lnB>
                    <a:solidFill>
                      <a:srgbClr val="FFFFFF"/>
                    </a:solidFill>
                  </a:tcPr>
                </a:tc>
                <a:tc>
                  <a:txBody>
                    <a:bodyPr/>
                    <a:lstStyle/>
                    <a:p>
                      <a:pPr indent="0" marL="0">
                        <a:buNone/>
                      </a:pPr>
                      <a:r>
                        <a:rPr lang="en-US" sz="1400" dirty="0">
                          <a:solidFill>
                            <a:srgbClr val="1B2A33"/>
                          </a:solidFill>
                        </a:rPr>
                        <a:t>Transmission-fee arrears US$57 m (June 2026)</a:t>
                      </a:r>
                      <a:endParaRPr lang="en-US" sz="1400" dirty="0"/>
                    </a:p>
                  </a:txBody>
                  <a:tcPr marL="91440" marR="91440" marT="45720" marB="45720" anchor="ctr">
                    <a:lnL w="9525" cap="flat" cmpd="sng" algn="ctr">
                      <a:solidFill>
                        <a:srgbClr val="D7E3E8"/>
                      </a:solidFill>
                      <a:prstDash val="solid"/>
                      <a:round/>
                      <a:headEnd type="none" w="med" len="med"/>
                      <a:tailEnd type="none" w="med" len="med"/>
                    </a:lnL>
                    <a:lnR w="9525" cap="flat" cmpd="sng" algn="ctr">
                      <a:solidFill>
                        <a:srgbClr val="D7E3E8"/>
                      </a:solidFill>
                      <a:prstDash val="solid"/>
                      <a:round/>
                      <a:headEnd type="none" w="med" len="med"/>
                      <a:tailEnd type="none" w="med" len="med"/>
                    </a:lnR>
                    <a:lnT w="9525" cap="flat" cmpd="sng" algn="ctr">
                      <a:solidFill>
                        <a:srgbClr val="D7E3E8"/>
                      </a:solidFill>
                      <a:prstDash val="solid"/>
                      <a:round/>
                      <a:headEnd type="none" w="med" len="med"/>
                      <a:tailEnd type="none" w="med" len="med"/>
                    </a:lnT>
                    <a:lnB w="9525" cap="flat" cmpd="sng" algn="ctr">
                      <a:solidFill>
                        <a:srgbClr val="D7E3E8"/>
                      </a:solidFill>
                      <a:prstDash val="solid"/>
                      <a:round/>
                      <a:headEnd type="none" w="med" len="med"/>
                      <a:tailEnd type="none" w="med" len="med"/>
                    </a:lnB>
                    <a:solidFill>
                      <a:srgbClr val="FFFFFF"/>
                    </a:solidFill>
                  </a:tcPr>
                </a:tc>
              </a:tr>
              <a:tr h="640080">
                <a:tc>
                  <a:txBody>
                    <a:bodyPr/>
                    <a:lstStyle/>
                    <a:p>
                      <a:pPr indent="0" marL="0">
                        <a:buNone/>
                      </a:pPr>
                      <a:r>
                        <a:rPr lang="en-US" sz="1400" dirty="0">
                          <a:solidFill>
                            <a:srgbClr val="1B2A33"/>
                          </a:solidFill>
                        </a:rPr>
                        <a:t>Conakry substations</a:t>
                      </a:r>
                      <a:endParaRPr lang="en-US" sz="1400" dirty="0"/>
                    </a:p>
                  </a:txBody>
                  <a:tcPr marL="91440" marR="91440" marT="45720" marB="45720" anchor="ctr">
                    <a:lnL w="9525" cap="flat" cmpd="sng" algn="ctr">
                      <a:solidFill>
                        <a:srgbClr val="D7E3E8"/>
                      </a:solidFill>
                      <a:prstDash val="solid"/>
                      <a:round/>
                      <a:headEnd type="none" w="med" len="med"/>
                      <a:tailEnd type="none" w="med" len="med"/>
                    </a:lnL>
                    <a:lnR w="9525" cap="flat" cmpd="sng" algn="ctr">
                      <a:solidFill>
                        <a:srgbClr val="D7E3E8"/>
                      </a:solidFill>
                      <a:prstDash val="solid"/>
                      <a:round/>
                      <a:headEnd type="none" w="med" len="med"/>
                      <a:tailEnd type="none" w="med" len="med"/>
                    </a:lnR>
                    <a:lnT w="9525" cap="flat" cmpd="sng" algn="ctr">
                      <a:solidFill>
                        <a:srgbClr val="D7E3E8"/>
                      </a:solidFill>
                      <a:prstDash val="solid"/>
                      <a:round/>
                      <a:headEnd type="none" w="med" len="med"/>
                      <a:tailEnd type="none" w="med" len="med"/>
                    </a:lnT>
                    <a:lnB w="9525" cap="flat" cmpd="sng" algn="ctr">
                      <a:solidFill>
                        <a:srgbClr val="D7E3E8"/>
                      </a:solidFill>
                      <a:prstDash val="solid"/>
                      <a:round/>
                      <a:headEnd type="none" w="med" len="med"/>
                      <a:tailEnd type="none" w="med" len="med"/>
                    </a:lnB>
                    <a:solidFill>
                      <a:srgbClr val="FFFFFF"/>
                    </a:solidFill>
                  </a:tcPr>
                </a:tc>
                <a:tc>
                  <a:txBody>
                    <a:bodyPr/>
                    <a:lstStyle/>
                    <a:p>
                      <a:pPr indent="0" marL="0">
                        <a:buNone/>
                      </a:pPr>
                      <a:r>
                        <a:rPr lang="en-US" sz="1400" dirty="0">
                          <a:solidFill>
                            <a:srgbClr val="1B2A33"/>
                          </a:solidFill>
                        </a:rPr>
                        <a:t>Constraint</a:t>
                      </a:r>
                      <a:endParaRPr lang="en-US" sz="1400" dirty="0"/>
                    </a:p>
                  </a:txBody>
                  <a:tcPr marL="91440" marR="91440" marT="45720" marB="45720" anchor="ctr">
                    <a:lnL w="9525" cap="flat" cmpd="sng" algn="ctr">
                      <a:solidFill>
                        <a:srgbClr val="D7E3E8"/>
                      </a:solidFill>
                      <a:prstDash val="solid"/>
                      <a:round/>
                      <a:headEnd type="none" w="med" len="med"/>
                      <a:tailEnd type="none" w="med" len="med"/>
                    </a:lnL>
                    <a:lnR w="9525" cap="flat" cmpd="sng" algn="ctr">
                      <a:solidFill>
                        <a:srgbClr val="D7E3E8"/>
                      </a:solidFill>
                      <a:prstDash val="solid"/>
                      <a:round/>
                      <a:headEnd type="none" w="med" len="med"/>
                      <a:tailEnd type="none" w="med" len="med"/>
                    </a:lnR>
                    <a:lnT w="9525" cap="flat" cmpd="sng" algn="ctr">
                      <a:solidFill>
                        <a:srgbClr val="D7E3E8"/>
                      </a:solidFill>
                      <a:prstDash val="solid"/>
                      <a:round/>
                      <a:headEnd type="none" w="med" len="med"/>
                      <a:tailEnd type="none" w="med" len="med"/>
                    </a:lnT>
                    <a:lnB w="9525" cap="flat" cmpd="sng" algn="ctr">
                      <a:solidFill>
                        <a:srgbClr val="D7E3E8"/>
                      </a:solidFill>
                      <a:prstDash val="solid"/>
                      <a:round/>
                      <a:headEnd type="none" w="med" len="med"/>
                      <a:tailEnd type="none" w="med" len="med"/>
                    </a:lnB>
                    <a:solidFill>
                      <a:srgbClr val="FFFFFF"/>
                    </a:solidFill>
                  </a:tcPr>
                </a:tc>
                <a:tc>
                  <a:txBody>
                    <a:bodyPr/>
                    <a:lstStyle/>
                    <a:p>
                      <a:pPr indent="0" marL="0">
                        <a:buNone/>
                      </a:pPr>
                      <a:r>
                        <a:rPr lang="en-US" sz="1400" dirty="0">
                          <a:solidFill>
                            <a:srgbClr val="1B2A33"/>
                          </a:solidFill>
                        </a:rPr>
                        <a:t>Transformer loading ≈80–103% (EDG table; year 2022 or 2023 ambiguous)</a:t>
                      </a:r>
                      <a:endParaRPr lang="en-US" sz="1400" dirty="0"/>
                    </a:p>
                  </a:txBody>
                  <a:tcPr marL="91440" marR="91440" marT="45720" marB="45720" anchor="ctr">
                    <a:lnL w="9525" cap="flat" cmpd="sng" algn="ctr">
                      <a:solidFill>
                        <a:srgbClr val="D7E3E8"/>
                      </a:solidFill>
                      <a:prstDash val="solid"/>
                      <a:round/>
                      <a:headEnd type="none" w="med" len="med"/>
                      <a:tailEnd type="none" w="med" len="med"/>
                    </a:lnL>
                    <a:lnR w="9525" cap="flat" cmpd="sng" algn="ctr">
                      <a:solidFill>
                        <a:srgbClr val="D7E3E8"/>
                      </a:solidFill>
                      <a:prstDash val="solid"/>
                      <a:round/>
                      <a:headEnd type="none" w="med" len="med"/>
                      <a:tailEnd type="none" w="med" len="med"/>
                    </a:lnR>
                    <a:lnT w="9525" cap="flat" cmpd="sng" algn="ctr">
                      <a:solidFill>
                        <a:srgbClr val="D7E3E8"/>
                      </a:solidFill>
                      <a:prstDash val="solid"/>
                      <a:round/>
                      <a:headEnd type="none" w="med" len="med"/>
                      <a:tailEnd type="none" w="med" len="med"/>
                    </a:lnT>
                    <a:lnB w="9525" cap="flat" cmpd="sng" algn="ctr">
                      <a:solidFill>
                        <a:srgbClr val="D7E3E8"/>
                      </a:solidFill>
                      <a:prstDash val="solid"/>
                      <a:round/>
                      <a:headEnd type="none" w="med" len="med"/>
                      <a:tailEnd type="none" w="med" len="med"/>
                    </a:lnB>
                    <a:solidFill>
                      <a:srgbClr val="FFFFFF"/>
                    </a:solidFill>
                  </a:tcPr>
                </a:tc>
              </a:tr>
            </a:tbl>
          </a:graphicData>
        </a:graphic>
      </p:graphicFrame>
      <p:sp>
        <p:nvSpPr>
          <p:cNvPr id="4" name="source"/>
          <p:cNvSpPr txBox="1"/>
          <p:nvPr/>
        </p:nvSpPr>
        <p:spPr>
          <a:xfrm>
            <a:off x="548640" y="5916168"/>
            <a:ext cx="11064240" cy="512064"/>
          </a:xfrm>
          <a:prstGeom prst="rect">
            <a:avLst/>
          </a:prstGeom>
          <a:noFill/>
          <a:ln/>
        </p:spPr>
        <p:txBody>
          <a:bodyPr wrap="square" rtlCol="0" anchor="t"/>
          <a:lstStyle/>
          <a:p>
            <a:pPr indent="0" marL="0">
              <a:buNone/>
            </a:pPr>
            <a:r>
              <a:rPr lang="en-US" sz="900" dirty="0">
                <a:solidFill>
                  <a:srgbClr val="4B5563"/>
                </a:solidFill>
              </a:rPr>
              <a:t>Sources: Électricité de Guinée [79]; European Investment Bank [18]; World Bank [66]; World Bank [65]; World Bank [67]; Électricité de Guinée SA [82]. [n] = reference list at end.</a:t>
            </a:r>
            <a:endParaRPr lang="en-US" sz="900" dirty="0"/>
          </a:p>
        </p:txBody>
      </p:sp>
      <p:sp>
        <p:nvSpPr>
          <p:cNvPr id="25" name="Slide Number Placeholder 0"/>
          <p:cNvSpPr>
            <a:spLocks noGrp="1"/>
          </p:cNvSpPr>
          <p:nvPr>
            <p:ph type="sldNum" sz="quarter" idx="4294967295"/>
          </p:nvPr>
        </p:nvSpPr>
        <p:spPr>
          <a:xfrm>
            <a:off x="11155680" y="6446520"/>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4B5563"/>
                </a:solidFill>
                <a:latin typeface="Calibri"/>
                <a:ea typeface="Calibri"/>
                <a:cs typeface="Calibri"/>
              </a:defRPr>
            </a:lvl1pPr>
          </a:lstStyle>
          <a:p>
            <a:pPr algn="l"/>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rtlCol="0" anchor="ctr"/>
          <a:lstStyle/>
          <a:p>
            <a:pPr indent="0" marL="0">
              <a:buNone/>
            </a:pPr>
            <a:r>
              <a:rPr lang="en-US" sz="3000" b="1" dirty="0">
                <a:solidFill>
                  <a:srgbClr val="123B4F"/>
                </a:solidFill>
                <a:latin typeface="Cambria" pitchFamily="34" charset="0"/>
                <a:ea typeface="Cambria" pitchFamily="34" charset="-122"/>
                <a:cs typeface="Cambria" pitchFamily="34" charset="-120"/>
              </a:rPr>
              <a:t>The utility sells at about a third of its cost</a:t>
            </a:r>
            <a:endParaRPr lang="en-US" sz="3000" dirty="0"/>
          </a:p>
        </p:txBody>
      </p:sp>
      <p:graphicFrame>
        <p:nvGraphicFramePr>
          <p:cNvPr id="3" name="Chart 0" descr=""/>
          <p:cNvGraphicFramePr/>
          <p:nvPr/>
        </p:nvGraphicFramePr>
        <p:xfrm>
          <a:off x="548640" y="1280160"/>
          <a:ext cx="5120640" cy="4572000"/>
        </p:xfrm>
        <a:graphic xmlns:a="http://schemas.openxmlformats.org/drawingml/2006/main">
          <a:graphicData uri="http://schemas.openxmlformats.org/drawingml/2006/chart">
            <c:chart xmlns:c="http://schemas.openxmlformats.org/drawingml/2006/chart" r:id="rId1"/>
          </a:graphicData>
        </a:graphic>
      </p:graphicFrame>
      <p:sp>
        <p:nvSpPr>
          <p:cNvPr id="4" name="stat-card"/>
          <p:cNvSpPr/>
          <p:nvPr/>
        </p:nvSpPr>
        <p:spPr>
          <a:xfrm>
            <a:off x="6035040" y="1371600"/>
            <a:ext cx="2743200" cy="1417320"/>
          </a:xfrm>
          <a:prstGeom prst="roundRect">
            <a:avLst>
              <a:gd name="adj" fmla="val 5161"/>
            </a:avLst>
          </a:prstGeom>
          <a:solidFill>
            <a:srgbClr val="EEF3F5"/>
          </a:solidFill>
          <a:ln w="12700">
            <a:solidFill>
              <a:srgbClr val="EEF3F5"/>
            </a:solidFill>
            <a:prstDash val="solid"/>
          </a:ln>
        </p:spPr>
      </p:sp>
      <p:sp>
        <p:nvSpPr>
          <p:cNvPr id="5" name="stat-value"/>
          <p:cNvSpPr txBox="1"/>
          <p:nvPr/>
        </p:nvSpPr>
        <p:spPr>
          <a:xfrm>
            <a:off x="6217920" y="1481328"/>
            <a:ext cx="2377440" cy="685800"/>
          </a:xfrm>
          <a:prstGeom prst="rect">
            <a:avLst/>
          </a:prstGeom>
          <a:noFill/>
          <a:ln/>
        </p:spPr>
        <p:txBody>
          <a:bodyPr wrap="square" lIns="0" tIns="0" rIns="0" bIns="0" rtlCol="0" anchor="ctr"/>
          <a:lstStyle/>
          <a:p>
            <a:pPr indent="0" marL="0">
              <a:buNone/>
            </a:pPr>
            <a:r>
              <a:rPr lang="en-US" sz="2400" b="1" dirty="0">
                <a:solidFill>
                  <a:srgbClr val="B5452E"/>
                </a:solidFill>
                <a:latin typeface="Cambria" pitchFamily="34" charset="0"/>
                <a:ea typeface="Cambria" pitchFamily="34" charset="-122"/>
                <a:cs typeface="Cambria" pitchFamily="34" charset="-120"/>
              </a:rPr>
              <a:t>GNF −430 bn</a:t>
            </a:r>
            <a:endParaRPr lang="en-US" sz="2400" dirty="0"/>
          </a:p>
        </p:txBody>
      </p:sp>
      <p:sp>
        <p:nvSpPr>
          <p:cNvPr id="6" name="stat-label"/>
          <p:cNvSpPr txBox="1"/>
          <p:nvPr/>
        </p:nvSpPr>
        <p:spPr>
          <a:xfrm>
            <a:off x="6217920" y="2176272"/>
            <a:ext cx="2377440" cy="548640"/>
          </a:xfrm>
          <a:prstGeom prst="rect">
            <a:avLst/>
          </a:prstGeom>
          <a:noFill/>
          <a:ln/>
        </p:spPr>
        <p:txBody>
          <a:bodyPr wrap="square" lIns="0" tIns="0" rIns="0" bIns="0" rtlCol="0" anchor="t"/>
          <a:lstStyle/>
          <a:p>
            <a:pPr indent="0" marL="0">
              <a:buNone/>
            </a:pPr>
            <a:r>
              <a:rPr lang="en-US" sz="1200" dirty="0">
                <a:solidFill>
                  <a:srgbClr val="1B2A33"/>
                </a:solidFill>
              </a:rPr>
              <a:t>EDG-reported net result, 2025 (no audit opinion located)</a:t>
            </a:r>
            <a:endParaRPr lang="en-US" sz="1200" dirty="0"/>
          </a:p>
        </p:txBody>
      </p:sp>
      <p:sp>
        <p:nvSpPr>
          <p:cNvPr id="7" name="stat-card"/>
          <p:cNvSpPr/>
          <p:nvPr/>
        </p:nvSpPr>
        <p:spPr>
          <a:xfrm>
            <a:off x="8915400" y="1371600"/>
            <a:ext cx="2697480" cy="1417320"/>
          </a:xfrm>
          <a:prstGeom prst="roundRect">
            <a:avLst>
              <a:gd name="adj" fmla="val 5161"/>
            </a:avLst>
          </a:prstGeom>
          <a:solidFill>
            <a:srgbClr val="EEF3F5"/>
          </a:solidFill>
          <a:ln w="12700">
            <a:solidFill>
              <a:srgbClr val="EEF3F5"/>
            </a:solidFill>
            <a:prstDash val="solid"/>
          </a:ln>
        </p:spPr>
      </p:sp>
      <p:sp>
        <p:nvSpPr>
          <p:cNvPr id="8" name="stat-value"/>
          <p:cNvSpPr txBox="1"/>
          <p:nvPr/>
        </p:nvSpPr>
        <p:spPr>
          <a:xfrm>
            <a:off x="9098280" y="1481328"/>
            <a:ext cx="2331720" cy="685800"/>
          </a:xfrm>
          <a:prstGeom prst="rect">
            <a:avLst/>
          </a:prstGeom>
          <a:noFill/>
          <a:ln/>
        </p:spPr>
        <p:txBody>
          <a:bodyPr wrap="square" lIns="0" tIns="0" rIns="0" bIns="0" rtlCol="0" anchor="ctr"/>
          <a:lstStyle/>
          <a:p>
            <a:pPr indent="0" marL="0">
              <a:buNone/>
            </a:pPr>
            <a:r>
              <a:rPr lang="en-US" sz="2400" b="1" dirty="0">
                <a:solidFill>
                  <a:srgbClr val="123B4F"/>
                </a:solidFill>
                <a:latin typeface="Cambria" pitchFamily="34" charset="0"/>
                <a:ea typeface="Cambria" pitchFamily="34" charset="-122"/>
                <a:cs typeface="Cambria" pitchFamily="34" charset="-120"/>
              </a:rPr>
              <a:t>55%</a:t>
            </a:r>
            <a:endParaRPr lang="en-US" sz="2400" dirty="0"/>
          </a:p>
        </p:txBody>
      </p:sp>
      <p:sp>
        <p:nvSpPr>
          <p:cNvPr id="9" name="stat-label"/>
          <p:cNvSpPr txBox="1"/>
          <p:nvPr/>
        </p:nvSpPr>
        <p:spPr>
          <a:xfrm>
            <a:off x="9098280" y="2176272"/>
            <a:ext cx="2331720" cy="548640"/>
          </a:xfrm>
          <a:prstGeom prst="rect">
            <a:avLst/>
          </a:prstGeom>
          <a:noFill/>
          <a:ln/>
        </p:spPr>
        <p:txBody>
          <a:bodyPr wrap="square" lIns="0" tIns="0" rIns="0" bIns="0" rtlCol="0" anchor="t"/>
          <a:lstStyle/>
          <a:p>
            <a:pPr indent="0" marL="0">
              <a:buNone/>
            </a:pPr>
            <a:r>
              <a:rPr lang="en-US" sz="1200" dirty="0">
                <a:solidFill>
                  <a:srgbClr val="1B2A33"/>
                </a:solidFill>
              </a:rPr>
              <a:t>Subsidies as share of revenue, 2019–2023</a:t>
            </a:r>
            <a:endParaRPr lang="en-US" sz="1200" dirty="0"/>
          </a:p>
        </p:txBody>
      </p:sp>
      <p:sp>
        <p:nvSpPr>
          <p:cNvPr id="10" name="stat-card"/>
          <p:cNvSpPr/>
          <p:nvPr/>
        </p:nvSpPr>
        <p:spPr>
          <a:xfrm>
            <a:off x="6035040" y="3017520"/>
            <a:ext cx="2743200" cy="1417320"/>
          </a:xfrm>
          <a:prstGeom prst="roundRect">
            <a:avLst>
              <a:gd name="adj" fmla="val 5161"/>
            </a:avLst>
          </a:prstGeom>
          <a:solidFill>
            <a:srgbClr val="EEF3F5"/>
          </a:solidFill>
          <a:ln w="12700">
            <a:solidFill>
              <a:srgbClr val="EEF3F5"/>
            </a:solidFill>
            <a:prstDash val="solid"/>
          </a:ln>
        </p:spPr>
      </p:sp>
      <p:sp>
        <p:nvSpPr>
          <p:cNvPr id="11" name="stat-value"/>
          <p:cNvSpPr txBox="1"/>
          <p:nvPr/>
        </p:nvSpPr>
        <p:spPr>
          <a:xfrm>
            <a:off x="6217920" y="3127248"/>
            <a:ext cx="2377440" cy="685800"/>
          </a:xfrm>
          <a:prstGeom prst="rect">
            <a:avLst/>
          </a:prstGeom>
          <a:noFill/>
          <a:ln/>
        </p:spPr>
        <p:txBody>
          <a:bodyPr wrap="square" lIns="0" tIns="0" rIns="0" bIns="0" rtlCol="0" anchor="ctr"/>
          <a:lstStyle/>
          <a:p>
            <a:pPr indent="0" marL="0">
              <a:buNone/>
            </a:pPr>
            <a:r>
              <a:rPr lang="en-US" sz="2400" b="1" dirty="0">
                <a:solidFill>
                  <a:srgbClr val="123B4F"/>
                </a:solidFill>
                <a:latin typeface="Cambria" pitchFamily="34" charset="0"/>
                <a:ea typeface="Cambria" pitchFamily="34" charset="-122"/>
                <a:cs typeface="Cambria" pitchFamily="34" charset="-120"/>
              </a:rPr>
              <a:t>GNF 6,500 bn</a:t>
            </a:r>
            <a:endParaRPr lang="en-US" sz="2400" dirty="0"/>
          </a:p>
        </p:txBody>
      </p:sp>
      <p:sp>
        <p:nvSpPr>
          <p:cNvPr id="12" name="stat-label"/>
          <p:cNvSpPr txBox="1"/>
          <p:nvPr/>
        </p:nvSpPr>
        <p:spPr>
          <a:xfrm>
            <a:off x="6217920" y="3822192"/>
            <a:ext cx="2377440" cy="548640"/>
          </a:xfrm>
          <a:prstGeom prst="rect">
            <a:avLst/>
          </a:prstGeom>
          <a:noFill/>
          <a:ln/>
        </p:spPr>
        <p:txBody>
          <a:bodyPr wrap="square" lIns="0" tIns="0" rIns="0" bIns="0" rtlCol="0" anchor="t"/>
          <a:lstStyle/>
          <a:p>
            <a:pPr indent="0" marL="0">
              <a:buNone/>
            </a:pPr>
            <a:r>
              <a:rPr lang="en-US" sz="1200" dirty="0">
                <a:solidFill>
                  <a:srgbClr val="1B2A33"/>
                </a:solidFill>
              </a:rPr>
              <a:t>Payables to independent producers, 2023</a:t>
            </a:r>
            <a:endParaRPr lang="en-US" sz="1200" dirty="0"/>
          </a:p>
        </p:txBody>
      </p:sp>
      <p:sp>
        <p:nvSpPr>
          <p:cNvPr id="13" name="stat-card"/>
          <p:cNvSpPr/>
          <p:nvPr/>
        </p:nvSpPr>
        <p:spPr>
          <a:xfrm>
            <a:off x="8915400" y="3017520"/>
            <a:ext cx="2697480" cy="1417320"/>
          </a:xfrm>
          <a:prstGeom prst="roundRect">
            <a:avLst>
              <a:gd name="adj" fmla="val 5161"/>
            </a:avLst>
          </a:prstGeom>
          <a:solidFill>
            <a:srgbClr val="EEF3F5"/>
          </a:solidFill>
          <a:ln w="12700">
            <a:solidFill>
              <a:srgbClr val="EEF3F5"/>
            </a:solidFill>
            <a:prstDash val="solid"/>
          </a:ln>
        </p:spPr>
      </p:sp>
      <p:sp>
        <p:nvSpPr>
          <p:cNvPr id="14" name="stat-value"/>
          <p:cNvSpPr txBox="1"/>
          <p:nvPr/>
        </p:nvSpPr>
        <p:spPr>
          <a:xfrm>
            <a:off x="9098280" y="3127248"/>
            <a:ext cx="2331720" cy="685800"/>
          </a:xfrm>
          <a:prstGeom prst="rect">
            <a:avLst/>
          </a:prstGeom>
          <a:noFill/>
          <a:ln/>
        </p:spPr>
        <p:txBody>
          <a:bodyPr wrap="square" lIns="0" tIns="0" rIns="0" bIns="0" rtlCol="0" anchor="ctr"/>
          <a:lstStyle/>
          <a:p>
            <a:pPr indent="0" marL="0">
              <a:buNone/>
            </a:pPr>
            <a:r>
              <a:rPr lang="en-US" sz="2400" b="1" dirty="0">
                <a:solidFill>
                  <a:srgbClr val="123B4F"/>
                </a:solidFill>
                <a:latin typeface="Cambria" pitchFamily="34" charset="0"/>
                <a:ea typeface="Cambria" pitchFamily="34" charset="-122"/>
                <a:cs typeface="Cambria" pitchFamily="34" charset="-120"/>
              </a:rPr>
              <a:t>30%</a:t>
            </a:r>
            <a:endParaRPr lang="en-US" sz="2400" dirty="0"/>
          </a:p>
        </p:txBody>
      </p:sp>
      <p:sp>
        <p:nvSpPr>
          <p:cNvPr id="15" name="stat-label"/>
          <p:cNvSpPr txBox="1"/>
          <p:nvPr/>
        </p:nvSpPr>
        <p:spPr>
          <a:xfrm>
            <a:off x="9098280" y="3822192"/>
            <a:ext cx="2331720" cy="548640"/>
          </a:xfrm>
          <a:prstGeom prst="rect">
            <a:avLst/>
          </a:prstGeom>
          <a:noFill/>
          <a:ln/>
        </p:spPr>
        <p:txBody>
          <a:bodyPr wrap="square" lIns="0" tIns="0" rIns="0" bIns="0" rtlCol="0" anchor="t"/>
          <a:lstStyle/>
          <a:p>
            <a:pPr indent="0" marL="0">
              <a:buNone/>
            </a:pPr>
            <a:r>
              <a:rPr lang="en-US" sz="1200" dirty="0">
                <a:solidFill>
                  <a:srgbClr val="1B2A33"/>
                </a:solidFill>
              </a:rPr>
              <a:t>Losses 2024; 40% commercial (2025); bases differ</a:t>
            </a:r>
            <a:endParaRPr lang="en-US" sz="1200" dirty="0"/>
          </a:p>
        </p:txBody>
      </p:sp>
      <p:sp>
        <p:nvSpPr>
          <p:cNvPr id="16" name="Text 13"/>
          <p:cNvSpPr txBox="1"/>
          <p:nvPr/>
        </p:nvSpPr>
        <p:spPr>
          <a:xfrm>
            <a:off x="6035040" y="4663440"/>
            <a:ext cx="5577840" cy="914400"/>
          </a:xfrm>
          <a:prstGeom prst="rect">
            <a:avLst/>
          </a:prstGeom>
          <a:noFill/>
          <a:ln/>
        </p:spPr>
        <p:txBody>
          <a:bodyPr wrap="square" lIns="0" tIns="0" rIns="0" bIns="0" rtlCol="0" anchor="ctr"/>
          <a:lstStyle/>
          <a:p>
            <a:pPr indent="0" marL="0">
              <a:buNone/>
            </a:pPr>
            <a:r>
              <a:rPr lang="en-US" sz="1400" i="1" dirty="0">
                <a:solidFill>
                  <a:srgbClr val="123B4F"/>
                </a:solidFill>
              </a:rPr>
              <a:t>Electricity law of 1993 still in force · regulator not fully operational · PPA currency terms undocumented</a:t>
            </a:r>
            <a:endParaRPr lang="en-US" sz="1400" dirty="0"/>
          </a:p>
        </p:txBody>
      </p:sp>
      <p:sp>
        <p:nvSpPr>
          <p:cNvPr id="17" name="source"/>
          <p:cNvSpPr txBox="1"/>
          <p:nvPr/>
        </p:nvSpPr>
        <p:spPr>
          <a:xfrm>
            <a:off x="548640" y="5916168"/>
            <a:ext cx="11064240" cy="512064"/>
          </a:xfrm>
          <a:prstGeom prst="rect">
            <a:avLst/>
          </a:prstGeom>
          <a:noFill/>
          <a:ln/>
        </p:spPr>
        <p:txBody>
          <a:bodyPr wrap="square" rtlCol="0" anchor="t"/>
          <a:lstStyle/>
          <a:p>
            <a:pPr indent="0" marL="0">
              <a:buNone/>
            </a:pPr>
            <a:r>
              <a:rPr lang="en-US" sz="900" dirty="0">
                <a:solidFill>
                  <a:srgbClr val="4B5563"/>
                </a:solidFill>
              </a:rPr>
              <a:t>Sources: World Bank [64]; Électricité de Guinée [79]; Government of Guinea [22]; Électricité de Guinée / MEHH [81]. Verify with a qualified professional before acting. [n] = reference list at end.</a:t>
            </a:r>
            <a:endParaRPr lang="en-US" sz="900" dirty="0"/>
          </a:p>
        </p:txBody>
      </p:sp>
      <p:sp>
        <p:nvSpPr>
          <p:cNvPr id="25" name="Slide Number Placeholder 0"/>
          <p:cNvSpPr>
            <a:spLocks noGrp="1"/>
          </p:cNvSpPr>
          <p:nvPr>
            <p:ph type="sldNum" sz="quarter" idx="4294967295"/>
          </p:nvPr>
        </p:nvSpPr>
        <p:spPr>
          <a:xfrm>
            <a:off x="11155680" y="6446520"/>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4B5563"/>
                </a:solidFill>
                <a:latin typeface="Calibri"/>
                <a:ea typeface="Calibri"/>
                <a:cs typeface="Calibri"/>
              </a:defRPr>
            </a:lvl1pPr>
          </a:lstStyle>
          <a:p>
            <a:pPr algn="l"/>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rtlCol="0" anchor="ctr"/>
          <a:lstStyle/>
          <a:p>
            <a:pPr indent="0" marL="0">
              <a:buNone/>
            </a:pPr>
            <a:r>
              <a:rPr lang="en-US" sz="3000" b="1" dirty="0">
                <a:solidFill>
                  <a:srgbClr val="123B4F"/>
                </a:solidFill>
                <a:latin typeface="Cambria" pitchFamily="34" charset="0"/>
                <a:ea typeface="Cambria" pitchFamily="34" charset="-122"/>
                <a:cs typeface="Cambria" pitchFamily="34" charset="-120"/>
              </a:rPr>
              <a:t>2030 demand: strong growth, uncertain scale</a:t>
            </a:r>
            <a:endParaRPr lang="en-US" sz="3000" dirty="0"/>
          </a:p>
        </p:txBody>
      </p:sp>
      <p:graphicFrame>
        <p:nvGraphicFramePr>
          <p:cNvPr id="3" name="Chart 0" descr=""/>
          <p:cNvGraphicFramePr/>
          <p:nvPr/>
        </p:nvGraphicFramePr>
        <p:xfrm>
          <a:off x="548640" y="1280160"/>
          <a:ext cx="6766560" cy="4572000"/>
        </p:xfrm>
        <a:graphic xmlns:a="http://schemas.openxmlformats.org/drawingml/2006/main">
          <a:graphicData uri="http://schemas.openxmlformats.org/drawingml/2006/chart">
            <c:chart xmlns:c="http://schemas.openxmlformats.org/drawingml/2006/chart" r:id="rId1"/>
          </a:graphicData>
        </a:graphic>
      </p:graphicFrame>
      <p:sp>
        <p:nvSpPr>
          <p:cNvPr id="4" name="bullets"/>
          <p:cNvSpPr txBox="1"/>
          <p:nvPr/>
        </p:nvSpPr>
        <p:spPr>
          <a:xfrm>
            <a:off x="7589520" y="1371600"/>
            <a:ext cx="4023360" cy="4480560"/>
          </a:xfrm>
          <a:prstGeom prst="rect">
            <a:avLst/>
          </a:prstGeom>
          <a:noFill/>
          <a:ln/>
        </p:spPr>
        <p:txBody>
          <a:bodyPr wrap="square" rtlCol="0" anchor="t"/>
          <a:lstStyle/>
          <a:p>
            <a:pPr marL="342900" indent="-342900">
              <a:spcAft>
                <a:spcPts val="800"/>
              </a:spcAft>
              <a:buSzPct val="100000"/>
              <a:buChar char="•"/>
            </a:pPr>
            <a:r>
              <a:rPr lang="en-US" sz="1400" dirty="0">
                <a:solidFill>
                  <a:srgbClr val="1B2A33"/>
                </a:solidFill>
              </a:rPr>
              <a:t>A: ≈1,860 MW, the 2017–2025 growth rate (14.1% a year) extended. An arithmetic illustration only.</a:t>
            </a:r>
            <a:endParaRPr lang="en-US" sz="1400" dirty="0"/>
          </a:p>
          <a:p>
            <a:pPr marL="342900" indent="-342900">
              <a:spcAft>
                <a:spcPts val="800"/>
              </a:spcAft>
              <a:buSzPct val="100000"/>
              <a:buChar char="•"/>
            </a:pPr>
            <a:r>
              <a:rPr lang="en-US" sz="1400" dirty="0">
                <a:solidFill>
                  <a:srgbClr val="1B2A33"/>
                </a:solidFill>
              </a:rPr>
              <a:t>B: 3,894 MW national plan (via the Mission 300 compact): 1,635 MW domestic, 1,442 MW mining, 817 MW exports; mining and export loads are not contracted with the grid.</a:t>
            </a:r>
            <a:endParaRPr lang="en-US" sz="1400" dirty="0"/>
          </a:p>
          <a:p>
            <a:pPr marL="342900" indent="-342900">
              <a:spcAft>
                <a:spcPts val="800"/>
              </a:spcAft>
              <a:buSzPct val="100000"/>
              <a:buChar char="•"/>
            </a:pPr>
            <a:r>
              <a:rPr lang="en-US" sz="1400" dirty="0">
                <a:solidFill>
                  <a:srgbClr val="1B2A33"/>
                </a:solidFill>
              </a:rPr>
              <a:t>Mining today requires ≈558 MW, mostly from captive plant.</a:t>
            </a:r>
            <a:endParaRPr lang="en-US" sz="1400" dirty="0"/>
          </a:p>
          <a:p>
            <a:pPr marL="342900" indent="-342900">
              <a:spcAft>
                <a:spcPts val="800"/>
              </a:spcAft>
              <a:buSzPct val="100000"/>
              <a:buChar char="•"/>
            </a:pPr>
            <a:r>
              <a:rPr lang="en-US" sz="1400" dirty="0">
                <a:solidFill>
                  <a:srgbClr val="1B2A33"/>
                </a:solidFill>
              </a:rPr>
              <a:t>Installed 1,305.6 MW + ≈379 MW under construction or financed ≈ 1,684 MW nameplate (not dependable).</a:t>
            </a:r>
            <a:endParaRPr lang="en-US" sz="1400" dirty="0"/>
          </a:p>
        </p:txBody>
      </p:sp>
      <p:sp>
        <p:nvSpPr>
          <p:cNvPr id="5" name="source"/>
          <p:cNvSpPr txBox="1"/>
          <p:nvPr/>
        </p:nvSpPr>
        <p:spPr>
          <a:xfrm>
            <a:off x="548640" y="5916168"/>
            <a:ext cx="11064240" cy="512064"/>
          </a:xfrm>
          <a:prstGeom prst="rect">
            <a:avLst/>
          </a:prstGeom>
          <a:noFill/>
          <a:ln/>
        </p:spPr>
        <p:txBody>
          <a:bodyPr wrap="square" rtlCol="0" anchor="t"/>
          <a:lstStyle/>
          <a:p>
            <a:pPr indent="0" marL="0">
              <a:buNone/>
            </a:pPr>
            <a:r>
              <a:rPr lang="en-US" sz="900" dirty="0">
                <a:solidFill>
                  <a:srgbClr val="4B5563"/>
                </a:solidFill>
              </a:rPr>
              <a:t>Sources: Électricité de Guinée [79]; Électricité de Guinée [74]; Government of Guinea [22]; World Bank [64]; West African Power Pool / ECOWAS [54]. [n] = reference list at end.</a:t>
            </a:r>
            <a:endParaRPr lang="en-US" sz="900" dirty="0"/>
          </a:p>
        </p:txBody>
      </p:sp>
      <p:sp>
        <p:nvSpPr>
          <p:cNvPr id="25" name="Slide Number Placeholder 0"/>
          <p:cNvSpPr>
            <a:spLocks noGrp="1"/>
          </p:cNvSpPr>
          <p:nvPr>
            <p:ph type="sldNum" sz="quarter" idx="4294967295"/>
          </p:nvPr>
        </p:nvSpPr>
        <p:spPr>
          <a:xfrm>
            <a:off x="11155680" y="6446520"/>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4B5563"/>
                </a:solidFill>
                <a:latin typeface="Calibri"/>
                <a:ea typeface="Calibri"/>
                <a:cs typeface="Calibri"/>
              </a:defRPr>
            </a:lvl1pPr>
          </a:lstStyle>
          <a:p>
            <a:pPr algn="l"/>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rtlCol="0" anchor="ctr"/>
          <a:lstStyle/>
          <a:p>
            <a:pPr indent="0" marL="0">
              <a:buNone/>
            </a:pPr>
            <a:r>
              <a:rPr lang="en-US" sz="3000" b="1" dirty="0">
                <a:solidFill>
                  <a:srgbClr val="123B4F"/>
                </a:solidFill>
                <a:latin typeface="Cambria" pitchFamily="34" charset="0"/>
                <a:ea typeface="Cambria" pitchFamily="34" charset="-122"/>
                <a:cs typeface="Cambria" pitchFamily="34" charset="-120"/>
              </a:rPr>
              <a:t>Resource and technology options on the evidence</a:t>
            </a:r>
            <a:endParaRPr lang="en-US" sz="3000" dirty="0"/>
          </a:p>
        </p:txBody>
      </p:sp>
      <p:sp>
        <p:nvSpPr>
          <p:cNvPr id="3" name="option-card"/>
          <p:cNvSpPr/>
          <p:nvPr/>
        </p:nvSpPr>
        <p:spPr>
          <a:xfrm>
            <a:off x="548640" y="1325880"/>
            <a:ext cx="3520440" cy="2103120"/>
          </a:xfrm>
          <a:prstGeom prst="roundRect">
            <a:avLst>
              <a:gd name="adj" fmla="val 3478"/>
            </a:avLst>
          </a:prstGeom>
          <a:solidFill>
            <a:srgbClr val="EEF3F5"/>
          </a:solidFill>
          <a:ln w="12700">
            <a:solidFill>
              <a:srgbClr val="EEF3F5"/>
            </a:solidFill>
            <a:prstDash val="solid"/>
          </a:ln>
        </p:spPr>
      </p:sp>
      <p:sp>
        <p:nvSpPr>
          <p:cNvPr id="4" name="option-dot"/>
          <p:cNvSpPr/>
          <p:nvPr/>
        </p:nvSpPr>
        <p:spPr>
          <a:xfrm>
            <a:off x="731520" y="1527048"/>
            <a:ext cx="384048" cy="384048"/>
          </a:xfrm>
          <a:prstGeom prst="ellipse">
            <a:avLst/>
          </a:prstGeom>
          <a:solidFill>
            <a:srgbClr val="1F7A8C"/>
          </a:solidFill>
          <a:ln w="12700">
            <a:solidFill>
              <a:srgbClr val="1F7A8C"/>
            </a:solidFill>
            <a:prstDash val="solid"/>
          </a:ln>
        </p:spPr>
      </p:sp>
      <p:sp>
        <p:nvSpPr>
          <p:cNvPr id="5" name="Text 3"/>
          <p:cNvSpPr txBox="1"/>
          <p:nvPr/>
        </p:nvSpPr>
        <p:spPr>
          <a:xfrm>
            <a:off x="1234440" y="1481328"/>
            <a:ext cx="2651760" cy="475488"/>
          </a:xfrm>
          <a:prstGeom prst="rect">
            <a:avLst/>
          </a:prstGeom>
          <a:noFill/>
          <a:ln/>
        </p:spPr>
        <p:txBody>
          <a:bodyPr wrap="square" lIns="0" tIns="0" rIns="0" bIns="0" rtlCol="0" anchor="ctr"/>
          <a:lstStyle/>
          <a:p>
            <a:pPr indent="0" marL="0">
              <a:buNone/>
            </a:pPr>
            <a:r>
              <a:rPr lang="en-US" sz="1800" b="1" dirty="0">
                <a:solidFill>
                  <a:srgbClr val="123B4F"/>
                </a:solidFill>
                <a:latin typeface="Cambria" pitchFamily="34" charset="0"/>
                <a:ea typeface="Cambria" pitchFamily="34" charset="-122"/>
                <a:cs typeface="Cambria" pitchFamily="34" charset="-120"/>
              </a:rPr>
              <a:t>Hydro</a:t>
            </a:r>
            <a:endParaRPr lang="en-US" sz="1800" dirty="0"/>
          </a:p>
        </p:txBody>
      </p:sp>
      <p:sp>
        <p:nvSpPr>
          <p:cNvPr id="6" name="Text 4"/>
          <p:cNvSpPr txBox="1"/>
          <p:nvPr/>
        </p:nvSpPr>
        <p:spPr>
          <a:xfrm>
            <a:off x="731520" y="2075688"/>
            <a:ext cx="3154680" cy="1261872"/>
          </a:xfrm>
          <a:prstGeom prst="rect">
            <a:avLst/>
          </a:prstGeom>
          <a:noFill/>
          <a:ln/>
        </p:spPr>
        <p:txBody>
          <a:bodyPr wrap="square" lIns="0" tIns="0" rIns="0" bIns="0" rtlCol="0" anchor="t"/>
          <a:lstStyle/>
          <a:p>
            <a:pPr indent="0" marL="0">
              <a:buNone/>
            </a:pPr>
            <a:r>
              <a:rPr lang="en-US" sz="1300" dirty="0">
                <a:solidFill>
                  <a:srgbClr val="1B2A33"/>
                </a:solidFill>
              </a:rPr>
              <a:t>Technical potential 6,233 MW (national atlas). Dependable output undocumented; transboundary and resettlement limits.</a:t>
            </a:r>
            <a:endParaRPr lang="en-US" sz="1300" dirty="0"/>
          </a:p>
        </p:txBody>
      </p:sp>
      <p:sp>
        <p:nvSpPr>
          <p:cNvPr id="7" name="option-card"/>
          <p:cNvSpPr/>
          <p:nvPr/>
        </p:nvSpPr>
        <p:spPr>
          <a:xfrm>
            <a:off x="4270248" y="1325880"/>
            <a:ext cx="3520440" cy="2103120"/>
          </a:xfrm>
          <a:prstGeom prst="roundRect">
            <a:avLst>
              <a:gd name="adj" fmla="val 3478"/>
            </a:avLst>
          </a:prstGeom>
          <a:solidFill>
            <a:srgbClr val="EEF3F5"/>
          </a:solidFill>
          <a:ln w="12700">
            <a:solidFill>
              <a:srgbClr val="EEF3F5"/>
            </a:solidFill>
            <a:prstDash val="solid"/>
          </a:ln>
        </p:spPr>
      </p:sp>
      <p:sp>
        <p:nvSpPr>
          <p:cNvPr id="8" name="option-dot"/>
          <p:cNvSpPr/>
          <p:nvPr/>
        </p:nvSpPr>
        <p:spPr>
          <a:xfrm>
            <a:off x="4453128" y="1527048"/>
            <a:ext cx="384048" cy="384048"/>
          </a:xfrm>
          <a:prstGeom prst="ellipse">
            <a:avLst/>
          </a:prstGeom>
          <a:solidFill>
            <a:srgbClr val="E8A33D"/>
          </a:solidFill>
          <a:ln w="12700">
            <a:solidFill>
              <a:srgbClr val="E8A33D"/>
            </a:solidFill>
            <a:prstDash val="solid"/>
          </a:ln>
        </p:spPr>
      </p:sp>
      <p:sp>
        <p:nvSpPr>
          <p:cNvPr id="9" name="Text 7"/>
          <p:cNvSpPr txBox="1"/>
          <p:nvPr/>
        </p:nvSpPr>
        <p:spPr>
          <a:xfrm>
            <a:off x="4956048" y="1481328"/>
            <a:ext cx="2651760" cy="475488"/>
          </a:xfrm>
          <a:prstGeom prst="rect">
            <a:avLst/>
          </a:prstGeom>
          <a:noFill/>
          <a:ln/>
        </p:spPr>
        <p:txBody>
          <a:bodyPr wrap="square" lIns="0" tIns="0" rIns="0" bIns="0" rtlCol="0" anchor="ctr"/>
          <a:lstStyle/>
          <a:p>
            <a:pPr indent="0" marL="0">
              <a:buNone/>
            </a:pPr>
            <a:r>
              <a:rPr lang="en-US" sz="1800" b="1" dirty="0">
                <a:solidFill>
                  <a:srgbClr val="123B4F"/>
                </a:solidFill>
                <a:latin typeface="Cambria" pitchFamily="34" charset="0"/>
                <a:ea typeface="Cambria" pitchFamily="34" charset="-122"/>
                <a:cs typeface="Cambria" pitchFamily="34" charset="-120"/>
              </a:rPr>
              <a:t>Solar PV</a:t>
            </a:r>
            <a:endParaRPr lang="en-US" sz="1800" dirty="0"/>
          </a:p>
        </p:txBody>
      </p:sp>
      <p:sp>
        <p:nvSpPr>
          <p:cNvPr id="10" name="Text 8"/>
          <p:cNvSpPr txBox="1"/>
          <p:nvPr/>
        </p:nvSpPr>
        <p:spPr>
          <a:xfrm>
            <a:off x="4453128" y="2075688"/>
            <a:ext cx="3154680" cy="1261872"/>
          </a:xfrm>
          <a:prstGeom prst="rect">
            <a:avLst/>
          </a:prstGeom>
          <a:noFill/>
          <a:ln/>
        </p:spPr>
        <p:txBody>
          <a:bodyPr wrap="square" lIns="0" tIns="0" rIns="0" bIns="0" rtlCol="0" anchor="t"/>
          <a:lstStyle/>
          <a:p>
            <a:pPr indent="0" marL="0">
              <a:buNone/>
            </a:pPr>
            <a:r>
              <a:rPr lang="en-US" sz="1300" dirty="0">
                <a:solidFill>
                  <a:srgbClr val="1B2A33"/>
                </a:solidFill>
              </a:rPr>
              <a:t>Modelled resource values withheld pending licence confirmation. No grid plant verified as operating; no hosting study located.</a:t>
            </a:r>
            <a:endParaRPr lang="en-US" sz="1300" dirty="0"/>
          </a:p>
        </p:txBody>
      </p:sp>
      <p:sp>
        <p:nvSpPr>
          <p:cNvPr id="11" name="option-card"/>
          <p:cNvSpPr/>
          <p:nvPr/>
        </p:nvSpPr>
        <p:spPr>
          <a:xfrm>
            <a:off x="7991856" y="1325880"/>
            <a:ext cx="3520440" cy="2103120"/>
          </a:xfrm>
          <a:prstGeom prst="roundRect">
            <a:avLst>
              <a:gd name="adj" fmla="val 3478"/>
            </a:avLst>
          </a:prstGeom>
          <a:solidFill>
            <a:srgbClr val="EEF3F5"/>
          </a:solidFill>
          <a:ln w="12700">
            <a:solidFill>
              <a:srgbClr val="EEF3F5"/>
            </a:solidFill>
            <a:prstDash val="solid"/>
          </a:ln>
        </p:spPr>
      </p:sp>
      <p:sp>
        <p:nvSpPr>
          <p:cNvPr id="12" name="option-dot"/>
          <p:cNvSpPr/>
          <p:nvPr/>
        </p:nvSpPr>
        <p:spPr>
          <a:xfrm>
            <a:off x="8174736" y="1527048"/>
            <a:ext cx="384048" cy="384048"/>
          </a:xfrm>
          <a:prstGeom prst="ellipse">
            <a:avLst/>
          </a:prstGeom>
          <a:solidFill>
            <a:srgbClr val="123B4F"/>
          </a:solidFill>
          <a:ln w="12700">
            <a:solidFill>
              <a:srgbClr val="123B4F"/>
            </a:solidFill>
            <a:prstDash val="solid"/>
          </a:ln>
        </p:spPr>
      </p:sp>
      <p:sp>
        <p:nvSpPr>
          <p:cNvPr id="13" name="Text 11"/>
          <p:cNvSpPr txBox="1"/>
          <p:nvPr/>
        </p:nvSpPr>
        <p:spPr>
          <a:xfrm>
            <a:off x="8677656" y="1481328"/>
            <a:ext cx="2651760" cy="475488"/>
          </a:xfrm>
          <a:prstGeom prst="rect">
            <a:avLst/>
          </a:prstGeom>
          <a:noFill/>
          <a:ln/>
        </p:spPr>
        <p:txBody>
          <a:bodyPr wrap="square" lIns="0" tIns="0" rIns="0" bIns="0" rtlCol="0" anchor="ctr"/>
          <a:lstStyle/>
          <a:p>
            <a:pPr indent="0" marL="0">
              <a:buNone/>
            </a:pPr>
            <a:r>
              <a:rPr lang="en-US" sz="1800" b="1" dirty="0">
                <a:solidFill>
                  <a:srgbClr val="123B4F"/>
                </a:solidFill>
                <a:latin typeface="Cambria" pitchFamily="34" charset="0"/>
                <a:ea typeface="Cambria" pitchFamily="34" charset="-122"/>
                <a:cs typeface="Cambria" pitchFamily="34" charset="-120"/>
              </a:rPr>
              <a:t>Storage</a:t>
            </a:r>
            <a:endParaRPr lang="en-US" sz="1800" dirty="0"/>
          </a:p>
        </p:txBody>
      </p:sp>
      <p:sp>
        <p:nvSpPr>
          <p:cNvPr id="14" name="Text 12"/>
          <p:cNvSpPr txBox="1"/>
          <p:nvPr/>
        </p:nvSpPr>
        <p:spPr>
          <a:xfrm>
            <a:off x="8174736" y="2075688"/>
            <a:ext cx="3154680" cy="1261872"/>
          </a:xfrm>
          <a:prstGeom prst="rect">
            <a:avLst/>
          </a:prstGeom>
          <a:noFill/>
          <a:ln/>
        </p:spPr>
        <p:txBody>
          <a:bodyPr wrap="square" lIns="0" tIns="0" rIns="0" bIns="0" rtlCol="0" anchor="t"/>
          <a:lstStyle/>
          <a:p>
            <a:pPr indent="0" marL="0">
              <a:buNone/>
            </a:pPr>
            <a:r>
              <a:rPr lang="en-US" sz="1300" dirty="0">
                <a:solidFill>
                  <a:srgbClr val="1B2A33"/>
                </a:solidFill>
              </a:rPr>
              <a:t>A WAPP/GIZ study recommends 13.2 MW, 1 h for frequency reserve (one grid service; not an adopted requirement).</a:t>
            </a:r>
            <a:endParaRPr lang="en-US" sz="1300" dirty="0"/>
          </a:p>
        </p:txBody>
      </p:sp>
      <p:sp>
        <p:nvSpPr>
          <p:cNvPr id="15" name="option-card"/>
          <p:cNvSpPr/>
          <p:nvPr/>
        </p:nvSpPr>
        <p:spPr>
          <a:xfrm>
            <a:off x="548640" y="3657600"/>
            <a:ext cx="3520440" cy="2103120"/>
          </a:xfrm>
          <a:prstGeom prst="roundRect">
            <a:avLst>
              <a:gd name="adj" fmla="val 3478"/>
            </a:avLst>
          </a:prstGeom>
          <a:solidFill>
            <a:srgbClr val="EEF3F5"/>
          </a:solidFill>
          <a:ln w="12700">
            <a:solidFill>
              <a:srgbClr val="EEF3F5"/>
            </a:solidFill>
            <a:prstDash val="solid"/>
          </a:ln>
        </p:spPr>
      </p:sp>
      <p:sp>
        <p:nvSpPr>
          <p:cNvPr id="16" name="option-dot"/>
          <p:cNvSpPr/>
          <p:nvPr/>
        </p:nvSpPr>
        <p:spPr>
          <a:xfrm>
            <a:off x="731520" y="3858768"/>
            <a:ext cx="384048" cy="384048"/>
          </a:xfrm>
          <a:prstGeom prst="ellipse">
            <a:avLst/>
          </a:prstGeom>
          <a:solidFill>
            <a:srgbClr val="8C7B6B"/>
          </a:solidFill>
          <a:ln w="12700">
            <a:solidFill>
              <a:srgbClr val="8C7B6B"/>
            </a:solidFill>
            <a:prstDash val="solid"/>
          </a:ln>
        </p:spPr>
      </p:sp>
      <p:sp>
        <p:nvSpPr>
          <p:cNvPr id="17" name="Text 15"/>
          <p:cNvSpPr txBox="1"/>
          <p:nvPr/>
        </p:nvSpPr>
        <p:spPr>
          <a:xfrm>
            <a:off x="1234440" y="3813048"/>
            <a:ext cx="2651760" cy="475488"/>
          </a:xfrm>
          <a:prstGeom prst="rect">
            <a:avLst/>
          </a:prstGeom>
          <a:noFill/>
          <a:ln/>
        </p:spPr>
        <p:txBody>
          <a:bodyPr wrap="square" lIns="0" tIns="0" rIns="0" bIns="0" rtlCol="0" anchor="ctr"/>
          <a:lstStyle/>
          <a:p>
            <a:pPr indent="0" marL="0">
              <a:buNone/>
            </a:pPr>
            <a:r>
              <a:rPr lang="en-US" sz="1800" b="1" dirty="0">
                <a:solidFill>
                  <a:srgbClr val="123B4F"/>
                </a:solidFill>
                <a:latin typeface="Cambria" pitchFamily="34" charset="0"/>
                <a:ea typeface="Cambria" pitchFamily="34" charset="-122"/>
                <a:cs typeface="Cambria" pitchFamily="34" charset="-120"/>
              </a:rPr>
              <a:t>Thermal / gas</a:t>
            </a:r>
            <a:endParaRPr lang="en-US" sz="1800" dirty="0"/>
          </a:p>
        </p:txBody>
      </p:sp>
      <p:sp>
        <p:nvSpPr>
          <p:cNvPr id="18" name="Text 16"/>
          <p:cNvSpPr txBox="1"/>
          <p:nvPr/>
        </p:nvSpPr>
        <p:spPr>
          <a:xfrm>
            <a:off x="731520" y="4407408"/>
            <a:ext cx="3154680" cy="1261872"/>
          </a:xfrm>
          <a:prstGeom prst="rect">
            <a:avLst/>
          </a:prstGeom>
          <a:noFill/>
          <a:ln/>
        </p:spPr>
        <p:txBody>
          <a:bodyPr wrap="square" lIns="0" tIns="0" rIns="0" bIns="0" rtlCol="0" anchor="t"/>
          <a:lstStyle/>
          <a:p>
            <a:pPr indent="0" marL="0">
              <a:buNone/>
            </a:pPr>
            <a:r>
              <a:rPr lang="en-US" sz="1300" dirty="0">
                <a:solidFill>
                  <a:srgbClr val="1B2A33"/>
                </a:solidFill>
              </a:rPr>
              <a:t>Firm and dispatchable, but uses imported fuel oil; LNG-to-power announced only.</a:t>
            </a:r>
            <a:endParaRPr lang="en-US" sz="1300" dirty="0"/>
          </a:p>
        </p:txBody>
      </p:sp>
      <p:sp>
        <p:nvSpPr>
          <p:cNvPr id="19" name="option-card"/>
          <p:cNvSpPr/>
          <p:nvPr/>
        </p:nvSpPr>
        <p:spPr>
          <a:xfrm>
            <a:off x="4270248" y="3657600"/>
            <a:ext cx="3520440" cy="2103120"/>
          </a:xfrm>
          <a:prstGeom prst="roundRect">
            <a:avLst>
              <a:gd name="adj" fmla="val 3478"/>
            </a:avLst>
          </a:prstGeom>
          <a:solidFill>
            <a:srgbClr val="EEF3F5"/>
          </a:solidFill>
          <a:ln w="12700">
            <a:solidFill>
              <a:srgbClr val="EEF3F5"/>
            </a:solidFill>
            <a:prstDash val="solid"/>
          </a:ln>
        </p:spPr>
      </p:sp>
      <p:sp>
        <p:nvSpPr>
          <p:cNvPr id="20" name="option-dot"/>
          <p:cNvSpPr/>
          <p:nvPr/>
        </p:nvSpPr>
        <p:spPr>
          <a:xfrm>
            <a:off x="4453128" y="3858768"/>
            <a:ext cx="384048" cy="384048"/>
          </a:xfrm>
          <a:prstGeom prst="ellipse">
            <a:avLst/>
          </a:prstGeom>
          <a:solidFill>
            <a:srgbClr val="4B5563"/>
          </a:solidFill>
          <a:ln w="12700">
            <a:solidFill>
              <a:srgbClr val="4B5563"/>
            </a:solidFill>
            <a:prstDash val="solid"/>
          </a:ln>
        </p:spPr>
      </p:sp>
      <p:sp>
        <p:nvSpPr>
          <p:cNvPr id="21" name="Text 19"/>
          <p:cNvSpPr txBox="1"/>
          <p:nvPr/>
        </p:nvSpPr>
        <p:spPr>
          <a:xfrm>
            <a:off x="4956048" y="3813048"/>
            <a:ext cx="2651760" cy="475488"/>
          </a:xfrm>
          <a:prstGeom prst="rect">
            <a:avLst/>
          </a:prstGeom>
          <a:noFill/>
          <a:ln/>
        </p:spPr>
        <p:txBody>
          <a:bodyPr wrap="square" lIns="0" tIns="0" rIns="0" bIns="0" rtlCol="0" anchor="ctr"/>
          <a:lstStyle/>
          <a:p>
            <a:pPr indent="0" marL="0">
              <a:buNone/>
            </a:pPr>
            <a:r>
              <a:rPr lang="en-US" sz="1800" b="1" dirty="0">
                <a:solidFill>
                  <a:srgbClr val="123B4F"/>
                </a:solidFill>
                <a:latin typeface="Cambria" pitchFamily="34" charset="0"/>
                <a:ea typeface="Cambria" pitchFamily="34" charset="-122"/>
                <a:cs typeface="Cambria" pitchFamily="34" charset="-120"/>
              </a:rPr>
              <a:t>Wind</a:t>
            </a:r>
            <a:endParaRPr lang="en-US" sz="1800" dirty="0"/>
          </a:p>
        </p:txBody>
      </p:sp>
      <p:sp>
        <p:nvSpPr>
          <p:cNvPr id="22" name="Text 20"/>
          <p:cNvSpPr txBox="1"/>
          <p:nvPr/>
        </p:nvSpPr>
        <p:spPr>
          <a:xfrm>
            <a:off x="4453128" y="4407408"/>
            <a:ext cx="3154680" cy="1261872"/>
          </a:xfrm>
          <a:prstGeom prst="rect">
            <a:avLst/>
          </a:prstGeom>
          <a:noFill/>
          <a:ln/>
        </p:spPr>
        <p:txBody>
          <a:bodyPr wrap="square" lIns="0" tIns="0" rIns="0" bIns="0" rtlCol="0" anchor="t"/>
          <a:lstStyle/>
          <a:p>
            <a:pPr indent="0" marL="0">
              <a:buNone/>
            </a:pPr>
            <a:r>
              <a:rPr lang="en-US" sz="1300" dirty="0">
                <a:solidFill>
                  <a:srgbClr val="1B2A33"/>
                </a:solidFill>
              </a:rPr>
              <a:t>Weak modelled resource (3.8 m/s at 100 m, Global Wind Atlas); no measurements.</a:t>
            </a:r>
            <a:endParaRPr lang="en-US" sz="1300" dirty="0"/>
          </a:p>
        </p:txBody>
      </p:sp>
      <p:sp>
        <p:nvSpPr>
          <p:cNvPr id="23" name="option-card"/>
          <p:cNvSpPr/>
          <p:nvPr/>
        </p:nvSpPr>
        <p:spPr>
          <a:xfrm>
            <a:off x="7991856" y="3657600"/>
            <a:ext cx="3520440" cy="2103120"/>
          </a:xfrm>
          <a:prstGeom prst="roundRect">
            <a:avLst>
              <a:gd name="adj" fmla="val 3478"/>
            </a:avLst>
          </a:prstGeom>
          <a:solidFill>
            <a:srgbClr val="EEF3F5"/>
          </a:solidFill>
          <a:ln w="12700">
            <a:solidFill>
              <a:srgbClr val="EEF3F5"/>
            </a:solidFill>
            <a:prstDash val="solid"/>
          </a:ln>
        </p:spPr>
      </p:sp>
      <p:sp>
        <p:nvSpPr>
          <p:cNvPr id="24" name="option-dot"/>
          <p:cNvSpPr/>
          <p:nvPr/>
        </p:nvSpPr>
        <p:spPr>
          <a:xfrm>
            <a:off x="8174736" y="3858768"/>
            <a:ext cx="384048" cy="384048"/>
          </a:xfrm>
          <a:prstGeom prst="ellipse">
            <a:avLst/>
          </a:prstGeom>
          <a:solidFill>
            <a:srgbClr val="B5452E"/>
          </a:solidFill>
          <a:ln w="12700">
            <a:solidFill>
              <a:srgbClr val="B5452E"/>
            </a:solidFill>
            <a:prstDash val="solid"/>
          </a:ln>
        </p:spPr>
      </p:sp>
      <p:sp>
        <p:nvSpPr>
          <p:cNvPr id="25" name="Text 23"/>
          <p:cNvSpPr txBox="1"/>
          <p:nvPr/>
        </p:nvSpPr>
        <p:spPr>
          <a:xfrm>
            <a:off x="8677656" y="3813048"/>
            <a:ext cx="2651760" cy="475488"/>
          </a:xfrm>
          <a:prstGeom prst="rect">
            <a:avLst/>
          </a:prstGeom>
          <a:noFill/>
          <a:ln/>
        </p:spPr>
        <p:txBody>
          <a:bodyPr wrap="square" lIns="0" tIns="0" rIns="0" bIns="0" rtlCol="0" anchor="ctr"/>
          <a:lstStyle/>
          <a:p>
            <a:pPr indent="0" marL="0">
              <a:buNone/>
            </a:pPr>
            <a:r>
              <a:rPr lang="en-US" sz="1800" b="1" dirty="0">
                <a:solidFill>
                  <a:srgbClr val="123B4F"/>
                </a:solidFill>
                <a:latin typeface="Cambria" pitchFamily="34" charset="0"/>
                <a:ea typeface="Cambria" pitchFamily="34" charset="-122"/>
                <a:cs typeface="Cambria" pitchFamily="34" charset="-120"/>
              </a:rPr>
              <a:t>Mini-grids</a:t>
            </a:r>
            <a:endParaRPr lang="en-US" sz="1800" dirty="0"/>
          </a:p>
        </p:txBody>
      </p:sp>
      <p:sp>
        <p:nvSpPr>
          <p:cNvPr id="26" name="Text 24"/>
          <p:cNvSpPr txBox="1"/>
          <p:nvPr/>
        </p:nvSpPr>
        <p:spPr>
          <a:xfrm>
            <a:off x="8174736" y="4407408"/>
            <a:ext cx="3154680" cy="1261872"/>
          </a:xfrm>
          <a:prstGeom prst="rect">
            <a:avLst/>
          </a:prstGeom>
          <a:noFill/>
          <a:ln/>
        </p:spPr>
        <p:txBody>
          <a:bodyPr wrap="square" lIns="0" tIns="0" rIns="0" bIns="0" rtlCol="0" anchor="t"/>
          <a:lstStyle/>
          <a:p>
            <a:pPr indent="0" marL="0">
              <a:buNone/>
            </a:pPr>
            <a:r>
              <a:rPr lang="en-US" sz="1300" dirty="0">
                <a:solidFill>
                  <a:srgbClr val="1B2A33"/>
                </a:solidFill>
              </a:rPr>
              <a:t>Rural plan: 714 localities for mini-grids, 1,326 for solar kits; GNEAP-2 funds 26 mini-grids.</a:t>
            </a:r>
            <a:endParaRPr lang="en-US" sz="1300" dirty="0"/>
          </a:p>
        </p:txBody>
      </p:sp>
      <p:sp>
        <p:nvSpPr>
          <p:cNvPr id="27" name="source"/>
          <p:cNvSpPr txBox="1"/>
          <p:nvPr/>
        </p:nvSpPr>
        <p:spPr>
          <a:xfrm>
            <a:off x="548640" y="5916168"/>
            <a:ext cx="11064240" cy="512064"/>
          </a:xfrm>
          <a:prstGeom prst="rect">
            <a:avLst/>
          </a:prstGeom>
          <a:noFill/>
          <a:ln/>
        </p:spPr>
        <p:txBody>
          <a:bodyPr wrap="square" rtlCol="0" anchor="t"/>
          <a:lstStyle/>
          <a:p>
            <a:pPr indent="0" marL="0">
              <a:buNone/>
            </a:pPr>
            <a:r>
              <a:rPr lang="en-US" sz="900" dirty="0">
                <a:solidFill>
                  <a:srgbClr val="4B5563"/>
                </a:solidFill>
              </a:rPr>
              <a:t>Sources: Ministère de l'Énergie et de l'Hydraulique, Guinea / World Bank [35]; Government of Guinea [22]; West African Power Pool / GIZ PROCEM II [55]; DTU Wind Energy / World Bank Group [10]; World Bank [64]; Électricité de Guinée [79]. Wind values are model estimates, not ground measurements; modelled solar-resource values withheld pending licence confirmation. [n] = reference list at end.</a:t>
            </a:r>
            <a:endParaRPr lang="en-US" sz="900" dirty="0"/>
          </a:p>
        </p:txBody>
      </p:sp>
      <p:sp>
        <p:nvSpPr>
          <p:cNvPr id="25" name="Slide Number Placeholder 0"/>
          <p:cNvSpPr>
            <a:spLocks noGrp="1"/>
          </p:cNvSpPr>
          <p:nvPr>
            <p:ph type="sldNum" sz="quarter" idx="4294967295"/>
          </p:nvPr>
        </p:nvSpPr>
        <p:spPr>
          <a:xfrm>
            <a:off x="11155680" y="6446520"/>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4B5563"/>
                </a:solidFill>
                <a:latin typeface="Calibri"/>
                <a:ea typeface="Calibri"/>
                <a:cs typeface="Calibri"/>
              </a:defRPr>
            </a:lvl1pPr>
          </a:lstStyle>
          <a:p>
            <a:pPr algn="l"/>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rtlCol="0" anchor="ctr"/>
          <a:lstStyle/>
          <a:p>
            <a:pPr indent="0" marL="0">
              <a:buNone/>
            </a:pPr>
            <a:r>
              <a:rPr lang="en-US" sz="3000" b="1" dirty="0">
                <a:solidFill>
                  <a:srgbClr val="123B4F"/>
                </a:solidFill>
                <a:latin typeface="Cambria" pitchFamily="34" charset="0"/>
                <a:ea typeface="Cambria" pitchFamily="34" charset="-122"/>
                <a:cs typeface="Cambria" pitchFamily="34" charset="-120"/>
              </a:rPr>
              <a:t>≈379 MW under construction or financed</a:t>
            </a:r>
            <a:endParaRPr lang="en-US" sz="3000" dirty="0"/>
          </a:p>
        </p:txBody>
      </p:sp>
      <p:graphicFrame>
        <p:nvGraphicFramePr>
          <p:cNvPr id="3" name="Chart 0" descr=""/>
          <p:cNvGraphicFramePr/>
          <p:nvPr/>
        </p:nvGraphicFramePr>
        <p:xfrm>
          <a:off x="548640" y="1280160"/>
          <a:ext cx="7498080" cy="4572000"/>
        </p:xfrm>
        <a:graphic xmlns:a="http://schemas.openxmlformats.org/drawingml/2006/main">
          <a:graphicData uri="http://schemas.openxmlformats.org/drawingml/2006/chart">
            <c:chart xmlns:c="http://schemas.openxmlformats.org/drawingml/2006/chart" r:id="rId1"/>
          </a:graphicData>
        </a:graphic>
      </p:graphicFrame>
      <p:sp>
        <p:nvSpPr>
          <p:cNvPr id="4" name="bullets"/>
          <p:cNvSpPr txBox="1"/>
          <p:nvPr/>
        </p:nvSpPr>
        <p:spPr>
          <a:xfrm>
            <a:off x="8321040" y="1371600"/>
            <a:ext cx="3291840" cy="4480560"/>
          </a:xfrm>
          <a:prstGeom prst="rect">
            <a:avLst/>
          </a:prstGeom>
          <a:noFill/>
          <a:ln/>
        </p:spPr>
        <p:txBody>
          <a:bodyPr wrap="square" rtlCol="0" anchor="t"/>
          <a:lstStyle/>
          <a:p>
            <a:pPr marL="342900" indent="-342900">
              <a:spcAft>
                <a:spcPts val="800"/>
              </a:spcAft>
              <a:buSzPct val="100000"/>
              <a:buChar char="•"/>
            </a:pPr>
            <a:r>
              <a:rPr lang="en-US" sz="1400" dirty="0">
                <a:solidFill>
                  <a:srgbClr val="1B2A33"/>
                </a:solidFill>
              </a:rPr>
              <a:t>Under construction: Amaria 300 MW (61% overall execution, delayed); online year 2027 per the compact.</a:t>
            </a:r>
            <a:endParaRPr lang="en-US" sz="1400" dirty="0"/>
          </a:p>
          <a:p>
            <a:pPr marL="342900" indent="-342900">
              <a:spcAft>
                <a:spcPts val="800"/>
              </a:spcAft>
              <a:buSzPct val="100000"/>
              <a:buChar char="•"/>
            </a:pPr>
            <a:r>
              <a:rPr lang="en-US" sz="1400" dirty="0">
                <a:solidFill>
                  <a:srgbClr val="1B2A33"/>
                </a:solidFill>
              </a:rPr>
              <a:t>Signed financing, no construction start evidenced: Kankan 40 MW; EBID micro-hydro 27.6 MW; Tinkisso 2 11 MW. None commissioned.</a:t>
            </a:r>
            <a:endParaRPr lang="en-US" sz="1400" dirty="0"/>
          </a:p>
          <a:p>
            <a:pPr marL="342900" indent="-342900">
              <a:spcAft>
                <a:spcPts val="800"/>
              </a:spcAft>
              <a:buSzPct val="100000"/>
              <a:buChar char="•"/>
            </a:pPr>
            <a:r>
              <a:rPr lang="en-US" sz="1400" dirty="0">
                <a:solidFill>
                  <a:srgbClr val="1B2A33"/>
                </a:solidFill>
              </a:rPr>
              <a:t>Covers identified projects with a stated capacity only; not a commissioning forecast.</a:t>
            </a:r>
            <a:endParaRPr lang="en-US" sz="1400" dirty="0"/>
          </a:p>
          <a:p>
            <a:pPr marL="342900" indent="-342900">
              <a:spcAft>
                <a:spcPts val="800"/>
              </a:spcAft>
              <a:buSzPct val="100000"/>
              <a:buChar char="•"/>
            </a:pPr>
            <a:r>
              <a:rPr lang="en-US" sz="1400" dirty="0">
                <a:solidFill>
                  <a:srgbClr val="1B2A33"/>
                </a:solidFill>
              </a:rPr>
              <a:t>Kamissaya 50 MWc solar: financing and works reported by the press only.</a:t>
            </a:r>
            <a:endParaRPr lang="en-US" sz="1400" dirty="0"/>
          </a:p>
        </p:txBody>
      </p:sp>
      <p:sp>
        <p:nvSpPr>
          <p:cNvPr id="5" name="source"/>
          <p:cNvSpPr txBox="1"/>
          <p:nvPr/>
        </p:nvSpPr>
        <p:spPr>
          <a:xfrm>
            <a:off x="548640" y="5916168"/>
            <a:ext cx="11064240" cy="512064"/>
          </a:xfrm>
          <a:prstGeom prst="rect">
            <a:avLst/>
          </a:prstGeom>
          <a:noFill/>
          <a:ln/>
        </p:spPr>
        <p:txBody>
          <a:bodyPr wrap="square" rtlCol="0" anchor="t"/>
          <a:lstStyle/>
          <a:p>
            <a:pPr indent="0" marL="0">
              <a:buNone/>
            </a:pPr>
            <a:r>
              <a:rPr lang="en-US" sz="900" dirty="0">
                <a:solidFill>
                  <a:srgbClr val="4B5563"/>
                </a:solidFill>
              </a:rPr>
              <a:t>Sources: Government of Guinea [22]; Ministère de l'Énergie, republished by Mediaguinee [33]; Guinéenews [30]; Électricité de Guinée [79]; Islamic Development Bank / Gouvernement de Guinée [32]; Électricité de Guinée for the Ministère de l'Énergie [80]; ECOWAS Bank for Investment and Development [11]; ECOWAS Bank for Investment and Development [13]; ECOWAS Bank for Investment and Development [12]; Financial Afrik [20]. Nameplate, not dependable capacity; mixed AC/DC bases. [n] = reference list at end.</a:t>
            </a:r>
            <a:endParaRPr lang="en-US" sz="900" dirty="0"/>
          </a:p>
        </p:txBody>
      </p:sp>
      <p:sp>
        <p:nvSpPr>
          <p:cNvPr id="25" name="Slide Number Placeholder 0"/>
          <p:cNvSpPr>
            <a:spLocks noGrp="1"/>
          </p:cNvSpPr>
          <p:nvPr>
            <p:ph type="sldNum" sz="quarter" idx="4294967295"/>
          </p:nvPr>
        </p:nvSpPr>
        <p:spPr>
          <a:xfrm>
            <a:off x="11155680" y="6446520"/>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4B5563"/>
                </a:solidFill>
                <a:latin typeface="Calibri"/>
                <a:ea typeface="Calibri"/>
                <a:cs typeface="Calibri"/>
              </a:defRPr>
            </a:lvl1pPr>
          </a:lstStyle>
          <a:p>
            <a:pPr algn="l"/>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rtlCol="0" anchor="ctr"/>
          <a:lstStyle/>
          <a:p>
            <a:pPr indent="0" marL="0">
              <a:buNone/>
            </a:pPr>
            <a:r>
              <a:rPr lang="en-US" sz="3000" b="1" dirty="0">
                <a:solidFill>
                  <a:srgbClr val="123B4F"/>
                </a:solidFill>
                <a:latin typeface="Cambria" pitchFamily="34" charset="0"/>
                <a:ea typeface="Cambria" pitchFamily="34" charset="-122"/>
                <a:cs typeface="Cambria" pitchFamily="34" charset="-120"/>
              </a:rPr>
              <a:t>Financing needs far exceed commitments</a:t>
            </a:r>
            <a:endParaRPr lang="en-US" sz="3000" dirty="0"/>
          </a:p>
        </p:txBody>
      </p:sp>
      <p:graphicFrame>
        <p:nvGraphicFramePr>
          <p:cNvPr id="3" name="Chart 0" descr=""/>
          <p:cNvGraphicFramePr/>
          <p:nvPr/>
        </p:nvGraphicFramePr>
        <p:xfrm>
          <a:off x="548640" y="1280160"/>
          <a:ext cx="5852160" cy="4572000"/>
        </p:xfrm>
        <a:graphic xmlns:a="http://schemas.openxmlformats.org/drawingml/2006/main">
          <a:graphicData uri="http://schemas.openxmlformats.org/drawingml/2006/chart">
            <c:chart xmlns:c="http://schemas.openxmlformats.org/drawingml/2006/chart" r:id="rId1"/>
          </a:graphicData>
        </a:graphic>
      </p:graphicFrame>
      <p:sp>
        <p:nvSpPr>
          <p:cNvPr id="4" name="stat-card"/>
          <p:cNvSpPr/>
          <p:nvPr/>
        </p:nvSpPr>
        <p:spPr>
          <a:xfrm>
            <a:off x="6675120" y="1371600"/>
            <a:ext cx="2377440" cy="1417320"/>
          </a:xfrm>
          <a:prstGeom prst="roundRect">
            <a:avLst>
              <a:gd name="adj" fmla="val 5161"/>
            </a:avLst>
          </a:prstGeom>
          <a:solidFill>
            <a:srgbClr val="EEF3F5"/>
          </a:solidFill>
          <a:ln w="12700">
            <a:solidFill>
              <a:srgbClr val="EEF3F5"/>
            </a:solidFill>
            <a:prstDash val="solid"/>
          </a:ln>
        </p:spPr>
      </p:sp>
      <p:sp>
        <p:nvSpPr>
          <p:cNvPr id="5" name="stat-value"/>
          <p:cNvSpPr txBox="1"/>
          <p:nvPr/>
        </p:nvSpPr>
        <p:spPr>
          <a:xfrm>
            <a:off x="6858000" y="1481328"/>
            <a:ext cx="2011680" cy="685800"/>
          </a:xfrm>
          <a:prstGeom prst="rect">
            <a:avLst/>
          </a:prstGeom>
          <a:noFill/>
          <a:ln/>
        </p:spPr>
        <p:txBody>
          <a:bodyPr wrap="square" lIns="0" tIns="0" rIns="0" bIns="0" rtlCol="0" anchor="ctr"/>
          <a:lstStyle/>
          <a:p>
            <a:pPr indent="0" marL="0">
              <a:buNone/>
            </a:pPr>
            <a:r>
              <a:rPr lang="en-US" sz="2400" b="1" dirty="0">
                <a:solidFill>
                  <a:srgbClr val="123B4F"/>
                </a:solidFill>
                <a:latin typeface="Cambria" pitchFamily="34" charset="0"/>
                <a:ea typeface="Cambria" pitchFamily="34" charset="-122"/>
                <a:cs typeface="Cambria" pitchFamily="34" charset="-120"/>
              </a:rPr>
              <a:t>US$11.47 bn</a:t>
            </a:r>
            <a:endParaRPr lang="en-US" sz="2400" dirty="0"/>
          </a:p>
        </p:txBody>
      </p:sp>
      <p:sp>
        <p:nvSpPr>
          <p:cNvPr id="6" name="stat-label"/>
          <p:cNvSpPr txBox="1"/>
          <p:nvPr/>
        </p:nvSpPr>
        <p:spPr>
          <a:xfrm>
            <a:off x="6858000" y="2176272"/>
            <a:ext cx="2011680" cy="548640"/>
          </a:xfrm>
          <a:prstGeom prst="rect">
            <a:avLst/>
          </a:prstGeom>
          <a:noFill/>
          <a:ln/>
        </p:spPr>
        <p:txBody>
          <a:bodyPr wrap="square" lIns="0" tIns="0" rIns="0" bIns="0" rtlCol="0" anchor="t"/>
          <a:lstStyle/>
          <a:p>
            <a:pPr indent="0" marL="0">
              <a:buNone/>
            </a:pPr>
            <a:r>
              <a:rPr lang="en-US" sz="1200" dirty="0">
                <a:solidFill>
                  <a:srgbClr val="1B2A33"/>
                </a:solidFill>
              </a:rPr>
              <a:t>Total need 2025–2030</a:t>
            </a:r>
            <a:endParaRPr lang="en-US" sz="1200" dirty="0"/>
          </a:p>
        </p:txBody>
      </p:sp>
      <p:sp>
        <p:nvSpPr>
          <p:cNvPr id="7" name="stat-card"/>
          <p:cNvSpPr/>
          <p:nvPr/>
        </p:nvSpPr>
        <p:spPr>
          <a:xfrm>
            <a:off x="9235440" y="1371600"/>
            <a:ext cx="2377440" cy="1417320"/>
          </a:xfrm>
          <a:prstGeom prst="roundRect">
            <a:avLst>
              <a:gd name="adj" fmla="val 5161"/>
            </a:avLst>
          </a:prstGeom>
          <a:solidFill>
            <a:srgbClr val="EEF3F5"/>
          </a:solidFill>
          <a:ln w="12700">
            <a:solidFill>
              <a:srgbClr val="EEF3F5"/>
            </a:solidFill>
            <a:prstDash val="solid"/>
          </a:ln>
        </p:spPr>
      </p:sp>
      <p:sp>
        <p:nvSpPr>
          <p:cNvPr id="8" name="stat-value"/>
          <p:cNvSpPr txBox="1"/>
          <p:nvPr/>
        </p:nvSpPr>
        <p:spPr>
          <a:xfrm>
            <a:off x="9418320" y="1481328"/>
            <a:ext cx="2011680" cy="685800"/>
          </a:xfrm>
          <a:prstGeom prst="rect">
            <a:avLst/>
          </a:prstGeom>
          <a:noFill/>
          <a:ln/>
        </p:spPr>
        <p:txBody>
          <a:bodyPr wrap="square" lIns="0" tIns="0" rIns="0" bIns="0" rtlCol="0" anchor="ctr"/>
          <a:lstStyle/>
          <a:p>
            <a:pPr indent="0" marL="0">
              <a:buNone/>
            </a:pPr>
            <a:r>
              <a:rPr lang="en-US" sz="2400" b="1" dirty="0">
                <a:solidFill>
                  <a:srgbClr val="B5452E"/>
                </a:solidFill>
                <a:latin typeface="Cambria" pitchFamily="34" charset="0"/>
                <a:ea typeface="Cambria" pitchFamily="34" charset="-122"/>
                <a:cs typeface="Cambria" pitchFamily="34" charset="-120"/>
              </a:rPr>
              <a:t>US$8.90 bn</a:t>
            </a:r>
            <a:endParaRPr lang="en-US" sz="2400" dirty="0"/>
          </a:p>
        </p:txBody>
      </p:sp>
      <p:sp>
        <p:nvSpPr>
          <p:cNvPr id="9" name="stat-label"/>
          <p:cNvSpPr txBox="1"/>
          <p:nvPr/>
        </p:nvSpPr>
        <p:spPr>
          <a:xfrm>
            <a:off x="9418320" y="2176272"/>
            <a:ext cx="2011680" cy="548640"/>
          </a:xfrm>
          <a:prstGeom prst="rect">
            <a:avLst/>
          </a:prstGeom>
          <a:noFill/>
          <a:ln/>
        </p:spPr>
        <p:txBody>
          <a:bodyPr wrap="square" lIns="0" tIns="0" rIns="0" bIns="0" rtlCol="0" anchor="t"/>
          <a:lstStyle/>
          <a:p>
            <a:pPr indent="0" marL="0">
              <a:buNone/>
            </a:pPr>
            <a:r>
              <a:rPr lang="en-US" sz="1200" dirty="0">
                <a:solidFill>
                  <a:srgbClr val="1B2A33"/>
                </a:solidFill>
              </a:rPr>
              <a:t>Still to raise</a:t>
            </a:r>
            <a:endParaRPr lang="en-US" sz="1200" dirty="0"/>
          </a:p>
        </p:txBody>
      </p:sp>
      <p:sp>
        <p:nvSpPr>
          <p:cNvPr id="10" name="Text 7"/>
          <p:cNvSpPr txBox="1"/>
          <p:nvPr/>
        </p:nvSpPr>
        <p:spPr>
          <a:xfrm>
            <a:off x="6675120" y="3017520"/>
            <a:ext cx="4937760" cy="2651760"/>
          </a:xfrm>
          <a:prstGeom prst="rect">
            <a:avLst/>
          </a:prstGeom>
          <a:noFill/>
          <a:ln/>
        </p:spPr>
        <p:txBody>
          <a:bodyPr wrap="square" lIns="0" tIns="0" rIns="0" bIns="0" rtlCol="0" anchor="t"/>
          <a:lstStyle/>
          <a:p>
            <a:pPr indent="0" marL="0">
              <a:buNone/>
            </a:pPr>
            <a:r>
              <a:rPr lang="en-US" sz="1500" b="1" dirty="0">
                <a:solidFill>
                  <a:srgbClr val="123B4F"/>
                </a:solidFill>
              </a:rPr>
              <a:t>Announced is not committed. </a:t>
            </a:r>
            <a:pPr indent="0" marL="0">
              <a:buNone/>
            </a:pPr>
            <a:r>
              <a:rPr lang="en-US" sz="1500" dirty="0">
                <a:solidFill>
                  <a:srgbClr val="1B2A33"/>
                </a:solidFill>
              </a:rPr>
              <a:t>The compact's US$2.56 bn 'mobilised or in progress' mixes signed loans with items that have no agreement. No World Bank Group energy guarantee is in use; OECD country-risk class 7; recent large generation relied on sovereign-backed Chinese debt.</a:t>
            </a:r>
            <a:endParaRPr lang="en-US" sz="1500" dirty="0"/>
          </a:p>
        </p:txBody>
      </p:sp>
      <p:sp>
        <p:nvSpPr>
          <p:cNvPr id="11" name="source"/>
          <p:cNvSpPr txBox="1"/>
          <p:nvPr/>
        </p:nvSpPr>
        <p:spPr>
          <a:xfrm>
            <a:off x="548640" y="5916168"/>
            <a:ext cx="11064240" cy="512064"/>
          </a:xfrm>
          <a:prstGeom prst="rect">
            <a:avLst/>
          </a:prstGeom>
          <a:noFill/>
          <a:ln/>
        </p:spPr>
        <p:txBody>
          <a:bodyPr wrap="square" rtlCol="0" anchor="t"/>
          <a:lstStyle/>
          <a:p>
            <a:pPr indent="0" marL="0">
              <a:buNone/>
            </a:pPr>
            <a:r>
              <a:rPr lang="en-US" sz="900" dirty="0">
                <a:solidFill>
                  <a:srgbClr val="4B5563"/>
                </a:solidFill>
              </a:rPr>
              <a:t>Sources: Government of Guinea [22]; African Trade &amp; Investment Development Insurance [4]; World Bank Group [72]; OECD [39]; AidData, William &amp; Mary [7]. Segments as listed sum to US$11.37 bn. [n] = reference list at end.</a:t>
            </a:r>
            <a:endParaRPr lang="en-US" sz="900" dirty="0"/>
          </a:p>
        </p:txBody>
      </p:sp>
      <p:sp>
        <p:nvSpPr>
          <p:cNvPr id="25" name="Slide Number Placeholder 0"/>
          <p:cNvSpPr>
            <a:spLocks noGrp="1"/>
          </p:cNvSpPr>
          <p:nvPr>
            <p:ph type="sldNum" sz="quarter" idx="4294967295"/>
          </p:nvPr>
        </p:nvSpPr>
        <p:spPr>
          <a:xfrm>
            <a:off x="11155680" y="6446520"/>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4B5563"/>
                </a:solidFill>
                <a:latin typeface="Calibri"/>
                <a:ea typeface="Calibri"/>
                <a:cs typeface="Calibri"/>
              </a:defRPr>
            </a:lvl1pPr>
          </a:lstStyle>
          <a:p>
            <a:pPr algn="l"/>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rtlCol="0" anchor="ctr"/>
          <a:lstStyle/>
          <a:p>
            <a:pPr indent="0" marL="0">
              <a:buNone/>
            </a:pPr>
            <a:r>
              <a:rPr lang="en-US" sz="3000" b="1" dirty="0">
                <a:solidFill>
                  <a:srgbClr val="123B4F"/>
                </a:solidFill>
                <a:latin typeface="Cambria" pitchFamily="34" charset="0"/>
                <a:ea typeface="Cambria" pitchFamily="34" charset="-122"/>
                <a:cs typeface="Cambria" pitchFamily="34" charset="-120"/>
              </a:rPr>
              <a:t>The choice: dependable, deliverable, sustainable supply</a:t>
            </a:r>
            <a:endParaRPr lang="en-US" sz="3000" dirty="0"/>
          </a:p>
        </p:txBody>
      </p:sp>
      <p:sp>
        <p:nvSpPr>
          <p:cNvPr id="3" name="thesis"/>
          <p:cNvSpPr/>
          <p:nvPr/>
        </p:nvSpPr>
        <p:spPr>
          <a:xfrm>
            <a:off x="548640" y="1188720"/>
            <a:ext cx="11064240" cy="868680"/>
          </a:xfrm>
          <a:prstGeom prst="roundRect">
            <a:avLst>
              <a:gd name="adj" fmla="val 8421"/>
            </a:avLst>
          </a:prstGeom>
          <a:solidFill>
            <a:srgbClr val="123B4F"/>
          </a:solidFill>
          <a:ln w="12700">
            <a:solidFill>
              <a:srgbClr val="123B4F"/>
            </a:solidFill>
            <a:prstDash val="solid"/>
          </a:ln>
        </p:spPr>
      </p:sp>
      <p:sp>
        <p:nvSpPr>
          <p:cNvPr id="4" name="Text 2"/>
          <p:cNvSpPr txBox="1"/>
          <p:nvPr/>
        </p:nvSpPr>
        <p:spPr>
          <a:xfrm>
            <a:off x="777240" y="1188720"/>
            <a:ext cx="10607040" cy="868680"/>
          </a:xfrm>
          <a:prstGeom prst="rect">
            <a:avLst/>
          </a:prstGeom>
          <a:noFill/>
          <a:ln/>
        </p:spPr>
        <p:txBody>
          <a:bodyPr wrap="square" lIns="0" tIns="0" rIns="0" bIns="0" rtlCol="0" anchor="ctr"/>
          <a:lstStyle/>
          <a:p>
            <a:pPr indent="0" marL="0">
              <a:buNone/>
            </a:pPr>
            <a:r>
              <a:rPr lang="en-US" sz="1500" b="1" dirty="0">
                <a:solidFill>
                  <a:srgbClr val="FFFFFF"/>
                </a:solidFill>
              </a:rPr>
              <a:t>Thesis. </a:t>
            </a:r>
            <a:pPr indent="0" marL="0">
              <a:buNone/>
            </a:pPr>
            <a:r>
              <a:rPr lang="en-US" sz="1500" dirty="0">
                <a:solidFill>
                  <a:srgbClr val="FFFFFF"/>
                </a:solidFill>
              </a:rPr>
              <a:t>Guinea should establish dependable, deliverable and financially sustainable electricity supply before committing to a predetermined generation mix.</a:t>
            </a:r>
            <a:endParaRPr lang="en-US" sz="1500" dirty="0"/>
          </a:p>
          <a:p>
            <a:pPr indent="0" marL="0">
              <a:buNone/>
            </a:pPr>
            <a:r>
              <a:rPr lang="en-US" sz="1150" i="1" dirty="0">
                <a:solidFill>
                  <a:srgbClr val="FFFFFF"/>
                </a:solidFill>
              </a:rPr>
              <a:t>A sequencing recommendation from the evidence, not a completed least-cost optimisation.</a:t>
            </a:r>
            <a:endParaRPr lang="en-US" sz="1500" dirty="0"/>
          </a:p>
        </p:txBody>
      </p:sp>
      <p:sp>
        <p:nvSpPr>
          <p:cNvPr id="5" name="insight-card"/>
          <p:cNvSpPr/>
          <p:nvPr/>
        </p:nvSpPr>
        <p:spPr>
          <a:xfrm>
            <a:off x="548640" y="2176272"/>
            <a:ext cx="3520440" cy="1755648"/>
          </a:xfrm>
          <a:prstGeom prst="roundRect">
            <a:avLst>
              <a:gd name="adj" fmla="val 4167"/>
            </a:avLst>
          </a:prstGeom>
          <a:solidFill>
            <a:srgbClr val="EEF3F5"/>
          </a:solidFill>
          <a:ln w="12700">
            <a:solidFill>
              <a:srgbClr val="EEF3F5"/>
            </a:solidFill>
            <a:prstDash val="solid"/>
          </a:ln>
        </p:spPr>
      </p:sp>
      <p:sp>
        <p:nvSpPr>
          <p:cNvPr id="6" name="Text 4"/>
          <p:cNvSpPr txBox="1"/>
          <p:nvPr/>
        </p:nvSpPr>
        <p:spPr>
          <a:xfrm>
            <a:off x="713232" y="2249424"/>
            <a:ext cx="3200400" cy="457200"/>
          </a:xfrm>
          <a:prstGeom prst="rect">
            <a:avLst/>
          </a:prstGeom>
          <a:noFill/>
          <a:ln/>
        </p:spPr>
        <p:txBody>
          <a:bodyPr wrap="square" lIns="0" tIns="0" rIns="0" bIns="0" rtlCol="0" anchor="t"/>
          <a:lstStyle/>
          <a:p>
            <a:pPr indent="0" marL="0">
              <a:buNone/>
            </a:pPr>
            <a:r>
              <a:rPr lang="en-US" sz="1300" b="1" dirty="0">
                <a:solidFill>
                  <a:srgbClr val="123B4F"/>
                </a:solidFill>
                <a:latin typeface="Cambria" pitchFamily="34" charset="0"/>
                <a:ea typeface="Cambria" pitchFamily="34" charset="-122"/>
                <a:cs typeface="Cambria" pitchFamily="34" charset="-120"/>
              </a:rPr>
              <a:t>Transmission execution is binding</a:t>
            </a:r>
            <a:endParaRPr lang="en-US" sz="1300" dirty="0"/>
          </a:p>
        </p:txBody>
      </p:sp>
      <p:sp>
        <p:nvSpPr>
          <p:cNvPr id="7" name="Text 5"/>
          <p:cNvSpPr txBox="1"/>
          <p:nvPr/>
        </p:nvSpPr>
        <p:spPr>
          <a:xfrm>
            <a:off x="713232" y="2724912"/>
            <a:ext cx="3200400" cy="896112"/>
          </a:xfrm>
          <a:prstGeom prst="rect">
            <a:avLst/>
          </a:prstGeom>
          <a:noFill/>
          <a:ln/>
        </p:spPr>
        <p:txBody>
          <a:bodyPr wrap="square" lIns="0" tIns="0" rIns="0" bIns="0" rtlCol="0" anchor="t"/>
          <a:lstStyle/>
          <a:p>
            <a:pPr indent="0" marL="0">
              <a:buNone/>
            </a:pPr>
            <a:r>
              <a:rPr lang="en-US" sz="1050" dirty="0">
                <a:solidFill>
                  <a:srgbClr val="1B2A33"/>
                </a:solidFill>
              </a:rPr>
              <a:t>Linsan–Fomi financed in 2021, no works; Manéah–Linsan 8% site progress; Conakry transformers ≈80–103% loaded (EDG table, year ambiguous).</a:t>
            </a:r>
            <a:endParaRPr lang="en-US" sz="1050" dirty="0"/>
          </a:p>
        </p:txBody>
      </p:sp>
      <p:sp>
        <p:nvSpPr>
          <p:cNvPr id="8" name="label-pill"/>
          <p:cNvSpPr/>
          <p:nvPr/>
        </p:nvSpPr>
        <p:spPr>
          <a:xfrm>
            <a:off x="713232" y="3639312"/>
            <a:ext cx="1600200" cy="219456"/>
          </a:xfrm>
          <a:prstGeom prst="roundRect">
            <a:avLst>
              <a:gd name="adj" fmla="val 33333"/>
            </a:avLst>
          </a:prstGeom>
          <a:solidFill>
            <a:srgbClr val="1F7A8C"/>
          </a:solidFill>
          <a:ln w="12700">
            <a:solidFill>
              <a:srgbClr val="1F7A8C"/>
            </a:solidFill>
            <a:prstDash val="solid"/>
          </a:ln>
        </p:spPr>
      </p:sp>
      <p:sp>
        <p:nvSpPr>
          <p:cNvPr id="9" name="Text 7"/>
          <p:cNvSpPr txBox="1"/>
          <p:nvPr/>
        </p:nvSpPr>
        <p:spPr>
          <a:xfrm>
            <a:off x="713232" y="3639312"/>
            <a:ext cx="1600200" cy="219456"/>
          </a:xfrm>
          <a:prstGeom prst="rect">
            <a:avLst/>
          </a:prstGeom>
          <a:noFill/>
          <a:ln/>
        </p:spPr>
        <p:txBody>
          <a:bodyPr wrap="square" lIns="0" tIns="0" rIns="0" bIns="0" rtlCol="0" anchor="ctr"/>
          <a:lstStyle/>
          <a:p>
            <a:pPr algn="ctr" indent="0" marL="0">
              <a:buNone/>
            </a:pPr>
            <a:r>
              <a:rPr lang="en-US" sz="850" b="1" dirty="0">
                <a:solidFill>
                  <a:srgbClr val="FFFFFF"/>
                </a:solidFill>
              </a:rPr>
              <a:t>EVIDENCE</a:t>
            </a:r>
            <a:endParaRPr lang="en-US" sz="850" dirty="0"/>
          </a:p>
        </p:txBody>
      </p:sp>
      <p:sp>
        <p:nvSpPr>
          <p:cNvPr id="10" name="insight-card"/>
          <p:cNvSpPr/>
          <p:nvPr/>
        </p:nvSpPr>
        <p:spPr>
          <a:xfrm>
            <a:off x="4270248" y="2176272"/>
            <a:ext cx="3520440" cy="1755648"/>
          </a:xfrm>
          <a:prstGeom prst="roundRect">
            <a:avLst>
              <a:gd name="adj" fmla="val 4167"/>
            </a:avLst>
          </a:prstGeom>
          <a:solidFill>
            <a:srgbClr val="EEF3F5"/>
          </a:solidFill>
          <a:ln w="12700">
            <a:solidFill>
              <a:srgbClr val="EEF3F5"/>
            </a:solidFill>
            <a:prstDash val="solid"/>
          </a:ln>
        </p:spPr>
      </p:sp>
      <p:sp>
        <p:nvSpPr>
          <p:cNvPr id="11" name="Text 9"/>
          <p:cNvSpPr txBox="1"/>
          <p:nvPr/>
        </p:nvSpPr>
        <p:spPr>
          <a:xfrm>
            <a:off x="4434840" y="2249424"/>
            <a:ext cx="3200400" cy="457200"/>
          </a:xfrm>
          <a:prstGeom prst="rect">
            <a:avLst/>
          </a:prstGeom>
          <a:noFill/>
          <a:ln/>
        </p:spPr>
        <p:txBody>
          <a:bodyPr wrap="square" lIns="0" tIns="0" rIns="0" bIns="0" rtlCol="0" anchor="t"/>
          <a:lstStyle/>
          <a:p>
            <a:pPr indent="0" marL="0">
              <a:buNone/>
            </a:pPr>
            <a:r>
              <a:rPr lang="en-US" sz="1300" b="1" dirty="0">
                <a:solidFill>
                  <a:srgbClr val="123B4F"/>
                </a:solidFill>
                <a:latin typeface="Cambria" pitchFamily="34" charset="0"/>
                <a:ea typeface="Cambria" pitchFamily="34" charset="-122"/>
                <a:cs typeface="Cambria" pitchFamily="34" charset="-120"/>
              </a:rPr>
              <a:t>La Côtière: stated purpose and inferred effect</a:t>
            </a:r>
            <a:endParaRPr lang="en-US" sz="1300" dirty="0"/>
          </a:p>
        </p:txBody>
      </p:sp>
      <p:sp>
        <p:nvSpPr>
          <p:cNvPr id="12" name="Text 10"/>
          <p:cNvSpPr txBox="1"/>
          <p:nvPr/>
        </p:nvSpPr>
        <p:spPr>
          <a:xfrm>
            <a:off x="4434840" y="2724912"/>
            <a:ext cx="3200400" cy="896112"/>
          </a:xfrm>
          <a:prstGeom prst="rect">
            <a:avLst/>
          </a:prstGeom>
          <a:noFill/>
          <a:ln/>
        </p:spPr>
        <p:txBody>
          <a:bodyPr wrap="square" lIns="0" tIns="0" rIns="0" bIns="0" rtlCol="0" anchor="t"/>
          <a:lstStyle/>
          <a:p>
            <a:pPr indent="0" marL="0">
              <a:buNone/>
            </a:pPr>
            <a:r>
              <a:rPr lang="en-US" sz="1050" dirty="0">
                <a:solidFill>
                  <a:srgbClr val="1B2A33"/>
                </a:solidFill>
              </a:rPr>
              <a:t>Compact purpose: evacuate Kaléta–Souapiti output and supply mines (US$771 m to mobilise). Effect on dispatch: research inference, not modelled.</a:t>
            </a:r>
            <a:endParaRPr lang="en-US" sz="1050" dirty="0"/>
          </a:p>
        </p:txBody>
      </p:sp>
      <p:sp>
        <p:nvSpPr>
          <p:cNvPr id="13" name="label-pill"/>
          <p:cNvSpPr/>
          <p:nvPr/>
        </p:nvSpPr>
        <p:spPr>
          <a:xfrm>
            <a:off x="4434840" y="3639312"/>
            <a:ext cx="1600200" cy="219456"/>
          </a:xfrm>
          <a:prstGeom prst="roundRect">
            <a:avLst>
              <a:gd name="adj" fmla="val 33333"/>
            </a:avLst>
          </a:prstGeom>
          <a:solidFill>
            <a:srgbClr val="1F7A8C"/>
          </a:solidFill>
          <a:ln w="12700">
            <a:solidFill>
              <a:srgbClr val="1F7A8C"/>
            </a:solidFill>
            <a:prstDash val="solid"/>
          </a:ln>
        </p:spPr>
      </p:sp>
      <p:sp>
        <p:nvSpPr>
          <p:cNvPr id="14" name="Text 12"/>
          <p:cNvSpPr txBox="1"/>
          <p:nvPr/>
        </p:nvSpPr>
        <p:spPr>
          <a:xfrm>
            <a:off x="4434840" y="3639312"/>
            <a:ext cx="1600200" cy="219456"/>
          </a:xfrm>
          <a:prstGeom prst="rect">
            <a:avLst/>
          </a:prstGeom>
          <a:noFill/>
          <a:ln/>
        </p:spPr>
        <p:txBody>
          <a:bodyPr wrap="square" lIns="0" tIns="0" rIns="0" bIns="0" rtlCol="0" anchor="ctr"/>
          <a:lstStyle/>
          <a:p>
            <a:pPr algn="ctr" indent="0" marL="0">
              <a:buNone/>
            </a:pPr>
            <a:r>
              <a:rPr lang="en-US" sz="850" b="1" dirty="0">
                <a:solidFill>
                  <a:srgbClr val="FFFFFF"/>
                </a:solidFill>
              </a:rPr>
              <a:t>EVIDENCE + INFERENCE</a:t>
            </a:r>
            <a:endParaRPr lang="en-US" sz="850" dirty="0"/>
          </a:p>
        </p:txBody>
      </p:sp>
      <p:sp>
        <p:nvSpPr>
          <p:cNvPr id="15" name="insight-card"/>
          <p:cNvSpPr/>
          <p:nvPr/>
        </p:nvSpPr>
        <p:spPr>
          <a:xfrm>
            <a:off x="7991856" y="2176272"/>
            <a:ext cx="3520440" cy="1755648"/>
          </a:xfrm>
          <a:prstGeom prst="roundRect">
            <a:avLst>
              <a:gd name="adj" fmla="val 4167"/>
            </a:avLst>
          </a:prstGeom>
          <a:solidFill>
            <a:srgbClr val="EEF3F5"/>
          </a:solidFill>
          <a:ln w="12700">
            <a:solidFill>
              <a:srgbClr val="EEF3F5"/>
            </a:solidFill>
            <a:prstDash val="solid"/>
          </a:ln>
        </p:spPr>
      </p:sp>
      <p:sp>
        <p:nvSpPr>
          <p:cNvPr id="16" name="Text 14"/>
          <p:cNvSpPr txBox="1"/>
          <p:nvPr/>
        </p:nvSpPr>
        <p:spPr>
          <a:xfrm>
            <a:off x="8156448" y="2249424"/>
            <a:ext cx="3200400" cy="457200"/>
          </a:xfrm>
          <a:prstGeom prst="rect">
            <a:avLst/>
          </a:prstGeom>
          <a:noFill/>
          <a:ln/>
        </p:spPr>
        <p:txBody>
          <a:bodyPr wrap="square" lIns="0" tIns="0" rIns="0" bIns="0" rtlCol="0" anchor="t"/>
          <a:lstStyle/>
          <a:p>
            <a:pPr indent="0" marL="0">
              <a:buNone/>
            </a:pPr>
            <a:r>
              <a:rPr lang="en-US" sz="1300" b="1" dirty="0">
                <a:solidFill>
                  <a:srgbClr val="123B4F"/>
                </a:solidFill>
                <a:latin typeface="Cambria" pitchFamily="34" charset="0"/>
                <a:ea typeface="Cambria" pitchFamily="34" charset="-122"/>
                <a:cs typeface="Cambria" pitchFamily="34" charset="-120"/>
              </a:rPr>
              <a:t>Solar scale-up: grid integration not yet quantified</a:t>
            </a:r>
            <a:endParaRPr lang="en-US" sz="1300" dirty="0"/>
          </a:p>
        </p:txBody>
      </p:sp>
      <p:sp>
        <p:nvSpPr>
          <p:cNvPr id="17" name="Text 15"/>
          <p:cNvSpPr txBox="1"/>
          <p:nvPr/>
        </p:nvSpPr>
        <p:spPr>
          <a:xfrm>
            <a:off x="8156448" y="2724912"/>
            <a:ext cx="3200400" cy="896112"/>
          </a:xfrm>
          <a:prstGeom prst="rect">
            <a:avLst/>
          </a:prstGeom>
          <a:noFill/>
          <a:ln/>
        </p:spPr>
        <p:txBody>
          <a:bodyPr wrap="square" lIns="0" tIns="0" rIns="0" bIns="0" rtlCol="0" anchor="t"/>
          <a:lstStyle/>
          <a:p>
            <a:pPr indent="0" marL="0">
              <a:buNone/>
            </a:pPr>
            <a:r>
              <a:rPr lang="en-US" sz="1050" dirty="0">
                <a:solidFill>
                  <a:srgbClr val="1B2A33"/>
                </a:solidFill>
              </a:rPr>
              <a:t>No hosting or evacuation limit published; compact itself cites evacuation and stability constraints; land, payment security and procurement also bind.</a:t>
            </a:r>
            <a:endParaRPr lang="en-US" sz="1050" dirty="0"/>
          </a:p>
        </p:txBody>
      </p:sp>
      <p:sp>
        <p:nvSpPr>
          <p:cNvPr id="18" name="label-pill"/>
          <p:cNvSpPr/>
          <p:nvPr/>
        </p:nvSpPr>
        <p:spPr>
          <a:xfrm>
            <a:off x="8156448" y="3639312"/>
            <a:ext cx="1600200" cy="219456"/>
          </a:xfrm>
          <a:prstGeom prst="roundRect">
            <a:avLst>
              <a:gd name="adj" fmla="val 33333"/>
            </a:avLst>
          </a:prstGeom>
          <a:solidFill>
            <a:srgbClr val="1F7A8C"/>
          </a:solidFill>
          <a:ln w="12700">
            <a:solidFill>
              <a:srgbClr val="1F7A8C"/>
            </a:solidFill>
            <a:prstDash val="solid"/>
          </a:ln>
        </p:spPr>
      </p:sp>
      <p:sp>
        <p:nvSpPr>
          <p:cNvPr id="19" name="Text 17"/>
          <p:cNvSpPr txBox="1"/>
          <p:nvPr/>
        </p:nvSpPr>
        <p:spPr>
          <a:xfrm>
            <a:off x="8156448" y="3639312"/>
            <a:ext cx="1600200" cy="219456"/>
          </a:xfrm>
          <a:prstGeom prst="rect">
            <a:avLst/>
          </a:prstGeom>
          <a:noFill/>
          <a:ln/>
        </p:spPr>
        <p:txBody>
          <a:bodyPr wrap="square" lIns="0" tIns="0" rIns="0" bIns="0" rtlCol="0" anchor="ctr"/>
          <a:lstStyle/>
          <a:p>
            <a:pPr algn="ctr" indent="0" marL="0">
              <a:buNone/>
            </a:pPr>
            <a:r>
              <a:rPr lang="en-US" sz="850" b="1" dirty="0">
                <a:solidFill>
                  <a:srgbClr val="FFFFFF"/>
                </a:solidFill>
              </a:rPr>
              <a:t>EVIDENCE</a:t>
            </a:r>
            <a:endParaRPr lang="en-US" sz="850" dirty="0"/>
          </a:p>
        </p:txBody>
      </p:sp>
      <p:sp>
        <p:nvSpPr>
          <p:cNvPr id="20" name="insight-card"/>
          <p:cNvSpPr/>
          <p:nvPr/>
        </p:nvSpPr>
        <p:spPr>
          <a:xfrm>
            <a:off x="548640" y="4050792"/>
            <a:ext cx="3520440" cy="1755648"/>
          </a:xfrm>
          <a:prstGeom prst="roundRect">
            <a:avLst>
              <a:gd name="adj" fmla="val 4167"/>
            </a:avLst>
          </a:prstGeom>
          <a:solidFill>
            <a:srgbClr val="EEF3F5"/>
          </a:solidFill>
          <a:ln w="12700">
            <a:solidFill>
              <a:srgbClr val="EEF3F5"/>
            </a:solidFill>
            <a:prstDash val="solid"/>
          </a:ln>
        </p:spPr>
      </p:sp>
      <p:sp>
        <p:nvSpPr>
          <p:cNvPr id="21" name="Text 19"/>
          <p:cNvSpPr txBox="1"/>
          <p:nvPr/>
        </p:nvSpPr>
        <p:spPr>
          <a:xfrm>
            <a:off x="713232" y="4123944"/>
            <a:ext cx="3200400" cy="457200"/>
          </a:xfrm>
          <a:prstGeom prst="rect">
            <a:avLst/>
          </a:prstGeom>
          <a:noFill/>
          <a:ln/>
        </p:spPr>
        <p:txBody>
          <a:bodyPr wrap="square" lIns="0" tIns="0" rIns="0" bIns="0" rtlCol="0" anchor="t"/>
          <a:lstStyle/>
          <a:p>
            <a:pPr indent="0" marL="0">
              <a:buNone/>
            </a:pPr>
            <a:r>
              <a:rPr lang="en-US" sz="1300" b="1" dirty="0">
                <a:solidFill>
                  <a:srgbClr val="123B4F"/>
                </a:solidFill>
                <a:latin typeface="Cambria" pitchFamily="34" charset="0"/>
                <a:ea typeface="Cambria" pitchFamily="34" charset="-122"/>
                <a:cs typeface="Cambria" pitchFamily="34" charset="-120"/>
              </a:rPr>
              <a:t>Storage services differ; seasonal deficits need firm energy</a:t>
            </a:r>
            <a:endParaRPr lang="en-US" sz="1300" dirty="0"/>
          </a:p>
        </p:txBody>
      </p:sp>
      <p:sp>
        <p:nvSpPr>
          <p:cNvPr id="22" name="Text 20"/>
          <p:cNvSpPr txBox="1"/>
          <p:nvPr/>
        </p:nvSpPr>
        <p:spPr>
          <a:xfrm>
            <a:off x="713232" y="4599432"/>
            <a:ext cx="3200400" cy="896112"/>
          </a:xfrm>
          <a:prstGeom prst="rect">
            <a:avLst/>
          </a:prstGeom>
          <a:noFill/>
          <a:ln/>
        </p:spPr>
        <p:txBody>
          <a:bodyPr wrap="square" lIns="0" tIns="0" rIns="0" bIns="0" rtlCol="0" anchor="t"/>
          <a:lstStyle/>
          <a:p>
            <a:pPr indent="0" marL="0">
              <a:buNone/>
            </a:pPr>
            <a:r>
              <a:rPr lang="en-US" sz="1050" dirty="0">
                <a:solidFill>
                  <a:srgbClr val="1B2A33"/>
                </a:solidFill>
              </a:rPr>
              <a:t>Frequency response, short power support and evening-peak shifting are battery services; multi-week drought deficits are not. 13.2 MW/1 h is a study figure for frequency reserve only.</a:t>
            </a:r>
            <a:endParaRPr lang="en-US" sz="1050" dirty="0"/>
          </a:p>
        </p:txBody>
      </p:sp>
      <p:sp>
        <p:nvSpPr>
          <p:cNvPr id="23" name="label-pill"/>
          <p:cNvSpPr/>
          <p:nvPr/>
        </p:nvSpPr>
        <p:spPr>
          <a:xfrm>
            <a:off x="713232" y="5513832"/>
            <a:ext cx="1600200" cy="219456"/>
          </a:xfrm>
          <a:prstGeom prst="roundRect">
            <a:avLst>
              <a:gd name="adj" fmla="val 33333"/>
            </a:avLst>
          </a:prstGeom>
          <a:solidFill>
            <a:srgbClr val="8A5A00"/>
          </a:solidFill>
          <a:ln w="12700">
            <a:solidFill>
              <a:srgbClr val="8A5A00"/>
            </a:solidFill>
            <a:prstDash val="solid"/>
          </a:ln>
        </p:spPr>
      </p:sp>
      <p:sp>
        <p:nvSpPr>
          <p:cNvPr id="24" name="Text 22"/>
          <p:cNvSpPr txBox="1"/>
          <p:nvPr/>
        </p:nvSpPr>
        <p:spPr>
          <a:xfrm>
            <a:off x="713232" y="5513832"/>
            <a:ext cx="1600200" cy="219456"/>
          </a:xfrm>
          <a:prstGeom prst="rect">
            <a:avLst/>
          </a:prstGeom>
          <a:noFill/>
          <a:ln/>
        </p:spPr>
        <p:txBody>
          <a:bodyPr wrap="square" lIns="0" tIns="0" rIns="0" bIns="0" rtlCol="0" anchor="ctr"/>
          <a:lstStyle/>
          <a:p>
            <a:pPr algn="ctr" indent="0" marL="0">
              <a:buNone/>
            </a:pPr>
            <a:r>
              <a:rPr lang="en-US" sz="850" b="1" dirty="0">
                <a:solidFill>
                  <a:srgbClr val="FFFFFF"/>
                </a:solidFill>
              </a:rPr>
              <a:t>ESTIMATE</a:t>
            </a:r>
            <a:endParaRPr lang="en-US" sz="850" dirty="0"/>
          </a:p>
        </p:txBody>
      </p:sp>
      <p:sp>
        <p:nvSpPr>
          <p:cNvPr id="25" name="insight-card"/>
          <p:cNvSpPr/>
          <p:nvPr/>
        </p:nvSpPr>
        <p:spPr>
          <a:xfrm>
            <a:off x="4270248" y="4050792"/>
            <a:ext cx="3520440" cy="1755648"/>
          </a:xfrm>
          <a:prstGeom prst="roundRect">
            <a:avLst>
              <a:gd name="adj" fmla="val 4167"/>
            </a:avLst>
          </a:prstGeom>
          <a:solidFill>
            <a:srgbClr val="EEF3F5"/>
          </a:solidFill>
          <a:ln w="12700">
            <a:solidFill>
              <a:srgbClr val="EEF3F5"/>
            </a:solidFill>
            <a:prstDash val="solid"/>
          </a:ln>
        </p:spPr>
      </p:sp>
      <p:sp>
        <p:nvSpPr>
          <p:cNvPr id="26" name="Text 24"/>
          <p:cNvSpPr txBox="1"/>
          <p:nvPr/>
        </p:nvSpPr>
        <p:spPr>
          <a:xfrm>
            <a:off x="4434840" y="4123944"/>
            <a:ext cx="3200400" cy="457200"/>
          </a:xfrm>
          <a:prstGeom prst="rect">
            <a:avLst/>
          </a:prstGeom>
          <a:noFill/>
          <a:ln/>
        </p:spPr>
        <p:txBody>
          <a:bodyPr wrap="square" lIns="0" tIns="0" rIns="0" bIns="0" rtlCol="0" anchor="t"/>
          <a:lstStyle/>
          <a:p>
            <a:pPr indent="0" marL="0">
              <a:buNone/>
            </a:pPr>
            <a:r>
              <a:rPr lang="en-US" sz="1300" b="1" dirty="0">
                <a:solidFill>
                  <a:srgbClr val="123B4F"/>
                </a:solidFill>
                <a:latin typeface="Cambria" pitchFamily="34" charset="0"/>
                <a:ea typeface="Cambria" pitchFamily="34" charset="-122"/>
                <a:cs typeface="Cambria" pitchFamily="34" charset="-120"/>
              </a:rPr>
              <a:t>A few delays outweigh the pipeline size</a:t>
            </a:r>
            <a:endParaRPr lang="en-US" sz="1300" dirty="0"/>
          </a:p>
        </p:txBody>
      </p:sp>
      <p:sp>
        <p:nvSpPr>
          <p:cNvPr id="27" name="Text 25"/>
          <p:cNvSpPr txBox="1"/>
          <p:nvPr/>
        </p:nvSpPr>
        <p:spPr>
          <a:xfrm>
            <a:off x="4434840" y="4599432"/>
            <a:ext cx="3200400" cy="896112"/>
          </a:xfrm>
          <a:prstGeom prst="rect">
            <a:avLst/>
          </a:prstGeom>
          <a:noFill/>
          <a:ln/>
        </p:spPr>
        <p:txBody>
          <a:bodyPr wrap="square" lIns="0" tIns="0" rIns="0" bIns="0" rtlCol="0" anchor="t"/>
          <a:lstStyle/>
          <a:p>
            <a:pPr indent="0" marL="0">
              <a:buNone/>
            </a:pPr>
            <a:r>
              <a:rPr lang="en-US" sz="1050" dirty="0">
                <a:solidFill>
                  <a:srgbClr val="1B2A33"/>
                </a:solidFill>
              </a:rPr>
              <a:t>Amaria = 300 of the ≈379 MW subset under construction or financed (79%; 300 ÷ 378.6), delayed. The ≈6.4 GW gross list is not expected generation.</a:t>
            </a:r>
            <a:endParaRPr lang="en-US" sz="1050" dirty="0"/>
          </a:p>
        </p:txBody>
      </p:sp>
      <p:sp>
        <p:nvSpPr>
          <p:cNvPr id="28" name="label-pill"/>
          <p:cNvSpPr/>
          <p:nvPr/>
        </p:nvSpPr>
        <p:spPr>
          <a:xfrm>
            <a:off x="4434840" y="5513832"/>
            <a:ext cx="1600200" cy="219456"/>
          </a:xfrm>
          <a:prstGeom prst="roundRect">
            <a:avLst>
              <a:gd name="adj" fmla="val 33333"/>
            </a:avLst>
          </a:prstGeom>
          <a:solidFill>
            <a:srgbClr val="8A5A00"/>
          </a:solidFill>
          <a:ln w="12700">
            <a:solidFill>
              <a:srgbClr val="8A5A00"/>
            </a:solidFill>
            <a:prstDash val="solid"/>
          </a:ln>
        </p:spPr>
      </p:sp>
      <p:sp>
        <p:nvSpPr>
          <p:cNvPr id="29" name="Text 27"/>
          <p:cNvSpPr txBox="1"/>
          <p:nvPr/>
        </p:nvSpPr>
        <p:spPr>
          <a:xfrm>
            <a:off x="4434840" y="5513832"/>
            <a:ext cx="1600200" cy="219456"/>
          </a:xfrm>
          <a:prstGeom prst="rect">
            <a:avLst/>
          </a:prstGeom>
          <a:noFill/>
          <a:ln/>
        </p:spPr>
        <p:txBody>
          <a:bodyPr wrap="square" lIns="0" tIns="0" rIns="0" bIns="0" rtlCol="0" anchor="ctr"/>
          <a:lstStyle/>
          <a:p>
            <a:pPr algn="ctr" indent="0" marL="0">
              <a:buNone/>
            </a:pPr>
            <a:r>
              <a:rPr lang="en-US" sz="850" b="1" dirty="0">
                <a:solidFill>
                  <a:srgbClr val="FFFFFF"/>
                </a:solidFill>
              </a:rPr>
              <a:t>ESTIMATE</a:t>
            </a:r>
            <a:endParaRPr lang="en-US" sz="850" dirty="0"/>
          </a:p>
        </p:txBody>
      </p:sp>
      <p:sp>
        <p:nvSpPr>
          <p:cNvPr id="30" name="insight-card"/>
          <p:cNvSpPr/>
          <p:nvPr/>
        </p:nvSpPr>
        <p:spPr>
          <a:xfrm>
            <a:off x="7991856" y="4050792"/>
            <a:ext cx="3520440" cy="1755648"/>
          </a:xfrm>
          <a:prstGeom prst="roundRect">
            <a:avLst>
              <a:gd name="adj" fmla="val 4167"/>
            </a:avLst>
          </a:prstGeom>
          <a:solidFill>
            <a:srgbClr val="EEF3F5"/>
          </a:solidFill>
          <a:ln w="12700">
            <a:solidFill>
              <a:srgbClr val="EEF3F5"/>
            </a:solidFill>
            <a:prstDash val="solid"/>
          </a:ln>
        </p:spPr>
      </p:sp>
      <p:sp>
        <p:nvSpPr>
          <p:cNvPr id="31" name="Text 29"/>
          <p:cNvSpPr txBox="1"/>
          <p:nvPr/>
        </p:nvSpPr>
        <p:spPr>
          <a:xfrm>
            <a:off x="8156448" y="4123944"/>
            <a:ext cx="3200400" cy="457200"/>
          </a:xfrm>
          <a:prstGeom prst="rect">
            <a:avLst/>
          </a:prstGeom>
          <a:noFill/>
          <a:ln/>
        </p:spPr>
        <p:txBody>
          <a:bodyPr wrap="square" lIns="0" tIns="0" rIns="0" bIns="0" rtlCol="0" anchor="t"/>
          <a:lstStyle/>
          <a:p>
            <a:pPr indent="0" marL="0">
              <a:buNone/>
            </a:pPr>
            <a:r>
              <a:rPr lang="en-US" sz="1300" b="1" dirty="0">
                <a:solidFill>
                  <a:srgbClr val="123B4F"/>
                </a:solidFill>
                <a:latin typeface="Cambria" pitchFamily="34" charset="0"/>
                <a:ea typeface="Cambria" pitchFamily="34" charset="-122"/>
                <a:cs typeface="Cambria" pitchFamily="34" charset="-120"/>
              </a:rPr>
              <a:t>A first private renewable deal could set the precedent</a:t>
            </a:r>
            <a:endParaRPr lang="en-US" sz="1300" dirty="0"/>
          </a:p>
        </p:txBody>
      </p:sp>
      <p:sp>
        <p:nvSpPr>
          <p:cNvPr id="32" name="Text 30"/>
          <p:cNvSpPr txBox="1"/>
          <p:nvPr/>
        </p:nvSpPr>
        <p:spPr>
          <a:xfrm>
            <a:off x="8156448" y="4599432"/>
            <a:ext cx="3200400" cy="896112"/>
          </a:xfrm>
          <a:prstGeom prst="rect">
            <a:avLst/>
          </a:prstGeom>
          <a:noFill/>
          <a:ln/>
        </p:spPr>
        <p:txBody>
          <a:bodyPr wrap="square" lIns="0" tIns="0" rIns="0" bIns="0" rtlCol="0" anchor="t"/>
          <a:lstStyle/>
          <a:p>
            <a:pPr indent="0" marL="0">
              <a:buNone/>
            </a:pPr>
            <a:r>
              <a:rPr lang="en-US" sz="1050" dirty="0">
                <a:solidFill>
                  <a:srgbClr val="1B2A33"/>
                </a:solidFill>
              </a:rPr>
              <a:t>No grid solar plant operates; no energy guarantee in use; PPA currency undocumented.</a:t>
            </a:r>
            <a:endParaRPr lang="en-US" sz="1050" dirty="0"/>
          </a:p>
        </p:txBody>
      </p:sp>
      <p:sp>
        <p:nvSpPr>
          <p:cNvPr id="33" name="label-pill"/>
          <p:cNvSpPr/>
          <p:nvPr/>
        </p:nvSpPr>
        <p:spPr>
          <a:xfrm>
            <a:off x="8156448" y="5513832"/>
            <a:ext cx="1600200" cy="219456"/>
          </a:xfrm>
          <a:prstGeom prst="roundRect">
            <a:avLst>
              <a:gd name="adj" fmla="val 33333"/>
            </a:avLst>
          </a:prstGeom>
          <a:solidFill>
            <a:srgbClr val="5E3F8C"/>
          </a:solidFill>
          <a:ln w="12700">
            <a:solidFill>
              <a:srgbClr val="5E3F8C"/>
            </a:solidFill>
            <a:prstDash val="solid"/>
          </a:ln>
        </p:spPr>
      </p:sp>
      <p:sp>
        <p:nvSpPr>
          <p:cNvPr id="34" name="Text 32"/>
          <p:cNvSpPr txBox="1"/>
          <p:nvPr/>
        </p:nvSpPr>
        <p:spPr>
          <a:xfrm>
            <a:off x="8156448" y="5513832"/>
            <a:ext cx="1600200" cy="219456"/>
          </a:xfrm>
          <a:prstGeom prst="rect">
            <a:avLst/>
          </a:prstGeom>
          <a:noFill/>
          <a:ln/>
        </p:spPr>
        <p:txBody>
          <a:bodyPr wrap="square" lIns="0" tIns="0" rIns="0" bIns="0" rtlCol="0" anchor="ctr"/>
          <a:lstStyle/>
          <a:p>
            <a:pPr algn="ctr" indent="0" marL="0">
              <a:buNone/>
            </a:pPr>
            <a:r>
              <a:rPr lang="en-US" sz="850" b="1" dirty="0">
                <a:solidFill>
                  <a:srgbClr val="FFFFFF"/>
                </a:solidFill>
              </a:rPr>
              <a:t>HYPOTHESIS</a:t>
            </a:r>
            <a:endParaRPr lang="en-US" sz="850" dirty="0"/>
          </a:p>
        </p:txBody>
      </p:sp>
      <p:sp>
        <p:nvSpPr>
          <p:cNvPr id="35" name="source"/>
          <p:cNvSpPr txBox="1"/>
          <p:nvPr/>
        </p:nvSpPr>
        <p:spPr>
          <a:xfrm>
            <a:off x="548640" y="5916168"/>
            <a:ext cx="11064240" cy="512064"/>
          </a:xfrm>
          <a:prstGeom prst="rect">
            <a:avLst/>
          </a:prstGeom>
          <a:noFill/>
          <a:ln/>
        </p:spPr>
        <p:txBody>
          <a:bodyPr wrap="square" rtlCol="0" anchor="t"/>
          <a:lstStyle/>
          <a:p>
            <a:pPr indent="0" marL="0">
              <a:buNone/>
            </a:pPr>
            <a:r>
              <a:rPr lang="en-US" sz="900" dirty="0">
                <a:solidFill>
                  <a:srgbClr val="4B5563"/>
                </a:solidFill>
              </a:rPr>
              <a:t>Sources: European Investment Bank [18]; Électricité de Guinée [79]; Électricité de Guinée SA [82]; Government of Guinea [22]; West African Power Pool / GIZ PROCEM II [55]; Ministère de l'Énergie, republished by Mediaguinee [33]; World Bank Group [72]. Battery comparison is illustrative scale only (13.2 MWh vs 542,767.5 MWh), not a sizing calculation. [n] = reference list at end.</a:t>
            </a:r>
            <a:endParaRPr lang="en-US" sz="900" dirty="0"/>
          </a:p>
        </p:txBody>
      </p:sp>
      <p:sp>
        <p:nvSpPr>
          <p:cNvPr id="25" name="Slide Number Placeholder 0"/>
          <p:cNvSpPr>
            <a:spLocks noGrp="1"/>
          </p:cNvSpPr>
          <p:nvPr>
            <p:ph type="sldNum" sz="quarter" idx="4294967295"/>
          </p:nvPr>
        </p:nvSpPr>
        <p:spPr>
          <a:xfrm>
            <a:off x="11155680" y="6446520"/>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4B5563"/>
                </a:solidFill>
                <a:latin typeface="Calibri"/>
                <a:ea typeface="Calibri"/>
                <a:cs typeface="Calibri"/>
              </a:defRPr>
            </a:lvl1pPr>
          </a:lstStyle>
          <a:p>
            <a:pPr algn="l"/>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rtlCol="0" anchor="ctr"/>
          <a:lstStyle/>
          <a:p>
            <a:pPr indent="0" marL="0">
              <a:buNone/>
            </a:pPr>
            <a:r>
              <a:rPr lang="en-US" sz="3000" b="1" dirty="0">
                <a:solidFill>
                  <a:srgbClr val="123B4F"/>
                </a:solidFill>
                <a:latin typeface="Cambria" pitchFamily="34" charset="0"/>
                <a:ea typeface="Cambria" pitchFamily="34" charset="-122"/>
                <a:cs typeface="Cambria" pitchFamily="34" charset="-120"/>
              </a:rPr>
              <a:t>Five national priorities, in dependency order</a:t>
            </a:r>
            <a:endParaRPr lang="en-US" sz="3000" dirty="0"/>
          </a:p>
        </p:txBody>
      </p:sp>
      <p:sp>
        <p:nvSpPr>
          <p:cNvPr id="3" name="priority-P1"/>
          <p:cNvSpPr/>
          <p:nvPr/>
        </p:nvSpPr>
        <p:spPr>
          <a:xfrm>
            <a:off x="548640" y="1325880"/>
            <a:ext cx="3520440" cy="2148840"/>
          </a:xfrm>
          <a:prstGeom prst="roundRect">
            <a:avLst>
              <a:gd name="adj" fmla="val 3404"/>
            </a:avLst>
          </a:prstGeom>
          <a:solidFill>
            <a:srgbClr val="EEF3F5"/>
          </a:solidFill>
          <a:ln w="12700">
            <a:solidFill>
              <a:srgbClr val="EEF3F5"/>
            </a:solidFill>
            <a:prstDash val="solid"/>
          </a:ln>
        </p:spPr>
      </p:sp>
      <p:sp>
        <p:nvSpPr>
          <p:cNvPr id="4" name="priority-dot"/>
          <p:cNvSpPr/>
          <p:nvPr/>
        </p:nvSpPr>
        <p:spPr>
          <a:xfrm>
            <a:off x="685800" y="1463040"/>
            <a:ext cx="457200" cy="457200"/>
          </a:xfrm>
          <a:prstGeom prst="ellipse">
            <a:avLst/>
          </a:prstGeom>
          <a:solidFill>
            <a:srgbClr val="123B4F"/>
          </a:solidFill>
          <a:ln w="12700">
            <a:solidFill>
              <a:srgbClr val="123B4F"/>
            </a:solidFill>
            <a:prstDash val="solid"/>
          </a:ln>
        </p:spPr>
      </p:sp>
      <p:sp>
        <p:nvSpPr>
          <p:cNvPr id="5" name="Text 3"/>
          <p:cNvSpPr txBox="1"/>
          <p:nvPr/>
        </p:nvSpPr>
        <p:spPr>
          <a:xfrm>
            <a:off x="685800" y="1463040"/>
            <a:ext cx="457200" cy="457200"/>
          </a:xfrm>
          <a:prstGeom prst="rect">
            <a:avLst/>
          </a:prstGeom>
          <a:noFill/>
          <a:ln/>
        </p:spPr>
        <p:txBody>
          <a:bodyPr wrap="square" lIns="0" tIns="0" rIns="0" bIns="0" rtlCol="0" anchor="ctr"/>
          <a:lstStyle/>
          <a:p>
            <a:pPr algn="ctr" indent="0" marL="0">
              <a:buNone/>
            </a:pPr>
            <a:r>
              <a:rPr lang="en-US" sz="1300" b="1" dirty="0">
                <a:solidFill>
                  <a:srgbClr val="FFFFFF"/>
                </a:solidFill>
              </a:rPr>
              <a:t>P1</a:t>
            </a:r>
            <a:endParaRPr lang="en-US" sz="1300" dirty="0"/>
          </a:p>
        </p:txBody>
      </p:sp>
      <p:sp>
        <p:nvSpPr>
          <p:cNvPr id="6" name="Text 4"/>
          <p:cNvSpPr txBox="1"/>
          <p:nvPr/>
        </p:nvSpPr>
        <p:spPr>
          <a:xfrm>
            <a:off x="1261872" y="1417320"/>
            <a:ext cx="2697480" cy="548640"/>
          </a:xfrm>
          <a:prstGeom prst="rect">
            <a:avLst/>
          </a:prstGeom>
          <a:noFill/>
          <a:ln/>
        </p:spPr>
        <p:txBody>
          <a:bodyPr wrap="square" lIns="0" tIns="0" rIns="0" bIns="0" rtlCol="0" anchor="ctr"/>
          <a:lstStyle/>
          <a:p>
            <a:pPr indent="0" marL="0">
              <a:buNone/>
            </a:pPr>
            <a:r>
              <a:rPr lang="en-US" sz="1400" b="1" dirty="0">
                <a:solidFill>
                  <a:srgbClr val="123B4F"/>
                </a:solidFill>
                <a:latin typeface="Cambria" pitchFamily="34" charset="0"/>
                <a:ea typeface="Cambria" pitchFamily="34" charset="-122"/>
                <a:cs typeface="Cambria" pitchFamily="34" charset="-120"/>
              </a:rPr>
              <a:t>Deliver financed transmission</a:t>
            </a:r>
            <a:endParaRPr lang="en-US" sz="1400" dirty="0"/>
          </a:p>
        </p:txBody>
      </p:sp>
      <p:sp>
        <p:nvSpPr>
          <p:cNvPr id="7" name="Text 5"/>
          <p:cNvSpPr txBox="1"/>
          <p:nvPr/>
        </p:nvSpPr>
        <p:spPr>
          <a:xfrm>
            <a:off x="713232" y="2039112"/>
            <a:ext cx="3200400" cy="868680"/>
          </a:xfrm>
          <a:prstGeom prst="rect">
            <a:avLst/>
          </a:prstGeom>
          <a:noFill/>
          <a:ln/>
        </p:spPr>
        <p:txBody>
          <a:bodyPr wrap="square" lIns="0" tIns="0" rIns="0" bIns="0" rtlCol="0" anchor="t"/>
          <a:lstStyle/>
          <a:p>
            <a:pPr indent="0" marL="0">
              <a:buNone/>
            </a:pPr>
            <a:r>
              <a:rPr lang="en-US" sz="1100" dirty="0">
                <a:solidFill>
                  <a:srgbClr val="1B2A33"/>
                </a:solidFill>
              </a:rPr>
              <a:t>Complete Linsan–Fomi, Manéah–Linsan and Guinea–Mali; reinforce Conakry substations; close financing for La Côtière.</a:t>
            </a:r>
            <a:endParaRPr lang="en-US" sz="1100" dirty="0"/>
          </a:p>
        </p:txBody>
      </p:sp>
      <p:sp>
        <p:nvSpPr>
          <p:cNvPr id="8" name="Text 6"/>
          <p:cNvSpPr txBox="1"/>
          <p:nvPr/>
        </p:nvSpPr>
        <p:spPr>
          <a:xfrm>
            <a:off x="713232" y="2898648"/>
            <a:ext cx="3200400" cy="548640"/>
          </a:xfrm>
          <a:prstGeom prst="rect">
            <a:avLst/>
          </a:prstGeom>
          <a:noFill/>
          <a:ln/>
        </p:spPr>
        <p:txBody>
          <a:bodyPr wrap="square" lIns="0" tIns="0" rIns="0" bIns="0" rtlCol="0" anchor="t"/>
          <a:lstStyle/>
          <a:p>
            <a:pPr indent="0" marL="0">
              <a:buNone/>
            </a:pPr>
            <a:r>
              <a:rPr lang="en-US" sz="950" b="1" dirty="0">
                <a:solidFill>
                  <a:srgbClr val="4B5563"/>
                </a:solidFill>
              </a:rPr>
              <a:t>Depends on: </a:t>
            </a:r>
            <a:pPr indent="0" marL="0">
              <a:buNone/>
            </a:pPr>
            <a:r>
              <a:rPr lang="en-US" sz="950" dirty="0">
                <a:solidFill>
                  <a:srgbClr val="4B5563"/>
                </a:solidFill>
              </a:rPr>
              <a:t>Financing largely exists</a:t>
            </a:r>
            <a:endParaRPr lang="en-US" sz="950" dirty="0"/>
          </a:p>
          <a:p>
            <a:pPr indent="0" marL="0">
              <a:buNone/>
            </a:pPr>
            <a:r>
              <a:rPr lang="en-US" sz="950" b="1" dirty="0">
                <a:solidFill>
                  <a:srgbClr val="4B5563"/>
                </a:solidFill>
              </a:rPr>
              <a:t>Gate: </a:t>
            </a:r>
            <a:pPr indent="0" marL="0">
              <a:buNone/>
            </a:pPr>
            <a:r>
              <a:rPr lang="en-US" sz="950" dirty="0">
                <a:solidFill>
                  <a:srgbClr val="4B5563"/>
                </a:solidFill>
              </a:rPr>
              <a:t>Works schedules published; contracts awarded; La Côtière financing decided</a:t>
            </a:r>
            <a:endParaRPr lang="en-US" sz="950" dirty="0"/>
          </a:p>
        </p:txBody>
      </p:sp>
      <p:sp>
        <p:nvSpPr>
          <p:cNvPr id="9" name="priority-P2"/>
          <p:cNvSpPr/>
          <p:nvPr/>
        </p:nvSpPr>
        <p:spPr>
          <a:xfrm>
            <a:off x="4270248" y="1325880"/>
            <a:ext cx="3520440" cy="2148840"/>
          </a:xfrm>
          <a:prstGeom prst="roundRect">
            <a:avLst>
              <a:gd name="adj" fmla="val 3404"/>
            </a:avLst>
          </a:prstGeom>
          <a:solidFill>
            <a:srgbClr val="EEF3F5"/>
          </a:solidFill>
          <a:ln w="12700">
            <a:solidFill>
              <a:srgbClr val="EEF3F5"/>
            </a:solidFill>
            <a:prstDash val="solid"/>
          </a:ln>
        </p:spPr>
      </p:sp>
      <p:sp>
        <p:nvSpPr>
          <p:cNvPr id="10" name="priority-dot"/>
          <p:cNvSpPr/>
          <p:nvPr/>
        </p:nvSpPr>
        <p:spPr>
          <a:xfrm>
            <a:off x="4407408" y="1463040"/>
            <a:ext cx="457200" cy="457200"/>
          </a:xfrm>
          <a:prstGeom prst="ellipse">
            <a:avLst/>
          </a:prstGeom>
          <a:solidFill>
            <a:srgbClr val="123B4F"/>
          </a:solidFill>
          <a:ln w="12700">
            <a:solidFill>
              <a:srgbClr val="123B4F"/>
            </a:solidFill>
            <a:prstDash val="solid"/>
          </a:ln>
        </p:spPr>
      </p:sp>
      <p:sp>
        <p:nvSpPr>
          <p:cNvPr id="11" name="Text 9"/>
          <p:cNvSpPr txBox="1"/>
          <p:nvPr/>
        </p:nvSpPr>
        <p:spPr>
          <a:xfrm>
            <a:off x="4407408" y="1463040"/>
            <a:ext cx="457200" cy="457200"/>
          </a:xfrm>
          <a:prstGeom prst="rect">
            <a:avLst/>
          </a:prstGeom>
          <a:noFill/>
          <a:ln/>
        </p:spPr>
        <p:txBody>
          <a:bodyPr wrap="square" lIns="0" tIns="0" rIns="0" bIns="0" rtlCol="0" anchor="ctr"/>
          <a:lstStyle/>
          <a:p>
            <a:pPr algn="ctr" indent="0" marL="0">
              <a:buNone/>
            </a:pPr>
            <a:r>
              <a:rPr lang="en-US" sz="1300" b="1" dirty="0">
                <a:solidFill>
                  <a:srgbClr val="FFFFFF"/>
                </a:solidFill>
              </a:rPr>
              <a:t>P2</a:t>
            </a:r>
            <a:endParaRPr lang="en-US" sz="1300" dirty="0"/>
          </a:p>
        </p:txBody>
      </p:sp>
      <p:sp>
        <p:nvSpPr>
          <p:cNvPr id="12" name="Text 10"/>
          <p:cNvSpPr txBox="1"/>
          <p:nvPr/>
        </p:nvSpPr>
        <p:spPr>
          <a:xfrm>
            <a:off x="4983480" y="1417320"/>
            <a:ext cx="2697480" cy="548640"/>
          </a:xfrm>
          <a:prstGeom prst="rect">
            <a:avLst/>
          </a:prstGeom>
          <a:noFill/>
          <a:ln/>
        </p:spPr>
        <p:txBody>
          <a:bodyPr wrap="square" lIns="0" tIns="0" rIns="0" bIns="0" rtlCol="0" anchor="ctr"/>
          <a:lstStyle/>
          <a:p>
            <a:pPr indent="0" marL="0">
              <a:buNone/>
            </a:pPr>
            <a:r>
              <a:rPr lang="en-US" sz="1400" b="1" dirty="0">
                <a:solidFill>
                  <a:srgbClr val="123B4F"/>
                </a:solidFill>
                <a:latin typeface="Cambria" pitchFamily="34" charset="0"/>
                <a:ea typeface="Cambria" pitchFamily="34" charset="-122"/>
                <a:cs typeface="Cambria" pitchFamily="34" charset="-120"/>
              </a:rPr>
              <a:t>Establish a firm-capacity baseline</a:t>
            </a:r>
            <a:endParaRPr lang="en-US" sz="1400" dirty="0"/>
          </a:p>
        </p:txBody>
      </p:sp>
      <p:sp>
        <p:nvSpPr>
          <p:cNvPr id="13" name="Text 11"/>
          <p:cNvSpPr txBox="1"/>
          <p:nvPr/>
        </p:nvSpPr>
        <p:spPr>
          <a:xfrm>
            <a:off x="4434840" y="2039112"/>
            <a:ext cx="3200400" cy="868680"/>
          </a:xfrm>
          <a:prstGeom prst="rect">
            <a:avLst/>
          </a:prstGeom>
          <a:noFill/>
          <a:ln/>
        </p:spPr>
        <p:txBody>
          <a:bodyPr wrap="square" lIns="0" tIns="0" rIns="0" bIns="0" rtlCol="0" anchor="t"/>
          <a:lstStyle/>
          <a:p>
            <a:pPr indent="0" marL="0">
              <a:buNone/>
            </a:pPr>
            <a:r>
              <a:rPr lang="en-US" sz="1100" dirty="0">
                <a:solidFill>
                  <a:srgbClr val="1B2A33"/>
                </a:solidFill>
              </a:rPr>
              <a:t>Measure plant-level seasonal dependable capacity, adopt cascade operating rules, analyse dry-year hydrology and publish an hourly load curve.</a:t>
            </a:r>
            <a:endParaRPr lang="en-US" sz="1100" dirty="0"/>
          </a:p>
        </p:txBody>
      </p:sp>
      <p:sp>
        <p:nvSpPr>
          <p:cNvPr id="14" name="Text 12"/>
          <p:cNvSpPr txBox="1"/>
          <p:nvPr/>
        </p:nvSpPr>
        <p:spPr>
          <a:xfrm>
            <a:off x="4434840" y="2898648"/>
            <a:ext cx="3200400" cy="548640"/>
          </a:xfrm>
          <a:prstGeom prst="rect">
            <a:avLst/>
          </a:prstGeom>
          <a:noFill/>
          <a:ln/>
        </p:spPr>
        <p:txBody>
          <a:bodyPr wrap="square" lIns="0" tIns="0" rIns="0" bIns="0" rtlCol="0" anchor="t"/>
          <a:lstStyle/>
          <a:p>
            <a:pPr indent="0" marL="0">
              <a:buNone/>
            </a:pPr>
            <a:r>
              <a:rPr lang="en-US" sz="950" b="1" dirty="0">
                <a:solidFill>
                  <a:srgbClr val="4B5563"/>
                </a:solidFill>
              </a:rPr>
              <a:t>Depends on: </a:t>
            </a:r>
            <a:pPr indent="0" marL="0">
              <a:buNone/>
            </a:pPr>
            <a:r>
              <a:rPr lang="en-US" sz="950" dirty="0">
                <a:solidFill>
                  <a:srgbClr val="4B5563"/>
                </a:solidFill>
              </a:rPr>
              <a:t>Data sharing by EDG and plant companies</a:t>
            </a:r>
            <a:endParaRPr lang="en-US" sz="950" dirty="0"/>
          </a:p>
          <a:p>
            <a:pPr indent="0" marL="0">
              <a:buNone/>
            </a:pPr>
            <a:r>
              <a:rPr lang="en-US" sz="950" b="1" dirty="0">
                <a:solidFill>
                  <a:srgbClr val="4B5563"/>
                </a:solidFill>
              </a:rPr>
              <a:t>Gate: </a:t>
            </a:r>
            <a:pPr indent="0" marL="0">
              <a:buNone/>
            </a:pPr>
            <a:r>
              <a:rPr lang="en-US" sz="950" dirty="0">
                <a:solidFill>
                  <a:srgbClr val="4B5563"/>
                </a:solidFill>
              </a:rPr>
              <a:t>Dependable-capacity study and load curve published</a:t>
            </a:r>
            <a:endParaRPr lang="en-US" sz="950" dirty="0"/>
          </a:p>
        </p:txBody>
      </p:sp>
      <p:sp>
        <p:nvSpPr>
          <p:cNvPr id="15" name="priority-P3"/>
          <p:cNvSpPr/>
          <p:nvPr/>
        </p:nvSpPr>
        <p:spPr>
          <a:xfrm>
            <a:off x="7991856" y="1325880"/>
            <a:ext cx="3520440" cy="2148840"/>
          </a:xfrm>
          <a:prstGeom prst="roundRect">
            <a:avLst>
              <a:gd name="adj" fmla="val 3404"/>
            </a:avLst>
          </a:prstGeom>
          <a:solidFill>
            <a:srgbClr val="EEF3F5"/>
          </a:solidFill>
          <a:ln w="12700">
            <a:solidFill>
              <a:srgbClr val="EEF3F5"/>
            </a:solidFill>
            <a:prstDash val="solid"/>
          </a:ln>
        </p:spPr>
      </p:sp>
      <p:sp>
        <p:nvSpPr>
          <p:cNvPr id="16" name="priority-dot"/>
          <p:cNvSpPr/>
          <p:nvPr/>
        </p:nvSpPr>
        <p:spPr>
          <a:xfrm>
            <a:off x="8129016" y="1463040"/>
            <a:ext cx="457200" cy="457200"/>
          </a:xfrm>
          <a:prstGeom prst="ellipse">
            <a:avLst/>
          </a:prstGeom>
          <a:solidFill>
            <a:srgbClr val="123B4F"/>
          </a:solidFill>
          <a:ln w="12700">
            <a:solidFill>
              <a:srgbClr val="123B4F"/>
            </a:solidFill>
            <a:prstDash val="solid"/>
          </a:ln>
        </p:spPr>
      </p:sp>
      <p:sp>
        <p:nvSpPr>
          <p:cNvPr id="17" name="Text 15"/>
          <p:cNvSpPr txBox="1"/>
          <p:nvPr/>
        </p:nvSpPr>
        <p:spPr>
          <a:xfrm>
            <a:off x="8129016" y="1463040"/>
            <a:ext cx="457200" cy="457200"/>
          </a:xfrm>
          <a:prstGeom prst="rect">
            <a:avLst/>
          </a:prstGeom>
          <a:noFill/>
          <a:ln/>
        </p:spPr>
        <p:txBody>
          <a:bodyPr wrap="square" lIns="0" tIns="0" rIns="0" bIns="0" rtlCol="0" anchor="ctr"/>
          <a:lstStyle/>
          <a:p>
            <a:pPr algn="ctr" indent="0" marL="0">
              <a:buNone/>
            </a:pPr>
            <a:r>
              <a:rPr lang="en-US" sz="1300" b="1" dirty="0">
                <a:solidFill>
                  <a:srgbClr val="FFFFFF"/>
                </a:solidFill>
              </a:rPr>
              <a:t>P3</a:t>
            </a:r>
            <a:endParaRPr lang="en-US" sz="1300" dirty="0"/>
          </a:p>
        </p:txBody>
      </p:sp>
      <p:sp>
        <p:nvSpPr>
          <p:cNvPr id="18" name="Text 16"/>
          <p:cNvSpPr txBox="1"/>
          <p:nvPr/>
        </p:nvSpPr>
        <p:spPr>
          <a:xfrm>
            <a:off x="8705088" y="1417320"/>
            <a:ext cx="2697480" cy="548640"/>
          </a:xfrm>
          <a:prstGeom prst="rect">
            <a:avLst/>
          </a:prstGeom>
          <a:noFill/>
          <a:ln/>
        </p:spPr>
        <p:txBody>
          <a:bodyPr wrap="square" lIns="0" tIns="0" rIns="0" bIns="0" rtlCol="0" anchor="ctr"/>
          <a:lstStyle/>
          <a:p>
            <a:pPr indent="0" marL="0">
              <a:buNone/>
            </a:pPr>
            <a:r>
              <a:rPr lang="en-US" sz="1400" b="1" dirty="0">
                <a:solidFill>
                  <a:srgbClr val="123B4F"/>
                </a:solidFill>
                <a:latin typeface="Cambria" pitchFamily="34" charset="0"/>
                <a:ea typeface="Cambria" pitchFamily="34" charset="-122"/>
                <a:cs typeface="Cambria" pitchFamily="34" charset="-120"/>
              </a:rPr>
              <a:t>Restore payment discipline</a:t>
            </a:r>
            <a:endParaRPr lang="en-US" sz="1400" dirty="0"/>
          </a:p>
        </p:txBody>
      </p:sp>
      <p:sp>
        <p:nvSpPr>
          <p:cNvPr id="19" name="Text 17"/>
          <p:cNvSpPr txBox="1"/>
          <p:nvPr/>
        </p:nvSpPr>
        <p:spPr>
          <a:xfrm>
            <a:off x="8156448" y="2039112"/>
            <a:ext cx="3200400" cy="868680"/>
          </a:xfrm>
          <a:prstGeom prst="rect">
            <a:avLst/>
          </a:prstGeom>
          <a:noFill/>
          <a:ln/>
        </p:spPr>
        <p:txBody>
          <a:bodyPr wrap="square" lIns="0" tIns="0" rIns="0" bIns="0" rtlCol="0" anchor="t"/>
          <a:lstStyle/>
          <a:p>
            <a:pPr indent="0" marL="0">
              <a:buNone/>
            </a:pPr>
            <a:r>
              <a:rPr lang="en-US" sz="1100" dirty="0">
                <a:solidFill>
                  <a:srgbClr val="1B2A33"/>
                </a:solidFill>
              </a:rPr>
              <a:t>Adopt an arrears plan for independent producers, enforce payment of public-administration bills, scale metering and secure guarantees for new contracts.</a:t>
            </a:r>
            <a:endParaRPr lang="en-US" sz="1100" dirty="0"/>
          </a:p>
        </p:txBody>
      </p:sp>
      <p:sp>
        <p:nvSpPr>
          <p:cNvPr id="20" name="Text 18"/>
          <p:cNvSpPr txBox="1"/>
          <p:nvPr/>
        </p:nvSpPr>
        <p:spPr>
          <a:xfrm>
            <a:off x="8156448" y="2898648"/>
            <a:ext cx="3200400" cy="548640"/>
          </a:xfrm>
          <a:prstGeom prst="rect">
            <a:avLst/>
          </a:prstGeom>
          <a:noFill/>
          <a:ln/>
        </p:spPr>
        <p:txBody>
          <a:bodyPr wrap="square" lIns="0" tIns="0" rIns="0" bIns="0" rtlCol="0" anchor="t"/>
          <a:lstStyle/>
          <a:p>
            <a:pPr indent="0" marL="0">
              <a:buNone/>
            </a:pPr>
            <a:r>
              <a:rPr lang="en-US" sz="950" b="1" dirty="0">
                <a:solidFill>
                  <a:srgbClr val="4B5563"/>
                </a:solidFill>
              </a:rPr>
              <a:t>Depends on: </a:t>
            </a:r>
            <a:pPr indent="0" marL="0">
              <a:buNone/>
            </a:pPr>
            <a:r>
              <a:rPr lang="en-US" sz="950" dirty="0">
                <a:solidFill>
                  <a:srgbClr val="4B5563"/>
                </a:solidFill>
              </a:rPr>
              <a:t>Budget decisions</a:t>
            </a:r>
            <a:endParaRPr lang="en-US" sz="950" dirty="0"/>
          </a:p>
          <a:p>
            <a:pPr indent="0" marL="0">
              <a:buNone/>
            </a:pPr>
            <a:r>
              <a:rPr lang="en-US" sz="950" b="1" dirty="0">
                <a:solidFill>
                  <a:srgbClr val="4B5563"/>
                </a:solidFill>
              </a:rPr>
              <a:t>Gate: </a:t>
            </a:r>
            <a:pPr indent="0" marL="0">
              <a:buNone/>
            </a:pPr>
            <a:r>
              <a:rPr lang="en-US" sz="950" dirty="0">
                <a:solidFill>
                  <a:srgbClr val="4B5563"/>
                </a:solidFill>
              </a:rPr>
              <a:t>Arrears plan adopted; guarantee eligibility confirmed</a:t>
            </a:r>
            <a:endParaRPr lang="en-US" sz="950" dirty="0"/>
          </a:p>
        </p:txBody>
      </p:sp>
      <p:sp>
        <p:nvSpPr>
          <p:cNvPr id="21" name="priority-P4"/>
          <p:cNvSpPr/>
          <p:nvPr/>
        </p:nvSpPr>
        <p:spPr>
          <a:xfrm>
            <a:off x="548640" y="3657600"/>
            <a:ext cx="3520440" cy="2148840"/>
          </a:xfrm>
          <a:prstGeom prst="roundRect">
            <a:avLst>
              <a:gd name="adj" fmla="val 3404"/>
            </a:avLst>
          </a:prstGeom>
          <a:solidFill>
            <a:srgbClr val="EEF3F5"/>
          </a:solidFill>
          <a:ln w="12700">
            <a:solidFill>
              <a:srgbClr val="EEF3F5"/>
            </a:solidFill>
            <a:prstDash val="solid"/>
          </a:ln>
        </p:spPr>
      </p:sp>
      <p:sp>
        <p:nvSpPr>
          <p:cNvPr id="22" name="priority-dot"/>
          <p:cNvSpPr/>
          <p:nvPr/>
        </p:nvSpPr>
        <p:spPr>
          <a:xfrm>
            <a:off x="685800" y="3794760"/>
            <a:ext cx="457200" cy="457200"/>
          </a:xfrm>
          <a:prstGeom prst="ellipse">
            <a:avLst/>
          </a:prstGeom>
          <a:solidFill>
            <a:srgbClr val="123B4F"/>
          </a:solidFill>
          <a:ln w="12700">
            <a:solidFill>
              <a:srgbClr val="123B4F"/>
            </a:solidFill>
            <a:prstDash val="solid"/>
          </a:ln>
        </p:spPr>
      </p:sp>
      <p:sp>
        <p:nvSpPr>
          <p:cNvPr id="23" name="Text 21"/>
          <p:cNvSpPr txBox="1"/>
          <p:nvPr/>
        </p:nvSpPr>
        <p:spPr>
          <a:xfrm>
            <a:off x="685800" y="3794760"/>
            <a:ext cx="457200" cy="457200"/>
          </a:xfrm>
          <a:prstGeom prst="rect">
            <a:avLst/>
          </a:prstGeom>
          <a:noFill/>
          <a:ln/>
        </p:spPr>
        <p:txBody>
          <a:bodyPr wrap="square" lIns="0" tIns="0" rIns="0" bIns="0" rtlCol="0" anchor="ctr"/>
          <a:lstStyle/>
          <a:p>
            <a:pPr algn="ctr" indent="0" marL="0">
              <a:buNone/>
            </a:pPr>
            <a:r>
              <a:rPr lang="en-US" sz="1300" b="1" dirty="0">
                <a:solidFill>
                  <a:srgbClr val="FFFFFF"/>
                </a:solidFill>
              </a:rPr>
              <a:t>P4</a:t>
            </a:r>
            <a:endParaRPr lang="en-US" sz="1300" dirty="0"/>
          </a:p>
        </p:txBody>
      </p:sp>
      <p:sp>
        <p:nvSpPr>
          <p:cNvPr id="24" name="Text 22"/>
          <p:cNvSpPr txBox="1"/>
          <p:nvPr/>
        </p:nvSpPr>
        <p:spPr>
          <a:xfrm>
            <a:off x="1261872" y="3749040"/>
            <a:ext cx="2697480" cy="548640"/>
          </a:xfrm>
          <a:prstGeom prst="rect">
            <a:avLst/>
          </a:prstGeom>
          <a:noFill/>
          <a:ln/>
        </p:spPr>
        <p:txBody>
          <a:bodyPr wrap="square" lIns="0" tIns="0" rIns="0" bIns="0" rtlCol="0" anchor="ctr"/>
          <a:lstStyle/>
          <a:p>
            <a:pPr indent="0" marL="0">
              <a:buNone/>
            </a:pPr>
            <a:r>
              <a:rPr lang="en-US" sz="1400" b="1" dirty="0">
                <a:solidFill>
                  <a:srgbClr val="123B4F"/>
                </a:solidFill>
                <a:latin typeface="Cambria" pitchFamily="34" charset="0"/>
                <a:ea typeface="Cambria" pitchFamily="34" charset="-122"/>
                <a:cs typeface="Cambria" pitchFamily="34" charset="-120"/>
              </a:rPr>
              <a:t>Procure capacity technology-open, at least cost</a:t>
            </a:r>
            <a:endParaRPr lang="en-US" sz="1400" dirty="0"/>
          </a:p>
        </p:txBody>
      </p:sp>
      <p:sp>
        <p:nvSpPr>
          <p:cNvPr id="25" name="Text 23"/>
          <p:cNvSpPr txBox="1"/>
          <p:nvPr/>
        </p:nvSpPr>
        <p:spPr>
          <a:xfrm>
            <a:off x="713232" y="4370832"/>
            <a:ext cx="3200400" cy="868680"/>
          </a:xfrm>
          <a:prstGeom prst="rect">
            <a:avLst/>
          </a:prstGeom>
          <a:noFill/>
          <a:ln/>
        </p:spPr>
        <p:txBody>
          <a:bodyPr wrap="square" lIns="0" tIns="0" rIns="0" bIns="0" rtlCol="0" anchor="t"/>
          <a:lstStyle/>
          <a:p>
            <a:pPr indent="0" marL="0">
              <a:buNone/>
            </a:pPr>
            <a:r>
              <a:rPr lang="en-US" sz="1100" dirty="0">
                <a:solidFill>
                  <a:srgbClr val="1B2A33"/>
                </a:solidFill>
              </a:rPr>
              <a:t>Procure firm evening and dry-season capacity through a technology-open least-cost process, including renewables and storage where grid integration, firmness and price justify them.</a:t>
            </a:r>
            <a:endParaRPr lang="en-US" sz="1100" dirty="0"/>
          </a:p>
        </p:txBody>
      </p:sp>
      <p:sp>
        <p:nvSpPr>
          <p:cNvPr id="26" name="Text 24"/>
          <p:cNvSpPr txBox="1"/>
          <p:nvPr/>
        </p:nvSpPr>
        <p:spPr>
          <a:xfrm>
            <a:off x="713232" y="5230368"/>
            <a:ext cx="3200400" cy="548640"/>
          </a:xfrm>
          <a:prstGeom prst="rect">
            <a:avLst/>
          </a:prstGeom>
          <a:noFill/>
          <a:ln/>
        </p:spPr>
        <p:txBody>
          <a:bodyPr wrap="square" lIns="0" tIns="0" rIns="0" bIns="0" rtlCol="0" anchor="t"/>
          <a:lstStyle/>
          <a:p>
            <a:pPr indent="0" marL="0">
              <a:buNone/>
            </a:pPr>
            <a:r>
              <a:rPr lang="en-US" sz="950" b="1" dirty="0">
                <a:solidFill>
                  <a:srgbClr val="4B5563"/>
                </a:solidFill>
              </a:rPr>
              <a:t>Depends on: </a:t>
            </a:r>
            <a:pPr indent="0" marL="0">
              <a:buNone/>
            </a:pPr>
            <a:r>
              <a:rPr lang="en-US" sz="950" dirty="0">
                <a:solidFill>
                  <a:srgbClr val="4B5563"/>
                </a:solidFill>
              </a:rPr>
              <a:t>P2 sizing, P1 evacuation, P3 bankability</a:t>
            </a:r>
            <a:endParaRPr lang="en-US" sz="950" dirty="0"/>
          </a:p>
          <a:p>
            <a:pPr indent="0" marL="0">
              <a:buNone/>
            </a:pPr>
            <a:r>
              <a:rPr lang="en-US" sz="950" b="1" dirty="0">
                <a:solidFill>
                  <a:srgbClr val="4B5563"/>
                </a:solidFill>
              </a:rPr>
              <a:t>Gate: </a:t>
            </a:r>
            <a:pPr indent="0" marL="0">
              <a:buNone/>
            </a:pPr>
            <a:r>
              <a:rPr lang="en-US" sz="950" dirty="0">
                <a:solidFill>
                  <a:srgbClr val="4B5563"/>
                </a:solidFill>
              </a:rPr>
              <a:t>Least-cost plan and grid-integration study; transparent tender framework</a:t>
            </a:r>
            <a:endParaRPr lang="en-US" sz="950" dirty="0"/>
          </a:p>
        </p:txBody>
      </p:sp>
      <p:sp>
        <p:nvSpPr>
          <p:cNvPr id="27" name="priority-P5"/>
          <p:cNvSpPr/>
          <p:nvPr/>
        </p:nvSpPr>
        <p:spPr>
          <a:xfrm>
            <a:off x="4270248" y="3657600"/>
            <a:ext cx="3520440" cy="2148840"/>
          </a:xfrm>
          <a:prstGeom prst="roundRect">
            <a:avLst>
              <a:gd name="adj" fmla="val 3404"/>
            </a:avLst>
          </a:prstGeom>
          <a:solidFill>
            <a:srgbClr val="EEF3F5"/>
          </a:solidFill>
          <a:ln w="12700">
            <a:solidFill>
              <a:srgbClr val="EEF3F5"/>
            </a:solidFill>
            <a:prstDash val="solid"/>
          </a:ln>
        </p:spPr>
      </p:sp>
      <p:sp>
        <p:nvSpPr>
          <p:cNvPr id="28" name="priority-dot"/>
          <p:cNvSpPr/>
          <p:nvPr/>
        </p:nvSpPr>
        <p:spPr>
          <a:xfrm>
            <a:off x="4407408" y="3794760"/>
            <a:ext cx="457200" cy="457200"/>
          </a:xfrm>
          <a:prstGeom prst="ellipse">
            <a:avLst/>
          </a:prstGeom>
          <a:solidFill>
            <a:srgbClr val="123B4F"/>
          </a:solidFill>
          <a:ln w="12700">
            <a:solidFill>
              <a:srgbClr val="123B4F"/>
            </a:solidFill>
            <a:prstDash val="solid"/>
          </a:ln>
        </p:spPr>
      </p:sp>
      <p:sp>
        <p:nvSpPr>
          <p:cNvPr id="29" name="Text 27"/>
          <p:cNvSpPr txBox="1"/>
          <p:nvPr/>
        </p:nvSpPr>
        <p:spPr>
          <a:xfrm>
            <a:off x="4407408" y="3794760"/>
            <a:ext cx="457200" cy="457200"/>
          </a:xfrm>
          <a:prstGeom prst="rect">
            <a:avLst/>
          </a:prstGeom>
          <a:noFill/>
          <a:ln/>
        </p:spPr>
        <p:txBody>
          <a:bodyPr wrap="square" lIns="0" tIns="0" rIns="0" bIns="0" rtlCol="0" anchor="ctr"/>
          <a:lstStyle/>
          <a:p>
            <a:pPr algn="ctr" indent="0" marL="0">
              <a:buNone/>
            </a:pPr>
            <a:r>
              <a:rPr lang="en-US" sz="1300" b="1" dirty="0">
                <a:solidFill>
                  <a:srgbClr val="FFFFFF"/>
                </a:solidFill>
              </a:rPr>
              <a:t>P5</a:t>
            </a:r>
            <a:endParaRPr lang="en-US" sz="1300" dirty="0"/>
          </a:p>
        </p:txBody>
      </p:sp>
      <p:sp>
        <p:nvSpPr>
          <p:cNvPr id="30" name="Text 28"/>
          <p:cNvSpPr txBox="1"/>
          <p:nvPr/>
        </p:nvSpPr>
        <p:spPr>
          <a:xfrm>
            <a:off x="4983480" y="3749040"/>
            <a:ext cx="2697480" cy="548640"/>
          </a:xfrm>
          <a:prstGeom prst="rect">
            <a:avLst/>
          </a:prstGeom>
          <a:noFill/>
          <a:ln/>
        </p:spPr>
        <p:txBody>
          <a:bodyPr wrap="square" lIns="0" tIns="0" rIns="0" bIns="0" rtlCol="0" anchor="ctr"/>
          <a:lstStyle/>
          <a:p>
            <a:pPr indent="0" marL="0">
              <a:buNone/>
            </a:pPr>
            <a:r>
              <a:rPr lang="en-US" sz="1400" b="1" dirty="0">
                <a:solidFill>
                  <a:srgbClr val="123B4F"/>
                </a:solidFill>
                <a:latin typeface="Cambria" pitchFamily="34" charset="0"/>
                <a:ea typeface="Cambria" pitchFamily="34" charset="-122"/>
                <a:cs typeface="Cambria" pitchFamily="34" charset="-120"/>
              </a:rPr>
              <a:t>Decide industrial supply and regional trade</a:t>
            </a:r>
            <a:endParaRPr lang="en-US" sz="1400" dirty="0"/>
          </a:p>
        </p:txBody>
      </p:sp>
      <p:sp>
        <p:nvSpPr>
          <p:cNvPr id="31" name="Text 29"/>
          <p:cNvSpPr txBox="1"/>
          <p:nvPr/>
        </p:nvSpPr>
        <p:spPr>
          <a:xfrm>
            <a:off x="4434840" y="4370832"/>
            <a:ext cx="3200400" cy="868680"/>
          </a:xfrm>
          <a:prstGeom prst="rect">
            <a:avLst/>
          </a:prstGeom>
          <a:noFill/>
          <a:ln/>
        </p:spPr>
        <p:txBody>
          <a:bodyPr wrap="square" lIns="0" tIns="0" rIns="0" bIns="0" rtlCol="0" anchor="t"/>
          <a:lstStyle/>
          <a:p>
            <a:pPr indent="0" marL="0">
              <a:buNone/>
            </a:pPr>
            <a:r>
              <a:rPr lang="en-US" sz="1100" dirty="0">
                <a:solidFill>
                  <a:srgbClr val="1B2A33"/>
                </a:solidFill>
              </a:rPr>
              <a:t>Decide how mines and refineries are supplied (grid, shared or hybrid captive) and how connection costs are shared; strengthen WAPP trade and settlement.</a:t>
            </a:r>
            <a:endParaRPr lang="en-US" sz="1100" dirty="0"/>
          </a:p>
        </p:txBody>
      </p:sp>
      <p:sp>
        <p:nvSpPr>
          <p:cNvPr id="32" name="Text 30"/>
          <p:cNvSpPr txBox="1"/>
          <p:nvPr/>
        </p:nvSpPr>
        <p:spPr>
          <a:xfrm>
            <a:off x="4434840" y="5230368"/>
            <a:ext cx="3200400" cy="548640"/>
          </a:xfrm>
          <a:prstGeom prst="rect">
            <a:avLst/>
          </a:prstGeom>
          <a:noFill/>
          <a:ln/>
        </p:spPr>
        <p:txBody>
          <a:bodyPr wrap="square" lIns="0" tIns="0" rIns="0" bIns="0" rtlCol="0" anchor="t"/>
          <a:lstStyle/>
          <a:p>
            <a:pPr indent="0" marL="0">
              <a:buNone/>
            </a:pPr>
            <a:r>
              <a:rPr lang="en-US" sz="950" b="1" dirty="0">
                <a:solidFill>
                  <a:srgbClr val="4B5563"/>
                </a:solidFill>
              </a:rPr>
              <a:t>Depends on: </a:t>
            </a:r>
            <a:pPr indent="0" marL="0">
              <a:buNone/>
            </a:pPr>
            <a:r>
              <a:rPr lang="en-US" sz="950" dirty="0">
                <a:solidFill>
                  <a:srgbClr val="4B5563"/>
                </a:solidFill>
              </a:rPr>
              <a:t>P1, P2</a:t>
            </a:r>
            <a:endParaRPr lang="en-US" sz="950" dirty="0"/>
          </a:p>
          <a:p>
            <a:pPr indent="0" marL="0">
              <a:buNone/>
            </a:pPr>
            <a:r>
              <a:rPr lang="en-US" sz="950" b="1" dirty="0">
                <a:solidFill>
                  <a:srgbClr val="4B5563"/>
                </a:solidFill>
              </a:rPr>
              <a:t>Gate: </a:t>
            </a:r>
            <a:pPr indent="0" marL="0">
              <a:buNone/>
            </a:pPr>
            <a:r>
              <a:rPr lang="en-US" sz="950" dirty="0">
                <a:solidFill>
                  <a:srgbClr val="4B5563"/>
                </a:solidFill>
              </a:rPr>
              <a:t>Mining-supply policy; connection-cost rules</a:t>
            </a:r>
            <a:endParaRPr lang="en-US" sz="950" dirty="0"/>
          </a:p>
        </p:txBody>
      </p:sp>
      <p:sp>
        <p:nvSpPr>
          <p:cNvPr id="33" name="sequence"/>
          <p:cNvSpPr/>
          <p:nvPr/>
        </p:nvSpPr>
        <p:spPr>
          <a:xfrm>
            <a:off x="7991856" y="3657600"/>
            <a:ext cx="3621024" cy="2148840"/>
          </a:xfrm>
          <a:prstGeom prst="roundRect">
            <a:avLst>
              <a:gd name="adj" fmla="val 3404"/>
            </a:avLst>
          </a:prstGeom>
          <a:solidFill>
            <a:srgbClr val="FBF1E1"/>
          </a:solidFill>
          <a:ln w="12700">
            <a:solidFill>
              <a:srgbClr val="FBF1E1"/>
            </a:solidFill>
            <a:prstDash val="solid"/>
          </a:ln>
        </p:spPr>
      </p:sp>
      <p:sp>
        <p:nvSpPr>
          <p:cNvPr id="34" name="Text 32"/>
          <p:cNvSpPr txBox="1"/>
          <p:nvPr/>
        </p:nvSpPr>
        <p:spPr>
          <a:xfrm>
            <a:off x="8156448" y="3749040"/>
            <a:ext cx="3291840" cy="1965960"/>
          </a:xfrm>
          <a:prstGeom prst="rect">
            <a:avLst/>
          </a:prstGeom>
          <a:noFill/>
          <a:ln/>
        </p:spPr>
        <p:txBody>
          <a:bodyPr wrap="square" lIns="0" tIns="0" rIns="0" bIns="0" rtlCol="0" anchor="t"/>
          <a:lstStyle/>
          <a:p>
            <a:pPr indent="0" marL="0">
              <a:buNone/>
            </a:pPr>
            <a:r>
              <a:rPr lang="en-US" sz="1400" b="1" dirty="0">
                <a:solidFill>
                  <a:srgbClr val="123B4F"/>
                </a:solidFill>
              </a:rPr>
              <a:t>Why this order</a:t>
            </a:r>
            <a:endParaRPr lang="en-US" sz="1100" dirty="0"/>
          </a:p>
          <a:p>
            <a:pPr indent="0" marL="0">
              <a:buNone/>
            </a:pPr>
            <a:r>
              <a:rPr lang="en-US" sz="1100" dirty="0">
                <a:solidFill>
                  <a:srgbClr val="1B2A33"/>
                </a:solidFill>
              </a:rPr>
              <a:t>P4 is sized on P2, limited by P1 evacuation and made bankable by P3; P5 follows P1 and P2. A fixed technology volume should wait for P2 and a grid-integration study. Sequencing, not a least-cost optimisation.</a:t>
            </a:r>
            <a:endParaRPr lang="en-US" sz="1100" dirty="0"/>
          </a:p>
        </p:txBody>
      </p:sp>
      <p:sp>
        <p:nvSpPr>
          <p:cNvPr id="35" name="source"/>
          <p:cNvSpPr txBox="1"/>
          <p:nvPr/>
        </p:nvSpPr>
        <p:spPr>
          <a:xfrm>
            <a:off x="548640" y="5916168"/>
            <a:ext cx="11064240" cy="512064"/>
          </a:xfrm>
          <a:prstGeom prst="rect">
            <a:avLst/>
          </a:prstGeom>
          <a:noFill/>
          <a:ln/>
        </p:spPr>
        <p:txBody>
          <a:bodyPr wrap="square" rtlCol="0" anchor="t"/>
          <a:lstStyle/>
          <a:p>
            <a:pPr indent="0" marL="0">
              <a:buNone/>
            </a:pPr>
            <a:r>
              <a:rPr lang="en-US" sz="900" dirty="0">
                <a:solidFill>
                  <a:srgbClr val="4B5563"/>
                </a:solidFill>
              </a:rPr>
              <a:t>Priorities are technology-neutral sequencing recommendations drawn from the evidence; they are not official decisions.</a:t>
            </a:r>
            <a:endParaRPr lang="en-US" sz="900" dirty="0"/>
          </a:p>
        </p:txBody>
      </p:sp>
      <p:sp>
        <p:nvSpPr>
          <p:cNvPr id="25" name="Slide Number Placeholder 0"/>
          <p:cNvSpPr>
            <a:spLocks noGrp="1"/>
          </p:cNvSpPr>
          <p:nvPr>
            <p:ph type="sldNum" sz="quarter" idx="4294967295"/>
          </p:nvPr>
        </p:nvSpPr>
        <p:spPr>
          <a:xfrm>
            <a:off x="11155680" y="6446520"/>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4B5563"/>
                </a:solidFill>
                <a:latin typeface="Calibri"/>
                <a:ea typeface="Calibri"/>
                <a:cs typeface="Calibri"/>
              </a:defRPr>
            </a:lvl1pPr>
          </a:lstStyle>
          <a:p>
            <a:pPr algn="l"/>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rtlCol="0" anchor="ctr"/>
          <a:lstStyle/>
          <a:p>
            <a:pPr indent="0" marL="0">
              <a:buNone/>
            </a:pPr>
            <a:r>
              <a:rPr lang="en-US" sz="3000" b="1" dirty="0">
                <a:solidFill>
                  <a:srgbClr val="123B4F"/>
                </a:solidFill>
                <a:latin typeface="Cambria" pitchFamily="34" charset="0"/>
                <a:ea typeface="Cambria" pitchFamily="34" charset="-122"/>
                <a:cs typeface="Cambria" pitchFamily="34" charset="-120"/>
              </a:rPr>
              <a:t>Disposition, roadmap and decision gates</a:t>
            </a:r>
            <a:endParaRPr lang="en-US" sz="3000" dirty="0"/>
          </a:p>
        </p:txBody>
      </p:sp>
      <p:graphicFrame>
        <p:nvGraphicFramePr>
          <p:cNvPr id="14" name="Table 0"/>
          <p:cNvGraphicFramePr>
            <a:graphicFrameLocks noGrp="1"/>
          </p:cNvGraphicFramePr>
          <p:nvPr>
            <p:extLst>
              <p:ext uri="{D42A27DB-BD31-4B8C-83A1-F6EECF244321}">
                <p14:modId xmlns:p14="http://schemas.microsoft.com/office/powerpoint/2010/main" val="1579011935"/>
              </p:ext>
            </p:extLst>
          </p:nvPr>
        </p:nvGraphicFramePr>
        <p:xfrm>
          <a:off x="548640" y="1280160"/>
          <a:ext cx="7040880" cy="914400"/>
        </p:xfrm>
        <a:graphic>
          <a:graphicData uri="http://schemas.openxmlformats.org/drawingml/2006/table">
            <a:tbl>
              <a:tblPr/>
              <a:tblGrid>
                <a:gridCol w="1920240"/>
                <a:gridCol w="5120640"/>
              </a:tblGrid>
              <a:tr h="457200">
                <a:tc>
                  <a:txBody>
                    <a:bodyPr/>
                    <a:lstStyle/>
                    <a:p>
                      <a:pPr indent="0" marL="0">
                        <a:buNone/>
                      </a:pPr>
                      <a:r>
                        <a:rPr lang="en-US" sz="950" b="1" dirty="0">
                          <a:solidFill>
                            <a:srgbClr val="FFFFFF"/>
                          </a:solidFill>
                        </a:rPr>
                        <a:t>Disposition</a:t>
                      </a:r>
                      <a:endParaRPr lang="en-US" sz="950" dirty="0"/>
                    </a:p>
                  </a:txBody>
                  <a:tcPr marL="91440" marR="91440" marT="45720" marB="45720" anchor="ctr">
                    <a:lnL w="9525" cap="flat" cmpd="sng" algn="ctr">
                      <a:solidFill>
                        <a:srgbClr val="D7E3E8"/>
                      </a:solidFill>
                      <a:prstDash val="solid"/>
                      <a:round/>
                      <a:headEnd type="none" w="med" len="med"/>
                      <a:tailEnd type="none" w="med" len="med"/>
                    </a:lnL>
                    <a:lnR w="9525" cap="flat" cmpd="sng" algn="ctr">
                      <a:solidFill>
                        <a:srgbClr val="D7E3E8"/>
                      </a:solidFill>
                      <a:prstDash val="solid"/>
                      <a:round/>
                      <a:headEnd type="none" w="med" len="med"/>
                      <a:tailEnd type="none" w="med" len="med"/>
                    </a:lnR>
                    <a:lnT w="9525" cap="flat" cmpd="sng" algn="ctr">
                      <a:solidFill>
                        <a:srgbClr val="D7E3E8"/>
                      </a:solidFill>
                      <a:prstDash val="solid"/>
                      <a:round/>
                      <a:headEnd type="none" w="med" len="med"/>
                      <a:tailEnd type="none" w="med" len="med"/>
                    </a:lnT>
                    <a:lnB w="9525" cap="flat" cmpd="sng" algn="ctr">
                      <a:solidFill>
                        <a:srgbClr val="D7E3E8"/>
                      </a:solidFill>
                      <a:prstDash val="solid"/>
                      <a:round/>
                      <a:headEnd type="none" w="med" len="med"/>
                      <a:tailEnd type="none" w="med" len="med"/>
                    </a:lnB>
                    <a:solidFill>
                      <a:srgbClr val="123B4F"/>
                    </a:solidFill>
                  </a:tcPr>
                </a:tc>
                <a:tc>
                  <a:txBody>
                    <a:bodyPr/>
                    <a:lstStyle/>
                    <a:p>
                      <a:pPr indent="0" marL="0">
                        <a:buNone/>
                      </a:pPr>
                      <a:r>
                        <a:rPr lang="en-US" sz="950" b="1" dirty="0">
                          <a:solidFill>
                            <a:srgbClr val="FFFFFF"/>
                          </a:solidFill>
                        </a:rPr>
                        <a:t>Projects and technologies</a:t>
                      </a:r>
                      <a:endParaRPr lang="en-US" sz="950" dirty="0"/>
                    </a:p>
                  </a:txBody>
                  <a:tcPr marL="91440" marR="91440" marT="45720" marB="45720" anchor="ctr">
                    <a:lnL w="9525" cap="flat" cmpd="sng" algn="ctr">
                      <a:solidFill>
                        <a:srgbClr val="D7E3E8"/>
                      </a:solidFill>
                      <a:prstDash val="solid"/>
                      <a:round/>
                      <a:headEnd type="none" w="med" len="med"/>
                      <a:tailEnd type="none" w="med" len="med"/>
                    </a:lnL>
                    <a:lnR w="9525" cap="flat" cmpd="sng" algn="ctr">
                      <a:solidFill>
                        <a:srgbClr val="D7E3E8"/>
                      </a:solidFill>
                      <a:prstDash val="solid"/>
                      <a:round/>
                      <a:headEnd type="none" w="med" len="med"/>
                      <a:tailEnd type="none" w="med" len="med"/>
                    </a:lnR>
                    <a:lnT w="9525" cap="flat" cmpd="sng" algn="ctr">
                      <a:solidFill>
                        <a:srgbClr val="D7E3E8"/>
                      </a:solidFill>
                      <a:prstDash val="solid"/>
                      <a:round/>
                      <a:headEnd type="none" w="med" len="med"/>
                      <a:tailEnd type="none" w="med" len="med"/>
                    </a:lnT>
                    <a:lnB w="9525" cap="flat" cmpd="sng" algn="ctr">
                      <a:solidFill>
                        <a:srgbClr val="D7E3E8"/>
                      </a:solidFill>
                      <a:prstDash val="solid"/>
                      <a:round/>
                      <a:headEnd type="none" w="med" len="med"/>
                      <a:tailEnd type="none" w="med" len="med"/>
                    </a:lnB>
                    <a:solidFill>
                      <a:srgbClr val="123B4F"/>
                    </a:solidFill>
                  </a:tcPr>
                </a:tc>
              </a:tr>
              <a:tr h="457200">
                <a:tc>
                  <a:txBody>
                    <a:bodyPr/>
                    <a:lstStyle/>
                    <a:p>
                      <a:pPr indent="0" marL="0">
                        <a:buNone/>
                      </a:pPr>
                      <a:r>
                        <a:rPr lang="en-US" sz="950" b="1" dirty="0">
                          <a:solidFill>
                            <a:srgbClr val="1B2A33"/>
                          </a:solidFill>
                        </a:rPr>
                        <a:t>Complete and deliver</a:t>
                      </a:r>
                      <a:endParaRPr lang="en-US" sz="950" dirty="0"/>
                    </a:p>
                  </a:txBody>
                  <a:tcPr marL="91440" marR="91440" marT="45720" marB="45720" anchor="ctr">
                    <a:lnL w="9525" cap="flat" cmpd="sng" algn="ctr">
                      <a:solidFill>
                        <a:srgbClr val="D7E3E8"/>
                      </a:solidFill>
                      <a:prstDash val="solid"/>
                      <a:round/>
                      <a:headEnd type="none" w="med" len="med"/>
                      <a:tailEnd type="none" w="med" len="med"/>
                    </a:lnL>
                    <a:lnR w="9525" cap="flat" cmpd="sng" algn="ctr">
                      <a:solidFill>
                        <a:srgbClr val="D7E3E8"/>
                      </a:solidFill>
                      <a:prstDash val="solid"/>
                      <a:round/>
                      <a:headEnd type="none" w="med" len="med"/>
                      <a:tailEnd type="none" w="med" len="med"/>
                    </a:lnR>
                    <a:lnT w="9525" cap="flat" cmpd="sng" algn="ctr">
                      <a:solidFill>
                        <a:srgbClr val="D7E3E8"/>
                      </a:solidFill>
                      <a:prstDash val="solid"/>
                      <a:round/>
                      <a:headEnd type="none" w="med" len="med"/>
                      <a:tailEnd type="none" w="med" len="med"/>
                    </a:lnT>
                    <a:lnB w="9525" cap="flat" cmpd="sng" algn="ctr">
                      <a:solidFill>
                        <a:srgbClr val="D7E3E8"/>
                      </a:solidFill>
                      <a:prstDash val="solid"/>
                      <a:round/>
                      <a:headEnd type="none" w="med" len="med"/>
                      <a:tailEnd type="none" w="med" len="med"/>
                    </a:lnB>
                    <a:solidFill>
                      <a:srgbClr val="FFFFFF"/>
                    </a:solidFill>
                  </a:tcPr>
                </a:tc>
                <a:tc>
                  <a:txBody>
                    <a:bodyPr/>
                    <a:lstStyle/>
                    <a:p>
                      <a:pPr indent="0" marL="0">
                        <a:buNone/>
                      </a:pPr>
                      <a:r>
                        <a:rPr lang="en-US" sz="950" dirty="0">
                          <a:solidFill>
                            <a:srgbClr val="1B2A33"/>
                          </a:solidFill>
                        </a:rPr>
                        <a:t>Financed transmission (Linsan–Fomi, Manéah–Linsan, Guinea–Mali); Amaria with its evacuation; financed small hydro (EBID micro-hydro, Tinkisso 2) with dependable output documented.</a:t>
                      </a:r>
                      <a:endParaRPr lang="en-US" sz="950" dirty="0"/>
                    </a:p>
                  </a:txBody>
                  <a:tcPr marL="91440" marR="91440" marT="45720" marB="45720" anchor="ctr">
                    <a:lnL w="9525" cap="flat" cmpd="sng" algn="ctr">
                      <a:solidFill>
                        <a:srgbClr val="D7E3E8"/>
                      </a:solidFill>
                      <a:prstDash val="solid"/>
                      <a:round/>
                      <a:headEnd type="none" w="med" len="med"/>
                      <a:tailEnd type="none" w="med" len="med"/>
                    </a:lnL>
                    <a:lnR w="9525" cap="flat" cmpd="sng" algn="ctr">
                      <a:solidFill>
                        <a:srgbClr val="D7E3E8"/>
                      </a:solidFill>
                      <a:prstDash val="solid"/>
                      <a:round/>
                      <a:headEnd type="none" w="med" len="med"/>
                      <a:tailEnd type="none" w="med" len="med"/>
                    </a:lnR>
                    <a:lnT w="9525" cap="flat" cmpd="sng" algn="ctr">
                      <a:solidFill>
                        <a:srgbClr val="D7E3E8"/>
                      </a:solidFill>
                      <a:prstDash val="solid"/>
                      <a:round/>
                      <a:headEnd type="none" w="med" len="med"/>
                      <a:tailEnd type="none" w="med" len="med"/>
                    </a:lnT>
                    <a:lnB w="9525" cap="flat" cmpd="sng" algn="ctr">
                      <a:solidFill>
                        <a:srgbClr val="D7E3E8"/>
                      </a:solidFill>
                      <a:prstDash val="solid"/>
                      <a:round/>
                      <a:headEnd type="none" w="med" len="med"/>
                      <a:tailEnd type="none" w="med" len="med"/>
                    </a:lnB>
                    <a:solidFill>
                      <a:srgbClr val="FFFFFF"/>
                    </a:solidFill>
                  </a:tcPr>
                </a:tc>
              </a:tr>
              <a:tr h="457200">
                <a:tc>
                  <a:txBody>
                    <a:bodyPr/>
                    <a:lstStyle/>
                    <a:p>
                      <a:pPr indent="0" marL="0">
                        <a:buNone/>
                      </a:pPr>
                      <a:r>
                        <a:rPr lang="en-US" sz="950" b="1" dirty="0">
                          <a:solidFill>
                            <a:srgbClr val="1B2A33"/>
                          </a:solidFill>
                        </a:rPr>
                        <a:t>Verify status before planning on it</a:t>
                      </a:r>
                      <a:endParaRPr lang="en-US" sz="950" dirty="0"/>
                    </a:p>
                  </a:txBody>
                  <a:tcPr marL="91440" marR="91440" marT="45720" marB="45720" anchor="ctr">
                    <a:lnL w="9525" cap="flat" cmpd="sng" algn="ctr">
                      <a:solidFill>
                        <a:srgbClr val="D7E3E8"/>
                      </a:solidFill>
                      <a:prstDash val="solid"/>
                      <a:round/>
                      <a:headEnd type="none" w="med" len="med"/>
                      <a:tailEnd type="none" w="med" len="med"/>
                    </a:lnL>
                    <a:lnR w="9525" cap="flat" cmpd="sng" algn="ctr">
                      <a:solidFill>
                        <a:srgbClr val="D7E3E8"/>
                      </a:solidFill>
                      <a:prstDash val="solid"/>
                      <a:round/>
                      <a:headEnd type="none" w="med" len="med"/>
                      <a:tailEnd type="none" w="med" len="med"/>
                    </a:lnR>
                    <a:lnT w="9525" cap="flat" cmpd="sng" algn="ctr">
                      <a:solidFill>
                        <a:srgbClr val="D7E3E8"/>
                      </a:solidFill>
                      <a:prstDash val="solid"/>
                      <a:round/>
                      <a:headEnd type="none" w="med" len="med"/>
                      <a:tailEnd type="none" w="med" len="med"/>
                    </a:lnT>
                    <a:lnB w="9525" cap="flat" cmpd="sng" algn="ctr">
                      <a:solidFill>
                        <a:srgbClr val="D7E3E8"/>
                      </a:solidFill>
                      <a:prstDash val="solid"/>
                      <a:round/>
                      <a:headEnd type="none" w="med" len="med"/>
                      <a:tailEnd type="none" w="med" len="med"/>
                    </a:lnB>
                    <a:solidFill>
                      <a:srgbClr val="FFFFFF"/>
                    </a:solidFill>
                  </a:tcPr>
                </a:tc>
                <a:tc>
                  <a:txBody>
                    <a:bodyPr/>
                    <a:lstStyle/>
                    <a:p>
                      <a:pPr indent="0" marL="0">
                        <a:buNone/>
                      </a:pPr>
                      <a:r>
                        <a:rPr lang="en-US" sz="950" dirty="0">
                          <a:solidFill>
                            <a:srgbClr val="1B2A33"/>
                          </a:solidFill>
                        </a:rPr>
                        <a:t>Kamissaya/Kindia 50 MWc (scope and financing reported inconsistently); Khoumagueli 40 MWac (milestones missed); Kankan 40 MW HFO (works not tendered as of Jan-2026).</a:t>
                      </a:r>
                      <a:endParaRPr lang="en-US" sz="950" dirty="0"/>
                    </a:p>
                  </a:txBody>
                  <a:tcPr marL="91440" marR="91440" marT="45720" marB="45720" anchor="ctr">
                    <a:lnL w="9525" cap="flat" cmpd="sng" algn="ctr">
                      <a:solidFill>
                        <a:srgbClr val="D7E3E8"/>
                      </a:solidFill>
                      <a:prstDash val="solid"/>
                      <a:round/>
                      <a:headEnd type="none" w="med" len="med"/>
                      <a:tailEnd type="none" w="med" len="med"/>
                    </a:lnL>
                    <a:lnR w="9525" cap="flat" cmpd="sng" algn="ctr">
                      <a:solidFill>
                        <a:srgbClr val="D7E3E8"/>
                      </a:solidFill>
                      <a:prstDash val="solid"/>
                      <a:round/>
                      <a:headEnd type="none" w="med" len="med"/>
                      <a:tailEnd type="none" w="med" len="med"/>
                    </a:lnR>
                    <a:lnT w="9525" cap="flat" cmpd="sng" algn="ctr">
                      <a:solidFill>
                        <a:srgbClr val="D7E3E8"/>
                      </a:solidFill>
                      <a:prstDash val="solid"/>
                      <a:round/>
                      <a:headEnd type="none" w="med" len="med"/>
                      <a:tailEnd type="none" w="med" len="med"/>
                    </a:lnT>
                    <a:lnB w="9525" cap="flat" cmpd="sng" algn="ctr">
                      <a:solidFill>
                        <a:srgbClr val="D7E3E8"/>
                      </a:solidFill>
                      <a:prstDash val="solid"/>
                      <a:round/>
                      <a:headEnd type="none" w="med" len="med"/>
                      <a:tailEnd type="none" w="med" len="med"/>
                    </a:lnB>
                    <a:solidFill>
                      <a:srgbClr val="FFFFFF"/>
                    </a:solidFill>
                  </a:tcPr>
                </a:tc>
              </a:tr>
              <a:tr h="457200">
                <a:tc>
                  <a:txBody>
                    <a:bodyPr/>
                    <a:lstStyle/>
                    <a:p>
                      <a:pPr indent="0" marL="0">
                        <a:buNone/>
                      </a:pPr>
                      <a:r>
                        <a:rPr lang="en-US" sz="950" b="1" dirty="0">
                          <a:solidFill>
                            <a:srgbClr val="1B2A33"/>
                          </a:solidFill>
                        </a:rPr>
                        <a:t>Study before committing</a:t>
                      </a:r>
                      <a:endParaRPr lang="en-US" sz="950" dirty="0"/>
                    </a:p>
                  </a:txBody>
                  <a:tcPr marL="91440" marR="91440" marT="45720" marB="45720" anchor="ctr">
                    <a:lnL w="9525" cap="flat" cmpd="sng" algn="ctr">
                      <a:solidFill>
                        <a:srgbClr val="D7E3E8"/>
                      </a:solidFill>
                      <a:prstDash val="solid"/>
                      <a:round/>
                      <a:headEnd type="none" w="med" len="med"/>
                      <a:tailEnd type="none" w="med" len="med"/>
                    </a:lnL>
                    <a:lnR w="9525" cap="flat" cmpd="sng" algn="ctr">
                      <a:solidFill>
                        <a:srgbClr val="D7E3E8"/>
                      </a:solidFill>
                      <a:prstDash val="solid"/>
                      <a:round/>
                      <a:headEnd type="none" w="med" len="med"/>
                      <a:tailEnd type="none" w="med" len="med"/>
                    </a:lnR>
                    <a:lnT w="9525" cap="flat" cmpd="sng" algn="ctr">
                      <a:solidFill>
                        <a:srgbClr val="D7E3E8"/>
                      </a:solidFill>
                      <a:prstDash val="solid"/>
                      <a:round/>
                      <a:headEnd type="none" w="med" len="med"/>
                      <a:tailEnd type="none" w="med" len="med"/>
                    </a:lnT>
                    <a:lnB w="9525" cap="flat" cmpd="sng" algn="ctr">
                      <a:solidFill>
                        <a:srgbClr val="D7E3E8"/>
                      </a:solidFill>
                      <a:prstDash val="solid"/>
                      <a:round/>
                      <a:headEnd type="none" w="med" len="med"/>
                      <a:tailEnd type="none" w="med" len="med"/>
                    </a:lnB>
                    <a:solidFill>
                      <a:srgbClr val="FFFFFF"/>
                    </a:solidFill>
                  </a:tcPr>
                </a:tc>
                <a:tc>
                  <a:txBody>
                    <a:bodyPr/>
                    <a:lstStyle/>
                    <a:p>
                      <a:pPr indent="0" marL="0">
                        <a:buNone/>
                      </a:pPr>
                      <a:r>
                        <a:rPr lang="en-US" sz="950" dirty="0">
                          <a:solidFill>
                            <a:srgbClr val="1B2A33"/>
                          </a:solidFill>
                        </a:rPr>
                        <a:t>Konkouré cascade dependable capacity and operating rules; grid integration and hosting; storage beyond frequency reserve; wind (no measurements); mining-load supply options.</a:t>
                      </a:r>
                      <a:endParaRPr lang="en-US" sz="950" dirty="0"/>
                    </a:p>
                  </a:txBody>
                  <a:tcPr marL="91440" marR="91440" marT="45720" marB="45720" anchor="ctr">
                    <a:lnL w="9525" cap="flat" cmpd="sng" algn="ctr">
                      <a:solidFill>
                        <a:srgbClr val="D7E3E8"/>
                      </a:solidFill>
                      <a:prstDash val="solid"/>
                      <a:round/>
                      <a:headEnd type="none" w="med" len="med"/>
                      <a:tailEnd type="none" w="med" len="med"/>
                    </a:lnL>
                    <a:lnR w="9525" cap="flat" cmpd="sng" algn="ctr">
                      <a:solidFill>
                        <a:srgbClr val="D7E3E8"/>
                      </a:solidFill>
                      <a:prstDash val="solid"/>
                      <a:round/>
                      <a:headEnd type="none" w="med" len="med"/>
                      <a:tailEnd type="none" w="med" len="med"/>
                    </a:lnR>
                    <a:lnT w="9525" cap="flat" cmpd="sng" algn="ctr">
                      <a:solidFill>
                        <a:srgbClr val="D7E3E8"/>
                      </a:solidFill>
                      <a:prstDash val="solid"/>
                      <a:round/>
                      <a:headEnd type="none" w="med" len="med"/>
                      <a:tailEnd type="none" w="med" len="med"/>
                    </a:lnT>
                    <a:lnB w="9525" cap="flat" cmpd="sng" algn="ctr">
                      <a:solidFill>
                        <a:srgbClr val="D7E3E8"/>
                      </a:solidFill>
                      <a:prstDash val="solid"/>
                      <a:round/>
                      <a:headEnd type="none" w="med" len="med"/>
                      <a:tailEnd type="none" w="med" len="med"/>
                    </a:lnB>
                    <a:solidFill>
                      <a:srgbClr val="FFFFFF"/>
                    </a:solidFill>
                  </a:tcPr>
                </a:tc>
              </a:tr>
              <a:tr h="457200">
                <a:tc>
                  <a:txBody>
                    <a:bodyPr/>
                    <a:lstStyle/>
                    <a:p>
                      <a:pPr indent="0" marL="0">
                        <a:buNone/>
                      </a:pPr>
                      <a:r>
                        <a:rPr lang="en-US" sz="950" b="1" dirty="0">
                          <a:solidFill>
                            <a:srgbClr val="1B2A33"/>
                          </a:solidFill>
                        </a:rPr>
                        <a:t>Defer new commitments</a:t>
                      </a:r>
                      <a:endParaRPr lang="en-US" sz="950" dirty="0"/>
                    </a:p>
                  </a:txBody>
                  <a:tcPr marL="91440" marR="91440" marT="45720" marB="45720" anchor="ctr">
                    <a:lnL w="9525" cap="flat" cmpd="sng" algn="ctr">
                      <a:solidFill>
                        <a:srgbClr val="D7E3E8"/>
                      </a:solidFill>
                      <a:prstDash val="solid"/>
                      <a:round/>
                      <a:headEnd type="none" w="med" len="med"/>
                      <a:tailEnd type="none" w="med" len="med"/>
                    </a:lnL>
                    <a:lnR w="9525" cap="flat" cmpd="sng" algn="ctr">
                      <a:solidFill>
                        <a:srgbClr val="D7E3E8"/>
                      </a:solidFill>
                      <a:prstDash val="solid"/>
                      <a:round/>
                      <a:headEnd type="none" w="med" len="med"/>
                      <a:tailEnd type="none" w="med" len="med"/>
                    </a:lnR>
                    <a:lnT w="9525" cap="flat" cmpd="sng" algn="ctr">
                      <a:solidFill>
                        <a:srgbClr val="D7E3E8"/>
                      </a:solidFill>
                      <a:prstDash val="solid"/>
                      <a:round/>
                      <a:headEnd type="none" w="med" len="med"/>
                      <a:tailEnd type="none" w="med" len="med"/>
                    </a:lnT>
                    <a:lnB w="9525" cap="flat" cmpd="sng" algn="ctr">
                      <a:solidFill>
                        <a:srgbClr val="D7E3E8"/>
                      </a:solidFill>
                      <a:prstDash val="solid"/>
                      <a:round/>
                      <a:headEnd type="none" w="med" len="med"/>
                      <a:tailEnd type="none" w="med" len="med"/>
                    </a:lnB>
                    <a:solidFill>
                      <a:srgbClr val="FFFFFF"/>
                    </a:solidFill>
                  </a:tcPr>
                </a:tc>
                <a:tc>
                  <a:txBody>
                    <a:bodyPr/>
                    <a:lstStyle/>
                    <a:p>
                      <a:pPr indent="0" marL="0">
                        <a:buNone/>
                      </a:pPr>
                      <a:r>
                        <a:rPr lang="en-US" sz="950" dirty="0">
                          <a:solidFill>
                            <a:srgbClr val="1B2A33"/>
                          </a:solidFill>
                        </a:rPr>
                        <a:t>Next large hydro until dependable output, transboundary approvals and resettlement are documented; LNG-to-power until feasibility and gas-price evidence exist.</a:t>
                      </a:r>
                      <a:endParaRPr lang="en-US" sz="950" dirty="0"/>
                    </a:p>
                  </a:txBody>
                  <a:tcPr marL="91440" marR="91440" marT="45720" marB="45720" anchor="ctr">
                    <a:lnL w="9525" cap="flat" cmpd="sng" algn="ctr">
                      <a:solidFill>
                        <a:srgbClr val="D7E3E8"/>
                      </a:solidFill>
                      <a:prstDash val="solid"/>
                      <a:round/>
                      <a:headEnd type="none" w="med" len="med"/>
                      <a:tailEnd type="none" w="med" len="med"/>
                    </a:lnL>
                    <a:lnR w="9525" cap="flat" cmpd="sng" algn="ctr">
                      <a:solidFill>
                        <a:srgbClr val="D7E3E8"/>
                      </a:solidFill>
                      <a:prstDash val="solid"/>
                      <a:round/>
                      <a:headEnd type="none" w="med" len="med"/>
                      <a:tailEnd type="none" w="med" len="med"/>
                    </a:lnR>
                    <a:lnT w="9525" cap="flat" cmpd="sng" algn="ctr">
                      <a:solidFill>
                        <a:srgbClr val="D7E3E8"/>
                      </a:solidFill>
                      <a:prstDash val="solid"/>
                      <a:round/>
                      <a:headEnd type="none" w="med" len="med"/>
                      <a:tailEnd type="none" w="med" len="med"/>
                    </a:lnT>
                    <a:lnB w="9525" cap="flat" cmpd="sng" algn="ctr">
                      <a:solidFill>
                        <a:srgbClr val="D7E3E8"/>
                      </a:solidFill>
                      <a:prstDash val="solid"/>
                      <a:round/>
                      <a:headEnd type="none" w="med" len="med"/>
                      <a:tailEnd type="none" w="med" len="med"/>
                    </a:lnB>
                    <a:solidFill>
                      <a:srgbClr val="FFFFFF"/>
                    </a:solidFill>
                  </a:tcPr>
                </a:tc>
              </a:tr>
              <a:tr h="457200">
                <a:tc>
                  <a:txBody>
                    <a:bodyPr/>
                    <a:lstStyle/>
                    <a:p>
                      <a:pPr indent="0" marL="0">
                        <a:buNone/>
                      </a:pPr>
                      <a:r>
                        <a:rPr lang="en-US" sz="950" b="1" dirty="0">
                          <a:solidFill>
                            <a:srgbClr val="1B2A33"/>
                          </a:solidFill>
                        </a:rPr>
                        <a:t>Plan-level only</a:t>
                      </a:r>
                      <a:endParaRPr lang="en-US" sz="950" dirty="0"/>
                    </a:p>
                  </a:txBody>
                  <a:tcPr marL="91440" marR="91440" marT="45720" marB="45720" anchor="ctr">
                    <a:lnL w="9525" cap="flat" cmpd="sng" algn="ctr">
                      <a:solidFill>
                        <a:srgbClr val="D7E3E8"/>
                      </a:solidFill>
                      <a:prstDash val="solid"/>
                      <a:round/>
                      <a:headEnd type="none" w="med" len="med"/>
                      <a:tailEnd type="none" w="med" len="med"/>
                    </a:lnL>
                    <a:lnR w="9525" cap="flat" cmpd="sng" algn="ctr">
                      <a:solidFill>
                        <a:srgbClr val="D7E3E8"/>
                      </a:solidFill>
                      <a:prstDash val="solid"/>
                      <a:round/>
                      <a:headEnd type="none" w="med" len="med"/>
                      <a:tailEnd type="none" w="med" len="med"/>
                    </a:lnR>
                    <a:lnT w="9525" cap="flat" cmpd="sng" algn="ctr">
                      <a:solidFill>
                        <a:srgbClr val="D7E3E8"/>
                      </a:solidFill>
                      <a:prstDash val="solid"/>
                      <a:round/>
                      <a:headEnd type="none" w="med" len="med"/>
                      <a:tailEnd type="none" w="med" len="med"/>
                    </a:lnT>
                    <a:lnB w="9525" cap="flat" cmpd="sng" algn="ctr">
                      <a:solidFill>
                        <a:srgbClr val="D7E3E8"/>
                      </a:solidFill>
                      <a:prstDash val="solid"/>
                      <a:round/>
                      <a:headEnd type="none" w="med" len="med"/>
                      <a:tailEnd type="none" w="med" len="med"/>
                    </a:lnB>
                    <a:solidFill>
                      <a:srgbClr val="FFFFFF"/>
                    </a:solidFill>
                  </a:tcPr>
                </a:tc>
                <a:tc>
                  <a:txBody>
                    <a:bodyPr/>
                    <a:lstStyle/>
                    <a:p>
                      <a:pPr indent="0" marL="0">
                        <a:buNone/>
                      </a:pPr>
                      <a:r>
                        <a:rPr lang="en-US" sz="950" dirty="0">
                          <a:solidFill>
                            <a:srgbClr val="1B2A33"/>
                          </a:solidFill>
                        </a:rPr>
                        <a:t>About 1 GW of compact solar listings and other announced or proposed projects (possible duplicates).</a:t>
                      </a:r>
                      <a:endParaRPr lang="en-US" sz="950" dirty="0"/>
                    </a:p>
                  </a:txBody>
                  <a:tcPr marL="91440" marR="91440" marT="45720" marB="45720" anchor="ctr">
                    <a:lnL w="9525" cap="flat" cmpd="sng" algn="ctr">
                      <a:solidFill>
                        <a:srgbClr val="D7E3E8"/>
                      </a:solidFill>
                      <a:prstDash val="solid"/>
                      <a:round/>
                      <a:headEnd type="none" w="med" len="med"/>
                      <a:tailEnd type="none" w="med" len="med"/>
                    </a:lnL>
                    <a:lnR w="9525" cap="flat" cmpd="sng" algn="ctr">
                      <a:solidFill>
                        <a:srgbClr val="D7E3E8"/>
                      </a:solidFill>
                      <a:prstDash val="solid"/>
                      <a:round/>
                      <a:headEnd type="none" w="med" len="med"/>
                      <a:tailEnd type="none" w="med" len="med"/>
                    </a:lnR>
                    <a:lnT w="9525" cap="flat" cmpd="sng" algn="ctr">
                      <a:solidFill>
                        <a:srgbClr val="D7E3E8"/>
                      </a:solidFill>
                      <a:prstDash val="solid"/>
                      <a:round/>
                      <a:headEnd type="none" w="med" len="med"/>
                      <a:tailEnd type="none" w="med" len="med"/>
                    </a:lnT>
                    <a:lnB w="9525" cap="flat" cmpd="sng" algn="ctr">
                      <a:solidFill>
                        <a:srgbClr val="D7E3E8"/>
                      </a:solidFill>
                      <a:prstDash val="solid"/>
                      <a:round/>
                      <a:headEnd type="none" w="med" len="med"/>
                      <a:tailEnd type="none" w="med" len="med"/>
                    </a:lnB>
                    <a:solidFill>
                      <a:srgbClr val="FFFFFF"/>
                    </a:solidFill>
                  </a:tcPr>
                </a:tc>
              </a:tr>
            </a:tbl>
          </a:graphicData>
        </a:graphic>
      </p:graphicFrame>
      <p:graphicFrame>
        <p:nvGraphicFramePr>
          <p:cNvPr id="27" name="Table 1"/>
          <p:cNvGraphicFramePr>
            <a:graphicFrameLocks noGrp="1"/>
          </p:cNvGraphicFramePr>
          <p:nvPr>
            <p:extLst>
              <p:ext uri="{D42A27DB-BD31-4B8C-83A1-F6EECF244321}">
                <p14:modId xmlns:p14="http://schemas.microsoft.com/office/powerpoint/2010/main" val="1579011935"/>
              </p:ext>
            </p:extLst>
          </p:nvPr>
        </p:nvGraphicFramePr>
        <p:xfrm>
          <a:off x="7772400" y="1280160"/>
          <a:ext cx="3840480" cy="914400"/>
        </p:xfrm>
        <a:graphic>
          <a:graphicData uri="http://schemas.openxmlformats.org/drawingml/2006/table">
            <a:tbl>
              <a:tblPr/>
              <a:tblGrid>
                <a:gridCol w="1005840"/>
                <a:gridCol w="2834640"/>
              </a:tblGrid>
              <a:tr h="548640">
                <a:tc>
                  <a:txBody>
                    <a:bodyPr/>
                    <a:lstStyle/>
                    <a:p>
                      <a:pPr indent="0" marL="0">
                        <a:buNone/>
                      </a:pPr>
                      <a:r>
                        <a:rPr lang="en-US" sz="950" b="1" dirty="0">
                          <a:solidFill>
                            <a:srgbClr val="FFFFFF"/>
                          </a:solidFill>
                        </a:rPr>
                        <a:t>Horizon</a:t>
                      </a:r>
                      <a:endParaRPr lang="en-US" sz="950" dirty="0"/>
                    </a:p>
                  </a:txBody>
                  <a:tcPr marL="91440" marR="91440" marT="45720" marB="45720" anchor="ctr">
                    <a:lnL w="9525" cap="flat" cmpd="sng" algn="ctr">
                      <a:solidFill>
                        <a:srgbClr val="D7E3E8"/>
                      </a:solidFill>
                      <a:prstDash val="solid"/>
                      <a:round/>
                      <a:headEnd type="none" w="med" len="med"/>
                      <a:tailEnd type="none" w="med" len="med"/>
                    </a:lnL>
                    <a:lnR w="9525" cap="flat" cmpd="sng" algn="ctr">
                      <a:solidFill>
                        <a:srgbClr val="D7E3E8"/>
                      </a:solidFill>
                      <a:prstDash val="solid"/>
                      <a:round/>
                      <a:headEnd type="none" w="med" len="med"/>
                      <a:tailEnd type="none" w="med" len="med"/>
                    </a:lnR>
                    <a:lnT w="9525" cap="flat" cmpd="sng" algn="ctr">
                      <a:solidFill>
                        <a:srgbClr val="D7E3E8"/>
                      </a:solidFill>
                      <a:prstDash val="solid"/>
                      <a:round/>
                      <a:headEnd type="none" w="med" len="med"/>
                      <a:tailEnd type="none" w="med" len="med"/>
                    </a:lnT>
                    <a:lnB w="9525" cap="flat" cmpd="sng" algn="ctr">
                      <a:solidFill>
                        <a:srgbClr val="D7E3E8"/>
                      </a:solidFill>
                      <a:prstDash val="solid"/>
                      <a:round/>
                      <a:headEnd type="none" w="med" len="med"/>
                      <a:tailEnd type="none" w="med" len="med"/>
                    </a:lnB>
                    <a:solidFill>
                      <a:srgbClr val="123B4F"/>
                    </a:solidFill>
                  </a:tcPr>
                </a:tc>
                <a:tc>
                  <a:txBody>
                    <a:bodyPr/>
                    <a:lstStyle/>
                    <a:p>
                      <a:pPr indent="0" marL="0">
                        <a:buNone/>
                      </a:pPr>
                      <a:r>
                        <a:rPr lang="en-US" sz="950" b="1" dirty="0">
                          <a:solidFill>
                            <a:srgbClr val="FFFFFF"/>
                          </a:solidFill>
                        </a:rPr>
                        <a:t>Government, EDG and regulator</a:t>
                      </a:r>
                      <a:endParaRPr lang="en-US" sz="950" dirty="0"/>
                    </a:p>
                  </a:txBody>
                  <a:tcPr marL="91440" marR="91440" marT="45720" marB="45720" anchor="ctr">
                    <a:lnL w="9525" cap="flat" cmpd="sng" algn="ctr">
                      <a:solidFill>
                        <a:srgbClr val="D7E3E8"/>
                      </a:solidFill>
                      <a:prstDash val="solid"/>
                      <a:round/>
                      <a:headEnd type="none" w="med" len="med"/>
                      <a:tailEnd type="none" w="med" len="med"/>
                    </a:lnL>
                    <a:lnR w="9525" cap="flat" cmpd="sng" algn="ctr">
                      <a:solidFill>
                        <a:srgbClr val="D7E3E8"/>
                      </a:solidFill>
                      <a:prstDash val="solid"/>
                      <a:round/>
                      <a:headEnd type="none" w="med" len="med"/>
                      <a:tailEnd type="none" w="med" len="med"/>
                    </a:lnR>
                    <a:lnT w="9525" cap="flat" cmpd="sng" algn="ctr">
                      <a:solidFill>
                        <a:srgbClr val="D7E3E8"/>
                      </a:solidFill>
                      <a:prstDash val="solid"/>
                      <a:round/>
                      <a:headEnd type="none" w="med" len="med"/>
                      <a:tailEnd type="none" w="med" len="med"/>
                    </a:lnT>
                    <a:lnB w="9525" cap="flat" cmpd="sng" algn="ctr">
                      <a:solidFill>
                        <a:srgbClr val="D7E3E8"/>
                      </a:solidFill>
                      <a:prstDash val="solid"/>
                      <a:round/>
                      <a:headEnd type="none" w="med" len="med"/>
                      <a:tailEnd type="none" w="med" len="med"/>
                    </a:lnB>
                    <a:solidFill>
                      <a:srgbClr val="123B4F"/>
                    </a:solidFill>
                  </a:tcPr>
                </a:tc>
              </a:tr>
              <a:tr h="548640">
                <a:tc>
                  <a:txBody>
                    <a:bodyPr/>
                    <a:lstStyle/>
                    <a:p>
                      <a:pPr indent="0" marL="0">
                        <a:buNone/>
                      </a:pPr>
                      <a:r>
                        <a:rPr lang="en-US" sz="950" b="1" dirty="0">
                          <a:solidFill>
                            <a:srgbClr val="1B2A33"/>
                          </a:solidFill>
                        </a:rPr>
                        <a:t>0–12 months</a:t>
                      </a:r>
                      <a:endParaRPr lang="en-US" sz="950" dirty="0"/>
                    </a:p>
                  </a:txBody>
                  <a:tcPr marL="91440" marR="91440" marT="45720" marB="45720" anchor="ctr">
                    <a:lnL w="9525" cap="flat" cmpd="sng" algn="ctr">
                      <a:solidFill>
                        <a:srgbClr val="D7E3E8"/>
                      </a:solidFill>
                      <a:prstDash val="solid"/>
                      <a:round/>
                      <a:headEnd type="none" w="med" len="med"/>
                      <a:tailEnd type="none" w="med" len="med"/>
                    </a:lnL>
                    <a:lnR w="9525" cap="flat" cmpd="sng" algn="ctr">
                      <a:solidFill>
                        <a:srgbClr val="D7E3E8"/>
                      </a:solidFill>
                      <a:prstDash val="solid"/>
                      <a:round/>
                      <a:headEnd type="none" w="med" len="med"/>
                      <a:tailEnd type="none" w="med" len="med"/>
                    </a:lnR>
                    <a:lnT w="9525" cap="flat" cmpd="sng" algn="ctr">
                      <a:solidFill>
                        <a:srgbClr val="D7E3E8"/>
                      </a:solidFill>
                      <a:prstDash val="solid"/>
                      <a:round/>
                      <a:headEnd type="none" w="med" len="med"/>
                      <a:tailEnd type="none" w="med" len="med"/>
                    </a:lnT>
                    <a:lnB w="9525" cap="flat" cmpd="sng" algn="ctr">
                      <a:solidFill>
                        <a:srgbClr val="D7E3E8"/>
                      </a:solidFill>
                      <a:prstDash val="solid"/>
                      <a:round/>
                      <a:headEnd type="none" w="med" len="med"/>
                      <a:tailEnd type="none" w="med" len="med"/>
                    </a:lnB>
                    <a:solidFill>
                      <a:srgbClr val="FFFFFF"/>
                    </a:solidFill>
                  </a:tcPr>
                </a:tc>
                <a:tc>
                  <a:txBody>
                    <a:bodyPr/>
                    <a:lstStyle/>
                    <a:p>
                      <a:pPr indent="0" marL="0">
                        <a:buNone/>
                      </a:pPr>
                      <a:r>
                        <a:rPr lang="en-US" sz="950" dirty="0">
                          <a:solidFill>
                            <a:srgbClr val="1B2A33"/>
                          </a:solidFill>
                        </a:rPr>
                        <a:t>Works schedules (P1); dependable-capacity study and load curve (P2); arrears plan (P3); GNEAP-2 mini-grid selection</a:t>
                      </a:r>
                      <a:endParaRPr lang="en-US" sz="950" dirty="0"/>
                    </a:p>
                  </a:txBody>
                  <a:tcPr marL="91440" marR="91440" marT="45720" marB="45720" anchor="ctr">
                    <a:lnL w="9525" cap="flat" cmpd="sng" algn="ctr">
                      <a:solidFill>
                        <a:srgbClr val="D7E3E8"/>
                      </a:solidFill>
                      <a:prstDash val="solid"/>
                      <a:round/>
                      <a:headEnd type="none" w="med" len="med"/>
                      <a:tailEnd type="none" w="med" len="med"/>
                    </a:lnL>
                    <a:lnR w="9525" cap="flat" cmpd="sng" algn="ctr">
                      <a:solidFill>
                        <a:srgbClr val="D7E3E8"/>
                      </a:solidFill>
                      <a:prstDash val="solid"/>
                      <a:round/>
                      <a:headEnd type="none" w="med" len="med"/>
                      <a:tailEnd type="none" w="med" len="med"/>
                    </a:lnR>
                    <a:lnT w="9525" cap="flat" cmpd="sng" algn="ctr">
                      <a:solidFill>
                        <a:srgbClr val="D7E3E8"/>
                      </a:solidFill>
                      <a:prstDash val="solid"/>
                      <a:round/>
                      <a:headEnd type="none" w="med" len="med"/>
                      <a:tailEnd type="none" w="med" len="med"/>
                    </a:lnT>
                    <a:lnB w="9525" cap="flat" cmpd="sng" algn="ctr">
                      <a:solidFill>
                        <a:srgbClr val="D7E3E8"/>
                      </a:solidFill>
                      <a:prstDash val="solid"/>
                      <a:round/>
                      <a:headEnd type="none" w="med" len="med"/>
                      <a:tailEnd type="none" w="med" len="med"/>
                    </a:lnB>
                    <a:solidFill>
                      <a:srgbClr val="FFFFFF"/>
                    </a:solidFill>
                  </a:tcPr>
                </a:tc>
              </a:tr>
              <a:tr h="548640">
                <a:tc>
                  <a:txBody>
                    <a:bodyPr/>
                    <a:lstStyle/>
                    <a:p>
                      <a:pPr indent="0" marL="0">
                        <a:buNone/>
                      </a:pPr>
                      <a:r>
                        <a:rPr lang="en-US" sz="950" b="1" dirty="0">
                          <a:solidFill>
                            <a:srgbClr val="1B2A33"/>
                          </a:solidFill>
                        </a:rPr>
                        <a:t>1–3 years</a:t>
                      </a:r>
                      <a:endParaRPr lang="en-US" sz="950" dirty="0"/>
                    </a:p>
                  </a:txBody>
                  <a:tcPr marL="91440" marR="91440" marT="45720" marB="45720" anchor="ctr">
                    <a:lnL w="9525" cap="flat" cmpd="sng" algn="ctr">
                      <a:solidFill>
                        <a:srgbClr val="D7E3E8"/>
                      </a:solidFill>
                      <a:prstDash val="solid"/>
                      <a:round/>
                      <a:headEnd type="none" w="med" len="med"/>
                      <a:tailEnd type="none" w="med" len="med"/>
                    </a:lnL>
                    <a:lnR w="9525" cap="flat" cmpd="sng" algn="ctr">
                      <a:solidFill>
                        <a:srgbClr val="D7E3E8"/>
                      </a:solidFill>
                      <a:prstDash val="solid"/>
                      <a:round/>
                      <a:headEnd type="none" w="med" len="med"/>
                      <a:tailEnd type="none" w="med" len="med"/>
                    </a:lnR>
                    <a:lnT w="9525" cap="flat" cmpd="sng" algn="ctr">
                      <a:solidFill>
                        <a:srgbClr val="D7E3E8"/>
                      </a:solidFill>
                      <a:prstDash val="solid"/>
                      <a:round/>
                      <a:headEnd type="none" w="med" len="med"/>
                      <a:tailEnd type="none" w="med" len="med"/>
                    </a:lnT>
                    <a:lnB w="9525" cap="flat" cmpd="sng" algn="ctr">
                      <a:solidFill>
                        <a:srgbClr val="D7E3E8"/>
                      </a:solidFill>
                      <a:prstDash val="solid"/>
                      <a:round/>
                      <a:headEnd type="none" w="med" len="med"/>
                      <a:tailEnd type="none" w="med" len="med"/>
                    </a:lnB>
                    <a:solidFill>
                      <a:srgbClr val="FFFFFF"/>
                    </a:solidFill>
                  </a:tcPr>
                </a:tc>
                <a:tc>
                  <a:txBody>
                    <a:bodyPr/>
                    <a:lstStyle/>
                    <a:p>
                      <a:pPr indent="0" marL="0">
                        <a:buNone/>
                      </a:pPr>
                      <a:r>
                        <a:rPr lang="en-US" sz="950" dirty="0">
                          <a:solidFill>
                            <a:srgbClr val="1B2A33"/>
                          </a:solidFill>
                        </a:rPr>
                        <a:t>Grid-integration study; least-cost plan; tender framework; La Côtière financing; Amaria commissioning</a:t>
                      </a:r>
                      <a:endParaRPr lang="en-US" sz="950" dirty="0"/>
                    </a:p>
                  </a:txBody>
                  <a:tcPr marL="91440" marR="91440" marT="45720" marB="45720" anchor="ctr">
                    <a:lnL w="9525" cap="flat" cmpd="sng" algn="ctr">
                      <a:solidFill>
                        <a:srgbClr val="D7E3E8"/>
                      </a:solidFill>
                      <a:prstDash val="solid"/>
                      <a:round/>
                      <a:headEnd type="none" w="med" len="med"/>
                      <a:tailEnd type="none" w="med" len="med"/>
                    </a:lnL>
                    <a:lnR w="9525" cap="flat" cmpd="sng" algn="ctr">
                      <a:solidFill>
                        <a:srgbClr val="D7E3E8"/>
                      </a:solidFill>
                      <a:prstDash val="solid"/>
                      <a:round/>
                      <a:headEnd type="none" w="med" len="med"/>
                      <a:tailEnd type="none" w="med" len="med"/>
                    </a:lnR>
                    <a:lnT w="9525" cap="flat" cmpd="sng" algn="ctr">
                      <a:solidFill>
                        <a:srgbClr val="D7E3E8"/>
                      </a:solidFill>
                      <a:prstDash val="solid"/>
                      <a:round/>
                      <a:headEnd type="none" w="med" len="med"/>
                      <a:tailEnd type="none" w="med" len="med"/>
                    </a:lnT>
                    <a:lnB w="9525" cap="flat" cmpd="sng" algn="ctr">
                      <a:solidFill>
                        <a:srgbClr val="D7E3E8"/>
                      </a:solidFill>
                      <a:prstDash val="solid"/>
                      <a:round/>
                      <a:headEnd type="none" w="med" len="med"/>
                      <a:tailEnd type="none" w="med" len="med"/>
                    </a:lnB>
                    <a:solidFill>
                      <a:srgbClr val="FFFFFF"/>
                    </a:solidFill>
                  </a:tcPr>
                </a:tc>
              </a:tr>
              <a:tr h="548640">
                <a:tc>
                  <a:txBody>
                    <a:bodyPr/>
                    <a:lstStyle/>
                    <a:p>
                      <a:pPr indent="0" marL="0">
                        <a:buNone/>
                      </a:pPr>
                      <a:r>
                        <a:rPr lang="en-US" sz="950" b="1" dirty="0">
                          <a:solidFill>
                            <a:srgbClr val="1B2A33"/>
                          </a:solidFill>
                        </a:rPr>
                        <a:t>3–5 years</a:t>
                      </a:r>
                      <a:endParaRPr lang="en-US" sz="950" dirty="0"/>
                    </a:p>
                  </a:txBody>
                  <a:tcPr marL="91440" marR="91440" marT="45720" marB="45720" anchor="ctr">
                    <a:lnL w="9525" cap="flat" cmpd="sng" algn="ctr">
                      <a:solidFill>
                        <a:srgbClr val="D7E3E8"/>
                      </a:solidFill>
                      <a:prstDash val="solid"/>
                      <a:round/>
                      <a:headEnd type="none" w="med" len="med"/>
                      <a:tailEnd type="none" w="med" len="med"/>
                    </a:lnL>
                    <a:lnR w="9525" cap="flat" cmpd="sng" algn="ctr">
                      <a:solidFill>
                        <a:srgbClr val="D7E3E8"/>
                      </a:solidFill>
                      <a:prstDash val="solid"/>
                      <a:round/>
                      <a:headEnd type="none" w="med" len="med"/>
                      <a:tailEnd type="none" w="med" len="med"/>
                    </a:lnR>
                    <a:lnT w="9525" cap="flat" cmpd="sng" algn="ctr">
                      <a:solidFill>
                        <a:srgbClr val="D7E3E8"/>
                      </a:solidFill>
                      <a:prstDash val="solid"/>
                      <a:round/>
                      <a:headEnd type="none" w="med" len="med"/>
                      <a:tailEnd type="none" w="med" len="med"/>
                    </a:lnT>
                    <a:lnB w="9525" cap="flat" cmpd="sng" algn="ctr">
                      <a:solidFill>
                        <a:srgbClr val="D7E3E8"/>
                      </a:solidFill>
                      <a:prstDash val="solid"/>
                      <a:round/>
                      <a:headEnd type="none" w="med" len="med"/>
                      <a:tailEnd type="none" w="med" len="med"/>
                    </a:lnB>
                    <a:solidFill>
                      <a:srgbClr val="FFFFFF"/>
                    </a:solidFill>
                  </a:tcPr>
                </a:tc>
                <a:tc>
                  <a:txBody>
                    <a:bodyPr/>
                    <a:lstStyle/>
                    <a:p>
                      <a:pPr indent="0" marL="0">
                        <a:buNone/>
                      </a:pPr>
                      <a:r>
                        <a:rPr lang="en-US" sz="950" dirty="0">
                          <a:solidFill>
                            <a:srgbClr val="1B2A33"/>
                          </a:solidFill>
                        </a:rPr>
                        <a:t>Competitive procurement of firm and renewable capacity; regulator operational</a:t>
                      </a:r>
                      <a:endParaRPr lang="en-US" sz="950" dirty="0"/>
                    </a:p>
                  </a:txBody>
                  <a:tcPr marL="91440" marR="91440" marT="45720" marB="45720" anchor="ctr">
                    <a:lnL w="9525" cap="flat" cmpd="sng" algn="ctr">
                      <a:solidFill>
                        <a:srgbClr val="D7E3E8"/>
                      </a:solidFill>
                      <a:prstDash val="solid"/>
                      <a:round/>
                      <a:headEnd type="none" w="med" len="med"/>
                      <a:tailEnd type="none" w="med" len="med"/>
                    </a:lnL>
                    <a:lnR w="9525" cap="flat" cmpd="sng" algn="ctr">
                      <a:solidFill>
                        <a:srgbClr val="D7E3E8"/>
                      </a:solidFill>
                      <a:prstDash val="solid"/>
                      <a:round/>
                      <a:headEnd type="none" w="med" len="med"/>
                      <a:tailEnd type="none" w="med" len="med"/>
                    </a:lnR>
                    <a:lnT w="9525" cap="flat" cmpd="sng" algn="ctr">
                      <a:solidFill>
                        <a:srgbClr val="D7E3E8"/>
                      </a:solidFill>
                      <a:prstDash val="solid"/>
                      <a:round/>
                      <a:headEnd type="none" w="med" len="med"/>
                      <a:tailEnd type="none" w="med" len="med"/>
                    </a:lnT>
                    <a:lnB w="9525" cap="flat" cmpd="sng" algn="ctr">
                      <a:solidFill>
                        <a:srgbClr val="D7E3E8"/>
                      </a:solidFill>
                      <a:prstDash val="solid"/>
                      <a:round/>
                      <a:headEnd type="none" w="med" len="med"/>
                      <a:tailEnd type="none" w="med" len="med"/>
                    </a:lnB>
                    <a:solidFill>
                      <a:srgbClr val="FFFFFF"/>
                    </a:solidFill>
                  </a:tcPr>
                </a:tc>
              </a:tr>
              <a:tr h="548640">
                <a:tc>
                  <a:txBody>
                    <a:bodyPr/>
                    <a:lstStyle/>
                    <a:p>
                      <a:pPr indent="0" marL="0">
                        <a:buNone/>
                      </a:pPr>
                      <a:r>
                        <a:rPr lang="en-US" sz="950" b="1" dirty="0">
                          <a:solidFill>
                            <a:srgbClr val="1B2A33"/>
                          </a:solidFill>
                        </a:rPr>
                        <a:t>5–10 years</a:t>
                      </a:r>
                      <a:endParaRPr lang="en-US" sz="950" dirty="0"/>
                    </a:p>
                  </a:txBody>
                  <a:tcPr marL="91440" marR="91440" marT="45720" marB="45720" anchor="ctr">
                    <a:lnL w="9525" cap="flat" cmpd="sng" algn="ctr">
                      <a:solidFill>
                        <a:srgbClr val="D7E3E8"/>
                      </a:solidFill>
                      <a:prstDash val="solid"/>
                      <a:round/>
                      <a:headEnd type="none" w="med" len="med"/>
                      <a:tailEnd type="none" w="med" len="med"/>
                    </a:lnL>
                    <a:lnR w="9525" cap="flat" cmpd="sng" algn="ctr">
                      <a:solidFill>
                        <a:srgbClr val="D7E3E8"/>
                      </a:solidFill>
                      <a:prstDash val="solid"/>
                      <a:round/>
                      <a:headEnd type="none" w="med" len="med"/>
                      <a:tailEnd type="none" w="med" len="med"/>
                    </a:lnR>
                    <a:lnT w="9525" cap="flat" cmpd="sng" algn="ctr">
                      <a:solidFill>
                        <a:srgbClr val="D7E3E8"/>
                      </a:solidFill>
                      <a:prstDash val="solid"/>
                      <a:round/>
                      <a:headEnd type="none" w="med" len="med"/>
                      <a:tailEnd type="none" w="med" len="med"/>
                    </a:lnT>
                    <a:lnB w="9525" cap="flat" cmpd="sng" algn="ctr">
                      <a:solidFill>
                        <a:srgbClr val="D7E3E8"/>
                      </a:solidFill>
                      <a:prstDash val="solid"/>
                      <a:round/>
                      <a:headEnd type="none" w="med" len="med"/>
                      <a:tailEnd type="none" w="med" len="med"/>
                    </a:lnB>
                    <a:solidFill>
                      <a:srgbClr val="FFFFFF"/>
                    </a:solidFill>
                  </a:tcPr>
                </a:tc>
                <a:tc>
                  <a:txBody>
                    <a:bodyPr/>
                    <a:lstStyle/>
                    <a:p>
                      <a:pPr indent="0" marL="0">
                        <a:buNone/>
                      </a:pPr>
                      <a:r>
                        <a:rPr lang="en-US" sz="950" dirty="0">
                          <a:solidFill>
                            <a:srgbClr val="1B2A33"/>
                          </a:solidFill>
                        </a:rPr>
                        <a:t>Next large hydro chosen on dependable output; grid code; third-party access</a:t>
                      </a:r>
                      <a:endParaRPr lang="en-US" sz="950" dirty="0"/>
                    </a:p>
                  </a:txBody>
                  <a:tcPr marL="91440" marR="91440" marT="45720" marB="45720" anchor="ctr">
                    <a:lnL w="9525" cap="flat" cmpd="sng" algn="ctr">
                      <a:solidFill>
                        <a:srgbClr val="D7E3E8"/>
                      </a:solidFill>
                      <a:prstDash val="solid"/>
                      <a:round/>
                      <a:headEnd type="none" w="med" len="med"/>
                      <a:tailEnd type="none" w="med" len="med"/>
                    </a:lnL>
                    <a:lnR w="9525" cap="flat" cmpd="sng" algn="ctr">
                      <a:solidFill>
                        <a:srgbClr val="D7E3E8"/>
                      </a:solidFill>
                      <a:prstDash val="solid"/>
                      <a:round/>
                      <a:headEnd type="none" w="med" len="med"/>
                      <a:tailEnd type="none" w="med" len="med"/>
                    </a:lnR>
                    <a:lnT w="9525" cap="flat" cmpd="sng" algn="ctr">
                      <a:solidFill>
                        <a:srgbClr val="D7E3E8"/>
                      </a:solidFill>
                      <a:prstDash val="solid"/>
                      <a:round/>
                      <a:headEnd type="none" w="med" len="med"/>
                      <a:tailEnd type="none" w="med" len="med"/>
                    </a:lnT>
                    <a:lnB w="9525" cap="flat" cmpd="sng" algn="ctr">
                      <a:solidFill>
                        <a:srgbClr val="D7E3E8"/>
                      </a:solidFill>
                      <a:prstDash val="solid"/>
                      <a:round/>
                      <a:headEnd type="none" w="med" len="med"/>
                      <a:tailEnd type="none" w="med" len="med"/>
                    </a:lnB>
                    <a:solidFill>
                      <a:srgbClr val="FFFFFF"/>
                    </a:solidFill>
                  </a:tcPr>
                </a:tc>
              </a:tr>
            </a:tbl>
          </a:graphicData>
        </a:graphic>
      </p:graphicFrame>
      <p:sp>
        <p:nvSpPr>
          <p:cNvPr id="5" name="national-gate"/>
          <p:cNvSpPr/>
          <p:nvPr/>
        </p:nvSpPr>
        <p:spPr>
          <a:xfrm>
            <a:off x="548640" y="4983480"/>
            <a:ext cx="2103120" cy="868680"/>
          </a:xfrm>
          <a:prstGeom prst="roundRect">
            <a:avLst>
              <a:gd name="adj" fmla="val 6316"/>
            </a:avLst>
          </a:prstGeom>
          <a:solidFill>
            <a:srgbClr val="123B4F"/>
          </a:solidFill>
          <a:ln w="12700">
            <a:solidFill>
              <a:srgbClr val="123B4F"/>
            </a:solidFill>
            <a:prstDash val="solid"/>
          </a:ln>
        </p:spPr>
      </p:sp>
      <p:sp>
        <p:nvSpPr>
          <p:cNvPr id="6" name="Text 2"/>
          <p:cNvSpPr txBox="1"/>
          <p:nvPr/>
        </p:nvSpPr>
        <p:spPr>
          <a:xfrm>
            <a:off x="640080" y="5010912"/>
            <a:ext cx="1920240" cy="822960"/>
          </a:xfrm>
          <a:prstGeom prst="rect">
            <a:avLst/>
          </a:prstGeom>
          <a:noFill/>
          <a:ln/>
        </p:spPr>
        <p:txBody>
          <a:bodyPr wrap="square" lIns="0" tIns="0" rIns="0" bIns="0" rtlCol="0" anchor="t"/>
          <a:lstStyle/>
          <a:p>
            <a:pPr indent="0" marL="0">
              <a:buNone/>
            </a:pPr>
            <a:r>
              <a:rPr lang="en-US" sz="1150" b="1" dirty="0">
                <a:solidFill>
                  <a:srgbClr val="FFFFFF"/>
                </a:solidFill>
              </a:rPr>
              <a:t>N1</a:t>
            </a:r>
            <a:endParaRPr lang="en-US" sz="1150" dirty="0"/>
          </a:p>
          <a:p>
            <a:pPr indent="0" marL="0">
              <a:buNone/>
            </a:pPr>
            <a:r>
              <a:rPr lang="en-US" sz="1000" dirty="0">
                <a:solidFill>
                  <a:srgbClr val="FFFFFF"/>
                </a:solidFill>
              </a:rPr>
              <a:t>Works schedules published and contracts awarded for financed lines</a:t>
            </a:r>
            <a:endParaRPr lang="en-US" sz="1150" dirty="0"/>
          </a:p>
        </p:txBody>
      </p:sp>
      <p:sp>
        <p:nvSpPr>
          <p:cNvPr id="7" name="national-gate"/>
          <p:cNvSpPr/>
          <p:nvPr/>
        </p:nvSpPr>
        <p:spPr>
          <a:xfrm>
            <a:off x="2788920" y="4983480"/>
            <a:ext cx="2103120" cy="868680"/>
          </a:xfrm>
          <a:prstGeom prst="roundRect">
            <a:avLst>
              <a:gd name="adj" fmla="val 6316"/>
            </a:avLst>
          </a:prstGeom>
          <a:solidFill>
            <a:srgbClr val="123B4F"/>
          </a:solidFill>
          <a:ln w="12700">
            <a:solidFill>
              <a:srgbClr val="123B4F"/>
            </a:solidFill>
            <a:prstDash val="solid"/>
          </a:ln>
        </p:spPr>
      </p:sp>
      <p:sp>
        <p:nvSpPr>
          <p:cNvPr id="8" name="Text 4"/>
          <p:cNvSpPr txBox="1"/>
          <p:nvPr/>
        </p:nvSpPr>
        <p:spPr>
          <a:xfrm>
            <a:off x="2880360" y="5010912"/>
            <a:ext cx="1920240" cy="822960"/>
          </a:xfrm>
          <a:prstGeom prst="rect">
            <a:avLst/>
          </a:prstGeom>
          <a:noFill/>
          <a:ln/>
        </p:spPr>
        <p:txBody>
          <a:bodyPr wrap="square" lIns="0" tIns="0" rIns="0" bIns="0" rtlCol="0" anchor="t"/>
          <a:lstStyle/>
          <a:p>
            <a:pPr indent="0" marL="0">
              <a:buNone/>
            </a:pPr>
            <a:r>
              <a:rPr lang="en-US" sz="1150" b="1" dirty="0">
                <a:solidFill>
                  <a:srgbClr val="FFFFFF"/>
                </a:solidFill>
              </a:rPr>
              <a:t>N2</a:t>
            </a:r>
            <a:endParaRPr lang="en-US" sz="1150" dirty="0"/>
          </a:p>
          <a:p>
            <a:pPr indent="0" marL="0">
              <a:buNone/>
            </a:pPr>
            <a:r>
              <a:rPr lang="en-US" sz="1000" dirty="0">
                <a:solidFill>
                  <a:srgbClr val="FFFFFF"/>
                </a:solidFill>
              </a:rPr>
              <a:t>Plant-level dependable capacity and an hourly load curve published</a:t>
            </a:r>
            <a:endParaRPr lang="en-US" sz="1150" dirty="0"/>
          </a:p>
        </p:txBody>
      </p:sp>
      <p:sp>
        <p:nvSpPr>
          <p:cNvPr id="9" name="national-gate"/>
          <p:cNvSpPr/>
          <p:nvPr/>
        </p:nvSpPr>
        <p:spPr>
          <a:xfrm>
            <a:off x="5029200" y="4983480"/>
            <a:ext cx="2103120" cy="868680"/>
          </a:xfrm>
          <a:prstGeom prst="roundRect">
            <a:avLst>
              <a:gd name="adj" fmla="val 6316"/>
            </a:avLst>
          </a:prstGeom>
          <a:solidFill>
            <a:srgbClr val="123B4F"/>
          </a:solidFill>
          <a:ln w="12700">
            <a:solidFill>
              <a:srgbClr val="123B4F"/>
            </a:solidFill>
            <a:prstDash val="solid"/>
          </a:ln>
        </p:spPr>
      </p:sp>
      <p:sp>
        <p:nvSpPr>
          <p:cNvPr id="10" name="Text 6"/>
          <p:cNvSpPr txBox="1"/>
          <p:nvPr/>
        </p:nvSpPr>
        <p:spPr>
          <a:xfrm>
            <a:off x="5120640" y="5010912"/>
            <a:ext cx="1920240" cy="822960"/>
          </a:xfrm>
          <a:prstGeom prst="rect">
            <a:avLst/>
          </a:prstGeom>
          <a:noFill/>
          <a:ln/>
        </p:spPr>
        <p:txBody>
          <a:bodyPr wrap="square" lIns="0" tIns="0" rIns="0" bIns="0" rtlCol="0" anchor="t"/>
          <a:lstStyle/>
          <a:p>
            <a:pPr indent="0" marL="0">
              <a:buNone/>
            </a:pPr>
            <a:r>
              <a:rPr lang="en-US" sz="1150" b="1" dirty="0">
                <a:solidFill>
                  <a:srgbClr val="FFFFFF"/>
                </a:solidFill>
              </a:rPr>
              <a:t>N3</a:t>
            </a:r>
            <a:endParaRPr lang="en-US" sz="1150" dirty="0"/>
          </a:p>
          <a:p>
            <a:pPr indent="0" marL="0">
              <a:buNone/>
            </a:pPr>
            <a:r>
              <a:rPr lang="en-US" sz="1000" dirty="0">
                <a:solidFill>
                  <a:srgbClr val="FFFFFF"/>
                </a:solidFill>
              </a:rPr>
              <a:t>Arrears plan adopted; guarantee eligibility confirmed</a:t>
            </a:r>
            <a:endParaRPr lang="en-US" sz="1150" dirty="0"/>
          </a:p>
        </p:txBody>
      </p:sp>
      <p:sp>
        <p:nvSpPr>
          <p:cNvPr id="11" name="national-gate"/>
          <p:cNvSpPr/>
          <p:nvPr/>
        </p:nvSpPr>
        <p:spPr>
          <a:xfrm>
            <a:off x="7269480" y="4983480"/>
            <a:ext cx="2103120" cy="868680"/>
          </a:xfrm>
          <a:prstGeom prst="roundRect">
            <a:avLst>
              <a:gd name="adj" fmla="val 6316"/>
            </a:avLst>
          </a:prstGeom>
          <a:solidFill>
            <a:srgbClr val="123B4F"/>
          </a:solidFill>
          <a:ln w="12700">
            <a:solidFill>
              <a:srgbClr val="123B4F"/>
            </a:solidFill>
            <a:prstDash val="solid"/>
          </a:ln>
        </p:spPr>
      </p:sp>
      <p:sp>
        <p:nvSpPr>
          <p:cNvPr id="12" name="Text 8"/>
          <p:cNvSpPr txBox="1"/>
          <p:nvPr/>
        </p:nvSpPr>
        <p:spPr>
          <a:xfrm>
            <a:off x="7360920" y="5010912"/>
            <a:ext cx="1920240" cy="822960"/>
          </a:xfrm>
          <a:prstGeom prst="rect">
            <a:avLst/>
          </a:prstGeom>
          <a:noFill/>
          <a:ln/>
        </p:spPr>
        <p:txBody>
          <a:bodyPr wrap="square" lIns="0" tIns="0" rIns="0" bIns="0" rtlCol="0" anchor="t"/>
          <a:lstStyle/>
          <a:p>
            <a:pPr indent="0" marL="0">
              <a:buNone/>
            </a:pPr>
            <a:r>
              <a:rPr lang="en-US" sz="1150" b="1" dirty="0">
                <a:solidFill>
                  <a:srgbClr val="FFFFFF"/>
                </a:solidFill>
              </a:rPr>
              <a:t>N4</a:t>
            </a:r>
            <a:endParaRPr lang="en-US" sz="1150" dirty="0"/>
          </a:p>
          <a:p>
            <a:pPr indent="0" marL="0">
              <a:buNone/>
            </a:pPr>
            <a:r>
              <a:rPr lang="en-US" sz="1000" dirty="0">
                <a:solidFill>
                  <a:srgbClr val="FFFFFF"/>
                </a:solidFill>
              </a:rPr>
              <a:t>Least-cost plan and grid-integration study completed; tender framework issued</a:t>
            </a:r>
            <a:endParaRPr lang="en-US" sz="1150" dirty="0"/>
          </a:p>
        </p:txBody>
      </p:sp>
      <p:sp>
        <p:nvSpPr>
          <p:cNvPr id="13" name="national-gate"/>
          <p:cNvSpPr/>
          <p:nvPr/>
        </p:nvSpPr>
        <p:spPr>
          <a:xfrm>
            <a:off x="9509760" y="4983480"/>
            <a:ext cx="2103120" cy="868680"/>
          </a:xfrm>
          <a:prstGeom prst="roundRect">
            <a:avLst>
              <a:gd name="adj" fmla="val 6316"/>
            </a:avLst>
          </a:prstGeom>
          <a:solidFill>
            <a:srgbClr val="123B4F"/>
          </a:solidFill>
          <a:ln w="12700">
            <a:solidFill>
              <a:srgbClr val="123B4F"/>
            </a:solidFill>
            <a:prstDash val="solid"/>
          </a:ln>
        </p:spPr>
      </p:sp>
      <p:sp>
        <p:nvSpPr>
          <p:cNvPr id="14" name="Text 10"/>
          <p:cNvSpPr txBox="1"/>
          <p:nvPr/>
        </p:nvSpPr>
        <p:spPr>
          <a:xfrm>
            <a:off x="9601200" y="5010912"/>
            <a:ext cx="1920240" cy="822960"/>
          </a:xfrm>
          <a:prstGeom prst="rect">
            <a:avLst/>
          </a:prstGeom>
          <a:noFill/>
          <a:ln/>
        </p:spPr>
        <p:txBody>
          <a:bodyPr wrap="square" lIns="0" tIns="0" rIns="0" bIns="0" rtlCol="0" anchor="t"/>
          <a:lstStyle/>
          <a:p>
            <a:pPr indent="0" marL="0">
              <a:buNone/>
            </a:pPr>
            <a:r>
              <a:rPr lang="en-US" sz="1150" b="1" dirty="0">
                <a:solidFill>
                  <a:srgbClr val="FFFFFF"/>
                </a:solidFill>
              </a:rPr>
              <a:t>N5</a:t>
            </a:r>
            <a:endParaRPr lang="en-US" sz="1150" dirty="0"/>
          </a:p>
          <a:p>
            <a:pPr indent="0" marL="0">
              <a:buNone/>
            </a:pPr>
            <a:r>
              <a:rPr lang="en-US" sz="1000" dirty="0">
                <a:solidFill>
                  <a:srgbClr val="FFFFFF"/>
                </a:solidFill>
              </a:rPr>
              <a:t>Policy on mining supply and connection-cost sharing adopted</a:t>
            </a:r>
            <a:endParaRPr lang="en-US" sz="1150" dirty="0"/>
          </a:p>
        </p:txBody>
      </p:sp>
      <p:sp>
        <p:nvSpPr>
          <p:cNvPr id="15" name="source"/>
          <p:cNvSpPr txBox="1"/>
          <p:nvPr/>
        </p:nvSpPr>
        <p:spPr>
          <a:xfrm>
            <a:off x="548640" y="5916168"/>
            <a:ext cx="11064240" cy="512064"/>
          </a:xfrm>
          <a:prstGeom prst="rect">
            <a:avLst/>
          </a:prstGeom>
          <a:noFill/>
          <a:ln/>
        </p:spPr>
        <p:txBody>
          <a:bodyPr wrap="square" rtlCol="0" anchor="t"/>
          <a:lstStyle/>
          <a:p>
            <a:pPr indent="0" marL="0">
              <a:buNone/>
            </a:pPr>
            <a:r>
              <a:rPr lang="en-US" sz="900" dirty="0">
                <a:solidFill>
                  <a:srgbClr val="4B5563"/>
                </a:solidFill>
              </a:rPr>
              <a:t>Sources: project documents cited per project in the online platform (Projects tab) and the reference list at the end. Qualified readings of current evidence; not investment recommendations or official decisions. Planning horizons, not confirmed schedules.</a:t>
            </a:r>
            <a:endParaRPr lang="en-US" sz="900" dirty="0"/>
          </a:p>
        </p:txBody>
      </p:sp>
      <p:sp>
        <p:nvSpPr>
          <p:cNvPr id="25" name="Slide Number Placeholder 0"/>
          <p:cNvSpPr>
            <a:spLocks noGrp="1"/>
          </p:cNvSpPr>
          <p:nvPr>
            <p:ph type="sldNum" sz="quarter" idx="4294967295"/>
          </p:nvPr>
        </p:nvSpPr>
        <p:spPr>
          <a:xfrm>
            <a:off x="11155680" y="6446520"/>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4B5563"/>
                </a:solidFill>
                <a:latin typeface="Calibri"/>
                <a:ea typeface="Calibri"/>
                <a:cs typeface="Calibri"/>
              </a:defRPr>
            </a:lvl1pPr>
          </a:lstStyle>
          <a:p>
            <a:pPr algn="l"/>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rtlCol="0" anchor="ctr"/>
          <a:lstStyle/>
          <a:p>
            <a:pPr indent="0" marL="0">
              <a:buNone/>
            </a:pPr>
            <a:r>
              <a:rPr lang="en-US" sz="3000" b="1" dirty="0">
                <a:solidFill>
                  <a:srgbClr val="123B4F"/>
                </a:solidFill>
                <a:latin typeface="Cambria" pitchFamily="34" charset="0"/>
                <a:ea typeface="Cambria" pitchFamily="34" charset="-122"/>
                <a:cs typeface="Cambria" pitchFamily="34" charset="-120"/>
              </a:rPr>
              <a:t>Prioritised action plan</a:t>
            </a:r>
            <a:endParaRPr lang="en-US" sz="3000" dirty="0"/>
          </a:p>
        </p:txBody>
      </p:sp>
      <p:sp>
        <p:nvSpPr>
          <p:cNvPr id="3" name="phase-head"/>
          <p:cNvSpPr/>
          <p:nvPr/>
        </p:nvSpPr>
        <p:spPr>
          <a:xfrm>
            <a:off x="548640" y="1325880"/>
            <a:ext cx="3520440" cy="548640"/>
          </a:xfrm>
          <a:prstGeom prst="roundRect">
            <a:avLst>
              <a:gd name="adj" fmla="val 13333"/>
            </a:avLst>
          </a:prstGeom>
          <a:solidFill>
            <a:srgbClr val="B5452E"/>
          </a:solidFill>
          <a:ln w="12700">
            <a:solidFill>
              <a:srgbClr val="B5452E"/>
            </a:solidFill>
            <a:prstDash val="solid"/>
          </a:ln>
        </p:spPr>
      </p:sp>
      <p:sp>
        <p:nvSpPr>
          <p:cNvPr id="4" name="Text 2"/>
          <p:cNvSpPr txBox="1"/>
          <p:nvPr/>
        </p:nvSpPr>
        <p:spPr>
          <a:xfrm>
            <a:off x="685800" y="1325880"/>
            <a:ext cx="3246120" cy="548640"/>
          </a:xfrm>
          <a:prstGeom prst="rect">
            <a:avLst/>
          </a:prstGeom>
          <a:noFill/>
          <a:ln/>
        </p:spPr>
        <p:txBody>
          <a:bodyPr wrap="square" lIns="0" tIns="0" rIns="0" bIns="0" rtlCol="0" anchor="ctr"/>
          <a:lstStyle/>
          <a:p>
            <a:pPr indent="0" marL="0">
              <a:buNone/>
            </a:pPr>
            <a:r>
              <a:rPr lang="en-US" sz="1700" b="1" dirty="0">
                <a:solidFill>
                  <a:srgbClr val="FFFFFF"/>
                </a:solidFill>
                <a:latin typeface="Cambria" pitchFamily="34" charset="0"/>
                <a:ea typeface="Cambria" pitchFamily="34" charset="-122"/>
                <a:cs typeface="Cambria" pitchFamily="34" charset="-120"/>
              </a:rPr>
              <a:t>Immediate (12 months)</a:t>
            </a:r>
            <a:endParaRPr lang="en-US" sz="1700" dirty="0"/>
          </a:p>
        </p:txBody>
      </p:sp>
      <p:sp>
        <p:nvSpPr>
          <p:cNvPr id="5" name="phase-body"/>
          <p:cNvSpPr/>
          <p:nvPr/>
        </p:nvSpPr>
        <p:spPr>
          <a:xfrm>
            <a:off x="548640" y="1965960"/>
            <a:ext cx="3520440" cy="3977640"/>
          </a:xfrm>
          <a:prstGeom prst="roundRect">
            <a:avLst>
              <a:gd name="adj" fmla="val 2078"/>
            </a:avLst>
          </a:prstGeom>
          <a:solidFill>
            <a:srgbClr val="EEF3F5"/>
          </a:solidFill>
          <a:ln w="12700">
            <a:solidFill>
              <a:srgbClr val="EEF3F5"/>
            </a:solidFill>
            <a:prstDash val="solid"/>
          </a:ln>
        </p:spPr>
      </p:sp>
      <p:sp>
        <p:nvSpPr>
          <p:cNvPr id="6" name="bullets"/>
          <p:cNvSpPr txBox="1"/>
          <p:nvPr/>
        </p:nvSpPr>
        <p:spPr>
          <a:xfrm>
            <a:off x="658368" y="2057400"/>
            <a:ext cx="3291840" cy="3840480"/>
          </a:xfrm>
          <a:prstGeom prst="rect">
            <a:avLst/>
          </a:prstGeom>
          <a:noFill/>
          <a:ln/>
        </p:spPr>
        <p:txBody>
          <a:bodyPr wrap="square" rtlCol="0" anchor="t"/>
          <a:lstStyle/>
          <a:p>
            <a:pPr marL="342900" indent="-342900">
              <a:spcAft>
                <a:spcPts val="800"/>
              </a:spcAft>
              <a:buSzPct val="100000"/>
              <a:buChar char="•"/>
            </a:pPr>
            <a:r>
              <a:rPr lang="en-US" sz="1300" dirty="0">
                <a:solidFill>
                  <a:srgbClr val="1B2A33"/>
                </a:solidFill>
              </a:rPr>
              <a:t>Konkouré cascade dependable-capacity and rules study</a:t>
            </a:r>
            <a:endParaRPr lang="en-US" sz="1300" dirty="0"/>
          </a:p>
          <a:p>
            <a:pPr marL="342900" indent="-342900">
              <a:spcAft>
                <a:spcPts val="800"/>
              </a:spcAft>
              <a:buSzPct val="100000"/>
              <a:buChar char="•"/>
            </a:pPr>
            <a:r>
              <a:rPr lang="en-US" sz="1300" dirty="0">
                <a:solidFill>
                  <a:srgbClr val="1B2A33"/>
                </a:solidFill>
              </a:rPr>
              <a:t>Unblock financed works: Linsan–Fomi, Manéah–Linsan, Kankan</a:t>
            </a:r>
            <a:endParaRPr lang="en-US" sz="1300" dirty="0"/>
          </a:p>
          <a:p>
            <a:pPr marL="342900" indent="-342900">
              <a:spcAft>
                <a:spcPts val="800"/>
              </a:spcAft>
              <a:buSzPct val="100000"/>
              <a:buChar char="•"/>
            </a:pPr>
            <a:r>
              <a:rPr lang="en-US" sz="1300" dirty="0">
                <a:solidFill>
                  <a:srgbClr val="1B2A33"/>
                </a:solidFill>
              </a:rPr>
              <a:t>Producer-arrears plan and public payment discipline</a:t>
            </a:r>
            <a:endParaRPr lang="en-US" sz="1300" dirty="0"/>
          </a:p>
          <a:p>
            <a:pPr marL="342900" indent="-342900">
              <a:spcAft>
                <a:spcPts val="800"/>
              </a:spcAft>
              <a:buSzPct val="100000"/>
              <a:buChar char="•"/>
            </a:pPr>
            <a:r>
              <a:rPr lang="en-US" sz="1300" dirty="0">
                <a:solidFill>
                  <a:srgbClr val="1B2A33"/>
                </a:solidFill>
              </a:rPr>
              <a:t>Technology-open firm-capacity procurement</a:t>
            </a:r>
            <a:endParaRPr lang="en-US" sz="1300" dirty="0"/>
          </a:p>
          <a:p>
            <a:pPr marL="342900" indent="-342900">
              <a:spcAft>
                <a:spcPts val="800"/>
              </a:spcAft>
              <a:buSzPct val="100000"/>
              <a:buChar char="•"/>
            </a:pPr>
            <a:r>
              <a:rPr lang="en-US" sz="1300" dirty="0">
                <a:solidFill>
                  <a:srgbClr val="1B2A33"/>
                </a:solidFill>
              </a:rPr>
              <a:t>Assess a 13.2 MW reserve battery (study)</a:t>
            </a:r>
            <a:endParaRPr lang="en-US" sz="1300" dirty="0"/>
          </a:p>
          <a:p>
            <a:pPr marL="342900" indent="-342900">
              <a:spcAft>
                <a:spcPts val="800"/>
              </a:spcAft>
              <a:buSzPct val="100000"/>
              <a:buChar char="•"/>
            </a:pPr>
            <a:r>
              <a:rPr lang="en-US" sz="1300" dirty="0">
                <a:solidFill>
                  <a:srgbClr val="1B2A33"/>
                </a:solidFill>
              </a:rPr>
              <a:t>Publish load curve; reconcile 2024 data</a:t>
            </a:r>
            <a:endParaRPr lang="en-US" sz="1300" dirty="0"/>
          </a:p>
        </p:txBody>
      </p:sp>
      <p:sp>
        <p:nvSpPr>
          <p:cNvPr id="7" name="phase-head"/>
          <p:cNvSpPr/>
          <p:nvPr/>
        </p:nvSpPr>
        <p:spPr>
          <a:xfrm>
            <a:off x="4270248" y="1325880"/>
            <a:ext cx="3520440" cy="548640"/>
          </a:xfrm>
          <a:prstGeom prst="roundRect">
            <a:avLst>
              <a:gd name="adj" fmla="val 13333"/>
            </a:avLst>
          </a:prstGeom>
          <a:solidFill>
            <a:srgbClr val="1F7A8C"/>
          </a:solidFill>
          <a:ln w="12700">
            <a:solidFill>
              <a:srgbClr val="1F7A8C"/>
            </a:solidFill>
            <a:prstDash val="solid"/>
          </a:ln>
        </p:spPr>
      </p:sp>
      <p:sp>
        <p:nvSpPr>
          <p:cNvPr id="8" name="Text 6"/>
          <p:cNvSpPr txBox="1"/>
          <p:nvPr/>
        </p:nvSpPr>
        <p:spPr>
          <a:xfrm>
            <a:off x="4407408" y="1325880"/>
            <a:ext cx="3246120" cy="548640"/>
          </a:xfrm>
          <a:prstGeom prst="rect">
            <a:avLst/>
          </a:prstGeom>
          <a:noFill/>
          <a:ln/>
        </p:spPr>
        <p:txBody>
          <a:bodyPr wrap="square" lIns="0" tIns="0" rIns="0" bIns="0" rtlCol="0" anchor="ctr"/>
          <a:lstStyle/>
          <a:p>
            <a:pPr indent="0" marL="0">
              <a:buNone/>
            </a:pPr>
            <a:r>
              <a:rPr lang="en-US" sz="1700" b="1" dirty="0">
                <a:solidFill>
                  <a:srgbClr val="FFFFFF"/>
                </a:solidFill>
                <a:latin typeface="Cambria" pitchFamily="34" charset="0"/>
                <a:ea typeface="Cambria" pitchFamily="34" charset="-122"/>
                <a:cs typeface="Cambria" pitchFamily="34" charset="-120"/>
              </a:rPr>
              <a:t>2027–2029</a:t>
            </a:r>
            <a:endParaRPr lang="en-US" sz="1700" dirty="0"/>
          </a:p>
        </p:txBody>
      </p:sp>
      <p:sp>
        <p:nvSpPr>
          <p:cNvPr id="9" name="phase-body"/>
          <p:cNvSpPr/>
          <p:nvPr/>
        </p:nvSpPr>
        <p:spPr>
          <a:xfrm>
            <a:off x="4270248" y="1965960"/>
            <a:ext cx="3520440" cy="3977640"/>
          </a:xfrm>
          <a:prstGeom prst="roundRect">
            <a:avLst>
              <a:gd name="adj" fmla="val 2078"/>
            </a:avLst>
          </a:prstGeom>
          <a:solidFill>
            <a:srgbClr val="EEF3F5"/>
          </a:solidFill>
          <a:ln w="12700">
            <a:solidFill>
              <a:srgbClr val="EEF3F5"/>
            </a:solidFill>
            <a:prstDash val="solid"/>
          </a:ln>
        </p:spPr>
      </p:sp>
      <p:sp>
        <p:nvSpPr>
          <p:cNvPr id="10" name="bullets"/>
          <p:cNvSpPr txBox="1"/>
          <p:nvPr/>
        </p:nvSpPr>
        <p:spPr>
          <a:xfrm>
            <a:off x="4379976" y="2057400"/>
            <a:ext cx="3291840" cy="3840480"/>
          </a:xfrm>
          <a:prstGeom prst="rect">
            <a:avLst/>
          </a:prstGeom>
          <a:noFill/>
          <a:ln/>
        </p:spPr>
        <p:txBody>
          <a:bodyPr wrap="square" rtlCol="0" anchor="t"/>
          <a:lstStyle/>
          <a:p>
            <a:pPr marL="342900" indent="-342900">
              <a:spcAft>
                <a:spcPts val="800"/>
              </a:spcAft>
              <a:buSzPct val="100000"/>
              <a:buChar char="•"/>
            </a:pPr>
            <a:r>
              <a:rPr lang="en-US" sz="1300" dirty="0">
                <a:solidFill>
                  <a:srgbClr val="1B2A33"/>
                </a:solidFill>
              </a:rPr>
              <a:t>Complete Conakry reinforcement and backbone lines</a:t>
            </a:r>
            <a:endParaRPr lang="en-US" sz="1300" dirty="0"/>
          </a:p>
          <a:p>
            <a:pPr marL="342900" indent="-342900">
              <a:spcAft>
                <a:spcPts val="800"/>
              </a:spcAft>
              <a:buSzPct val="100000"/>
              <a:buChar char="•"/>
            </a:pPr>
            <a:r>
              <a:rPr lang="en-US" sz="1300" dirty="0">
                <a:solidFill>
                  <a:srgbClr val="1B2A33"/>
                </a:solidFill>
              </a:rPr>
              <a:t>Commission Amaria with evacuation</a:t>
            </a:r>
            <a:endParaRPr lang="en-US" sz="1300" dirty="0"/>
          </a:p>
          <a:p>
            <a:pPr marL="342900" indent="-342900">
              <a:spcAft>
                <a:spcPts val="800"/>
              </a:spcAft>
              <a:buSzPct val="100000"/>
              <a:buChar char="•"/>
            </a:pPr>
            <a:r>
              <a:rPr lang="en-US" sz="1300" dirty="0">
                <a:solidFill>
                  <a:srgbClr val="1B2A33"/>
                </a:solidFill>
              </a:rPr>
              <a:t>Hosting study, then competitive solar with storage</a:t>
            </a:r>
            <a:endParaRPr lang="en-US" sz="1300" dirty="0"/>
          </a:p>
          <a:p>
            <a:pPr marL="342900" indent="-342900">
              <a:spcAft>
                <a:spcPts val="800"/>
              </a:spcAft>
              <a:buSzPct val="100000"/>
              <a:buChar char="•"/>
            </a:pPr>
            <a:r>
              <a:rPr lang="en-US" sz="1300" dirty="0">
                <a:solidFill>
                  <a:srgbClr val="1B2A33"/>
                </a:solidFill>
              </a:rPr>
              <a:t>Metering, loss reduction, tariff path</a:t>
            </a:r>
            <a:endParaRPr lang="en-US" sz="1300" dirty="0"/>
          </a:p>
          <a:p>
            <a:pPr marL="342900" indent="-342900">
              <a:spcAft>
                <a:spcPts val="800"/>
              </a:spcAft>
              <a:buSzPct val="100000"/>
              <a:buChar char="•"/>
            </a:pPr>
            <a:r>
              <a:rPr lang="en-US" sz="1300" dirty="0">
                <a:solidFill>
                  <a:srgbClr val="1B2A33"/>
                </a:solidFill>
              </a:rPr>
              <a:t>GNEAP-2 mini-grids; mini-grid regulation</a:t>
            </a:r>
            <a:endParaRPr lang="en-US" sz="1300" dirty="0"/>
          </a:p>
          <a:p>
            <a:pPr marL="342900" indent="-342900">
              <a:spcAft>
                <a:spcPts val="800"/>
              </a:spcAft>
              <a:buSzPct val="100000"/>
              <a:buChar char="•"/>
            </a:pPr>
            <a:r>
              <a:rPr lang="en-US" sz="1300" dirty="0">
                <a:solidFill>
                  <a:srgbClr val="1B2A33"/>
                </a:solidFill>
              </a:rPr>
              <a:t>Moribaya fuel depot; fuel cost transparency</a:t>
            </a:r>
            <a:endParaRPr lang="en-US" sz="1300" dirty="0"/>
          </a:p>
        </p:txBody>
      </p:sp>
      <p:sp>
        <p:nvSpPr>
          <p:cNvPr id="11" name="phase-head"/>
          <p:cNvSpPr/>
          <p:nvPr/>
        </p:nvSpPr>
        <p:spPr>
          <a:xfrm>
            <a:off x="7991856" y="1325880"/>
            <a:ext cx="3520440" cy="548640"/>
          </a:xfrm>
          <a:prstGeom prst="roundRect">
            <a:avLst>
              <a:gd name="adj" fmla="val 13333"/>
            </a:avLst>
          </a:prstGeom>
          <a:solidFill>
            <a:srgbClr val="123B4F"/>
          </a:solidFill>
          <a:ln w="12700">
            <a:solidFill>
              <a:srgbClr val="123B4F"/>
            </a:solidFill>
            <a:prstDash val="solid"/>
          </a:ln>
        </p:spPr>
      </p:sp>
      <p:sp>
        <p:nvSpPr>
          <p:cNvPr id="12" name="Text 10"/>
          <p:cNvSpPr txBox="1"/>
          <p:nvPr/>
        </p:nvSpPr>
        <p:spPr>
          <a:xfrm>
            <a:off x="8129016" y="1325880"/>
            <a:ext cx="3246120" cy="548640"/>
          </a:xfrm>
          <a:prstGeom prst="rect">
            <a:avLst/>
          </a:prstGeom>
          <a:noFill/>
          <a:ln/>
        </p:spPr>
        <p:txBody>
          <a:bodyPr wrap="square" lIns="0" tIns="0" rIns="0" bIns="0" rtlCol="0" anchor="ctr"/>
          <a:lstStyle/>
          <a:p>
            <a:pPr indent="0" marL="0">
              <a:buNone/>
            </a:pPr>
            <a:r>
              <a:rPr lang="en-US" sz="1700" b="1" dirty="0">
                <a:solidFill>
                  <a:srgbClr val="FFFFFF"/>
                </a:solidFill>
                <a:latin typeface="Cambria" pitchFamily="34" charset="0"/>
                <a:ea typeface="Cambria" pitchFamily="34" charset="-122"/>
                <a:cs typeface="Cambria" pitchFamily="34" charset="-120"/>
              </a:rPr>
              <a:t>To 2035</a:t>
            </a:r>
            <a:endParaRPr lang="en-US" sz="1700" dirty="0"/>
          </a:p>
        </p:txBody>
      </p:sp>
      <p:sp>
        <p:nvSpPr>
          <p:cNvPr id="13" name="phase-body"/>
          <p:cNvSpPr/>
          <p:nvPr/>
        </p:nvSpPr>
        <p:spPr>
          <a:xfrm>
            <a:off x="7991856" y="1965960"/>
            <a:ext cx="3520440" cy="3977640"/>
          </a:xfrm>
          <a:prstGeom prst="roundRect">
            <a:avLst>
              <a:gd name="adj" fmla="val 2078"/>
            </a:avLst>
          </a:prstGeom>
          <a:solidFill>
            <a:srgbClr val="EEF3F5"/>
          </a:solidFill>
          <a:ln w="12700">
            <a:solidFill>
              <a:srgbClr val="EEF3F5"/>
            </a:solidFill>
            <a:prstDash val="solid"/>
          </a:ln>
        </p:spPr>
      </p:sp>
      <p:sp>
        <p:nvSpPr>
          <p:cNvPr id="14" name="bullets"/>
          <p:cNvSpPr txBox="1"/>
          <p:nvPr/>
        </p:nvSpPr>
        <p:spPr>
          <a:xfrm>
            <a:off x="8101584" y="2057400"/>
            <a:ext cx="3291840" cy="3840480"/>
          </a:xfrm>
          <a:prstGeom prst="rect">
            <a:avLst/>
          </a:prstGeom>
          <a:noFill/>
          <a:ln/>
        </p:spPr>
        <p:txBody>
          <a:bodyPr wrap="square" rtlCol="0" anchor="t"/>
          <a:lstStyle/>
          <a:p>
            <a:pPr marL="342900" indent="-342900">
              <a:spcAft>
                <a:spcPts val="800"/>
              </a:spcAft>
              <a:buSzPct val="100000"/>
              <a:buChar char="•"/>
            </a:pPr>
            <a:r>
              <a:rPr lang="en-US" sz="1300" dirty="0">
                <a:solidFill>
                  <a:srgbClr val="1B2A33"/>
                </a:solidFill>
              </a:rPr>
              <a:t>Next large hydro chosen on dependable output</a:t>
            </a:r>
            <a:endParaRPr lang="en-US" sz="1300" dirty="0"/>
          </a:p>
          <a:p>
            <a:pPr marL="342900" indent="-342900">
              <a:spcAft>
                <a:spcPts val="800"/>
              </a:spcAft>
              <a:buSzPct val="100000"/>
              <a:buChar char="•"/>
            </a:pPr>
            <a:r>
              <a:rPr lang="en-US" sz="1300" dirty="0">
                <a:solidFill>
                  <a:srgbClr val="1B2A33"/>
                </a:solidFill>
              </a:rPr>
              <a:t>Supply solutions for mining and refinery loads</a:t>
            </a:r>
            <a:endParaRPr lang="en-US" sz="1300" dirty="0"/>
          </a:p>
          <a:p>
            <a:pPr marL="342900" indent="-342900">
              <a:spcAft>
                <a:spcPts val="800"/>
              </a:spcAft>
              <a:buSzPct val="100000"/>
              <a:buChar char="•"/>
            </a:pPr>
            <a:r>
              <a:rPr lang="en-US" sz="1300" dirty="0">
                <a:solidFill>
                  <a:srgbClr val="1B2A33"/>
                </a:solidFill>
              </a:rPr>
              <a:t>New electricity law, regulator, grid code, third-party access</a:t>
            </a:r>
            <a:endParaRPr lang="en-US" sz="1300" dirty="0"/>
          </a:p>
          <a:p>
            <a:pPr marL="342900" indent="-342900">
              <a:spcAft>
                <a:spcPts val="800"/>
              </a:spcAft>
              <a:buSzPct val="100000"/>
              <a:buChar char="•"/>
            </a:pPr>
            <a:r>
              <a:rPr lang="en-US" sz="1300" dirty="0">
                <a:solidFill>
                  <a:srgbClr val="1B2A33"/>
                </a:solidFill>
              </a:rPr>
              <a:t>Deeper WAPP trade; secure settlement</a:t>
            </a:r>
            <a:endParaRPr lang="en-US" sz="1300" dirty="0"/>
          </a:p>
          <a:p>
            <a:pPr marL="342900" indent="-342900">
              <a:spcAft>
                <a:spcPts val="800"/>
              </a:spcAft>
              <a:buSzPct val="100000"/>
              <a:buChar char="•"/>
            </a:pPr>
            <a:r>
              <a:rPr lang="en-US" sz="1300" dirty="0">
                <a:solidFill>
                  <a:srgbClr val="1B2A33"/>
                </a:solidFill>
              </a:rPr>
              <a:t>Hydrological monitoring and climate-risk planning</a:t>
            </a:r>
            <a:endParaRPr lang="en-US" sz="1300" dirty="0"/>
          </a:p>
        </p:txBody>
      </p:sp>
      <p:sp>
        <p:nvSpPr>
          <p:cNvPr id="15" name="source"/>
          <p:cNvSpPr txBox="1"/>
          <p:nvPr/>
        </p:nvSpPr>
        <p:spPr>
          <a:xfrm>
            <a:off x="548640" y="5989320"/>
            <a:ext cx="11064240" cy="420624"/>
          </a:xfrm>
          <a:prstGeom prst="rect">
            <a:avLst/>
          </a:prstGeom>
          <a:noFill/>
          <a:ln/>
        </p:spPr>
        <p:txBody>
          <a:bodyPr wrap="square" rtlCol="0" anchor="t"/>
          <a:lstStyle/>
          <a:p>
            <a:pPr indent="0" marL="0">
              <a:buNone/>
            </a:pPr>
            <a:r>
              <a:rPr lang="en-US" sz="900" dirty="0">
                <a:solidFill>
                  <a:srgbClr val="4B5563"/>
                </a:solidFill>
              </a:rPr>
              <a:t>Priorities follow from the evidence on the preceding slides and in the online platform; they are technology-open and are not investment recommendations.</a:t>
            </a:r>
            <a:endParaRPr lang="en-US" sz="900" dirty="0"/>
          </a:p>
        </p:txBody>
      </p:sp>
      <p:sp>
        <p:nvSpPr>
          <p:cNvPr id="25" name="Slide Number Placeholder 0"/>
          <p:cNvSpPr>
            <a:spLocks noGrp="1"/>
          </p:cNvSpPr>
          <p:nvPr>
            <p:ph type="sldNum" sz="quarter" idx="4294967295"/>
          </p:nvPr>
        </p:nvSpPr>
        <p:spPr>
          <a:xfrm>
            <a:off x="11155680" y="6446520"/>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4B5563"/>
                </a:solidFill>
                <a:latin typeface="Calibri"/>
                <a:ea typeface="Calibri"/>
                <a:cs typeface="Calibri"/>
              </a:defRPr>
            </a:lvl1pPr>
          </a:lstStyle>
          <a:p>
            <a:pPr algn="l"/>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rtlCol="0" anchor="ctr"/>
          <a:lstStyle/>
          <a:p>
            <a:pPr indent="0" marL="0">
              <a:buNone/>
            </a:pPr>
            <a:r>
              <a:rPr lang="en-US" sz="3000" b="1" dirty="0">
                <a:solidFill>
                  <a:srgbClr val="123B4F"/>
                </a:solidFill>
                <a:latin typeface="Cambria" pitchFamily="34" charset="0"/>
                <a:ea typeface="Cambria" pitchFamily="34" charset="-122"/>
                <a:cs typeface="Cambria" pitchFamily="34" charset="-120"/>
              </a:rPr>
              <a:t>Who contributes what</a:t>
            </a:r>
            <a:endParaRPr lang="en-US" sz="3000" dirty="0"/>
          </a:p>
        </p:txBody>
      </p:sp>
      <p:sp>
        <p:nvSpPr>
          <p:cNvPr id="3" name="role-dot"/>
          <p:cNvSpPr/>
          <p:nvPr/>
        </p:nvSpPr>
        <p:spPr>
          <a:xfrm>
            <a:off x="548640" y="1444752"/>
            <a:ext cx="457200" cy="457200"/>
          </a:xfrm>
          <a:prstGeom prst="ellipse">
            <a:avLst/>
          </a:prstGeom>
          <a:solidFill>
            <a:srgbClr val="123B4F"/>
          </a:solidFill>
          <a:ln w="12700">
            <a:solidFill>
              <a:srgbClr val="FFFFFF"/>
            </a:solidFill>
            <a:prstDash val="solid"/>
          </a:ln>
        </p:spPr>
      </p:sp>
      <p:sp>
        <p:nvSpPr>
          <p:cNvPr id="4" name="Text 2"/>
          <p:cNvSpPr txBox="1"/>
          <p:nvPr/>
        </p:nvSpPr>
        <p:spPr>
          <a:xfrm>
            <a:off x="1188720" y="1280160"/>
            <a:ext cx="2834640" cy="786384"/>
          </a:xfrm>
          <a:prstGeom prst="rect">
            <a:avLst/>
          </a:prstGeom>
          <a:noFill/>
          <a:ln/>
        </p:spPr>
        <p:txBody>
          <a:bodyPr wrap="square" lIns="0" tIns="0" rIns="0" bIns="0" rtlCol="0" anchor="ctr"/>
          <a:lstStyle/>
          <a:p>
            <a:pPr indent="0" marL="0">
              <a:buNone/>
            </a:pPr>
            <a:r>
              <a:rPr lang="en-US" sz="1700" b="1" dirty="0">
                <a:solidFill>
                  <a:srgbClr val="123B4F"/>
                </a:solidFill>
                <a:latin typeface="Cambria" pitchFamily="34" charset="0"/>
                <a:ea typeface="Cambria" pitchFamily="34" charset="-122"/>
                <a:cs typeface="Cambria" pitchFamily="34" charset="-120"/>
              </a:rPr>
              <a:t>Government</a:t>
            </a:r>
            <a:endParaRPr lang="en-US" sz="1700" dirty="0"/>
          </a:p>
        </p:txBody>
      </p:sp>
      <p:sp>
        <p:nvSpPr>
          <p:cNvPr id="5" name="Text 3"/>
          <p:cNvSpPr txBox="1"/>
          <p:nvPr/>
        </p:nvSpPr>
        <p:spPr>
          <a:xfrm>
            <a:off x="4114800" y="1280160"/>
            <a:ext cx="7498080" cy="786384"/>
          </a:xfrm>
          <a:prstGeom prst="rect">
            <a:avLst/>
          </a:prstGeom>
          <a:noFill/>
          <a:ln/>
        </p:spPr>
        <p:txBody>
          <a:bodyPr wrap="square" lIns="0" tIns="0" rIns="0" bIns="0" rtlCol="0" anchor="ctr"/>
          <a:lstStyle/>
          <a:p>
            <a:pPr indent="0" marL="0">
              <a:buNone/>
            </a:pPr>
            <a:r>
              <a:rPr lang="en-US" sz="1500" dirty="0">
                <a:solidFill>
                  <a:srgbClr val="1B2A33"/>
                </a:solidFill>
              </a:rPr>
              <a:t>Framework, tariff path, payment discipline, land and permits, transparent procurement, data publication</a:t>
            </a:r>
            <a:endParaRPr lang="en-US" sz="1500" dirty="0"/>
          </a:p>
        </p:txBody>
      </p:sp>
      <p:sp>
        <p:nvSpPr>
          <p:cNvPr id="6" name="role-dot"/>
          <p:cNvSpPr/>
          <p:nvPr/>
        </p:nvSpPr>
        <p:spPr>
          <a:xfrm>
            <a:off x="548640" y="2286000"/>
            <a:ext cx="457200" cy="457200"/>
          </a:xfrm>
          <a:prstGeom prst="ellipse">
            <a:avLst/>
          </a:prstGeom>
          <a:solidFill>
            <a:srgbClr val="1F7A8C"/>
          </a:solidFill>
          <a:ln w="12700">
            <a:solidFill>
              <a:srgbClr val="FFFFFF"/>
            </a:solidFill>
            <a:prstDash val="solid"/>
          </a:ln>
        </p:spPr>
      </p:sp>
      <p:sp>
        <p:nvSpPr>
          <p:cNvPr id="7" name="Text 5"/>
          <p:cNvSpPr txBox="1"/>
          <p:nvPr/>
        </p:nvSpPr>
        <p:spPr>
          <a:xfrm>
            <a:off x="1188720" y="2121408"/>
            <a:ext cx="2834640" cy="786384"/>
          </a:xfrm>
          <a:prstGeom prst="rect">
            <a:avLst/>
          </a:prstGeom>
          <a:noFill/>
          <a:ln/>
        </p:spPr>
        <p:txBody>
          <a:bodyPr wrap="square" lIns="0" tIns="0" rIns="0" bIns="0" rtlCol="0" anchor="ctr"/>
          <a:lstStyle/>
          <a:p>
            <a:pPr indent="0" marL="0">
              <a:buNone/>
            </a:pPr>
            <a:r>
              <a:rPr lang="en-US" sz="1700" b="1" dirty="0">
                <a:solidFill>
                  <a:srgbClr val="123B4F"/>
                </a:solidFill>
                <a:latin typeface="Cambria" pitchFamily="34" charset="0"/>
                <a:ea typeface="Cambria" pitchFamily="34" charset="-122"/>
                <a:cs typeface="Cambria" pitchFamily="34" charset="-120"/>
              </a:rPr>
              <a:t>EDG</a:t>
            </a:r>
            <a:endParaRPr lang="en-US" sz="1700" dirty="0"/>
          </a:p>
        </p:txBody>
      </p:sp>
      <p:sp>
        <p:nvSpPr>
          <p:cNvPr id="8" name="Text 6"/>
          <p:cNvSpPr txBox="1"/>
          <p:nvPr/>
        </p:nvSpPr>
        <p:spPr>
          <a:xfrm>
            <a:off x="4114800" y="2121408"/>
            <a:ext cx="7498080" cy="786384"/>
          </a:xfrm>
          <a:prstGeom prst="rect">
            <a:avLst/>
          </a:prstGeom>
          <a:noFill/>
          <a:ln/>
        </p:spPr>
        <p:txBody>
          <a:bodyPr wrap="square" lIns="0" tIns="0" rIns="0" bIns="0" rtlCol="0" anchor="ctr"/>
          <a:lstStyle/>
          <a:p>
            <a:pPr indent="0" marL="0">
              <a:buNone/>
            </a:pPr>
            <a:r>
              <a:rPr lang="en-US" sz="1500" dirty="0">
                <a:solidFill>
                  <a:srgbClr val="1B2A33"/>
                </a:solidFill>
              </a:rPr>
              <a:t>Dispatch and cascade operation, metering, loss reduction, collections, project delivery</a:t>
            </a:r>
            <a:endParaRPr lang="en-US" sz="1500" dirty="0"/>
          </a:p>
        </p:txBody>
      </p:sp>
      <p:sp>
        <p:nvSpPr>
          <p:cNvPr id="9" name="role-dot"/>
          <p:cNvSpPr/>
          <p:nvPr/>
        </p:nvSpPr>
        <p:spPr>
          <a:xfrm>
            <a:off x="548640" y="3127248"/>
            <a:ext cx="457200" cy="457200"/>
          </a:xfrm>
          <a:prstGeom prst="ellipse">
            <a:avLst/>
          </a:prstGeom>
          <a:solidFill>
            <a:srgbClr val="E8A33D"/>
          </a:solidFill>
          <a:ln w="12700">
            <a:solidFill>
              <a:srgbClr val="FFFFFF"/>
            </a:solidFill>
            <a:prstDash val="solid"/>
          </a:ln>
        </p:spPr>
      </p:sp>
      <p:sp>
        <p:nvSpPr>
          <p:cNvPr id="10" name="Text 8"/>
          <p:cNvSpPr txBox="1"/>
          <p:nvPr/>
        </p:nvSpPr>
        <p:spPr>
          <a:xfrm>
            <a:off x="1188720" y="2962656"/>
            <a:ext cx="2834640" cy="786384"/>
          </a:xfrm>
          <a:prstGeom prst="rect">
            <a:avLst/>
          </a:prstGeom>
          <a:noFill/>
          <a:ln/>
        </p:spPr>
        <p:txBody>
          <a:bodyPr wrap="square" lIns="0" tIns="0" rIns="0" bIns="0" rtlCol="0" anchor="ctr"/>
          <a:lstStyle/>
          <a:p>
            <a:pPr indent="0" marL="0">
              <a:buNone/>
            </a:pPr>
            <a:r>
              <a:rPr lang="en-US" sz="1700" b="1" dirty="0">
                <a:solidFill>
                  <a:srgbClr val="123B4F"/>
                </a:solidFill>
                <a:latin typeface="Cambria" pitchFamily="34" charset="0"/>
                <a:ea typeface="Cambria" pitchFamily="34" charset="-122"/>
                <a:cs typeface="Cambria" pitchFamily="34" charset="-120"/>
              </a:rPr>
              <a:t>AREE (regulator)</a:t>
            </a:r>
            <a:endParaRPr lang="en-US" sz="1700" dirty="0"/>
          </a:p>
        </p:txBody>
      </p:sp>
      <p:sp>
        <p:nvSpPr>
          <p:cNvPr id="11" name="Text 9"/>
          <p:cNvSpPr txBox="1"/>
          <p:nvPr/>
        </p:nvSpPr>
        <p:spPr>
          <a:xfrm>
            <a:off x="4114800" y="2962656"/>
            <a:ext cx="7498080" cy="786384"/>
          </a:xfrm>
          <a:prstGeom prst="rect">
            <a:avLst/>
          </a:prstGeom>
          <a:noFill/>
          <a:ln/>
        </p:spPr>
        <p:txBody>
          <a:bodyPr wrap="square" lIns="0" tIns="0" rIns="0" bIns="0" rtlCol="0" anchor="ctr"/>
          <a:lstStyle/>
          <a:p>
            <a:pPr indent="0" marL="0">
              <a:buNone/>
            </a:pPr>
            <a:r>
              <a:rPr lang="en-US" sz="1500" dirty="0">
                <a:solidFill>
                  <a:srgbClr val="1B2A33"/>
                </a:solidFill>
              </a:rPr>
              <a:t>Tariff orders, licensing, grid code aligned with the regional code, dispute resolution</a:t>
            </a:r>
            <a:endParaRPr lang="en-US" sz="1500" dirty="0"/>
          </a:p>
        </p:txBody>
      </p:sp>
      <p:sp>
        <p:nvSpPr>
          <p:cNvPr id="12" name="role-dot"/>
          <p:cNvSpPr/>
          <p:nvPr/>
        </p:nvSpPr>
        <p:spPr>
          <a:xfrm>
            <a:off x="548640" y="3968496"/>
            <a:ext cx="457200" cy="457200"/>
          </a:xfrm>
          <a:prstGeom prst="ellipse">
            <a:avLst/>
          </a:prstGeom>
          <a:solidFill>
            <a:srgbClr val="B5452E"/>
          </a:solidFill>
          <a:ln w="12700">
            <a:solidFill>
              <a:srgbClr val="FFFFFF"/>
            </a:solidFill>
            <a:prstDash val="solid"/>
          </a:ln>
        </p:spPr>
      </p:sp>
      <p:sp>
        <p:nvSpPr>
          <p:cNvPr id="13" name="Text 11"/>
          <p:cNvSpPr txBox="1"/>
          <p:nvPr/>
        </p:nvSpPr>
        <p:spPr>
          <a:xfrm>
            <a:off x="1188720" y="3803904"/>
            <a:ext cx="2834640" cy="786384"/>
          </a:xfrm>
          <a:prstGeom prst="rect">
            <a:avLst/>
          </a:prstGeom>
          <a:noFill/>
          <a:ln/>
        </p:spPr>
        <p:txBody>
          <a:bodyPr wrap="square" lIns="0" tIns="0" rIns="0" bIns="0" rtlCol="0" anchor="ctr"/>
          <a:lstStyle/>
          <a:p>
            <a:pPr indent="0" marL="0">
              <a:buNone/>
            </a:pPr>
            <a:r>
              <a:rPr lang="en-US" sz="1700" b="1" dirty="0">
                <a:solidFill>
                  <a:srgbClr val="123B4F"/>
                </a:solidFill>
                <a:latin typeface="Cambria" pitchFamily="34" charset="0"/>
                <a:ea typeface="Cambria" pitchFamily="34" charset="-122"/>
                <a:cs typeface="Cambria" pitchFamily="34" charset="-120"/>
              </a:rPr>
              <a:t>Development partners</a:t>
            </a:r>
            <a:endParaRPr lang="en-US" sz="1700" dirty="0"/>
          </a:p>
        </p:txBody>
      </p:sp>
      <p:sp>
        <p:nvSpPr>
          <p:cNvPr id="14" name="Text 12"/>
          <p:cNvSpPr txBox="1"/>
          <p:nvPr/>
        </p:nvSpPr>
        <p:spPr>
          <a:xfrm>
            <a:off x="4114800" y="3803904"/>
            <a:ext cx="7498080" cy="786384"/>
          </a:xfrm>
          <a:prstGeom prst="rect">
            <a:avLst/>
          </a:prstGeom>
          <a:noFill/>
          <a:ln/>
        </p:spPr>
        <p:txBody>
          <a:bodyPr wrap="square" lIns="0" tIns="0" rIns="0" bIns="0" rtlCol="0" anchor="ctr"/>
          <a:lstStyle/>
          <a:p>
            <a:pPr indent="0" marL="0">
              <a:buNone/>
            </a:pPr>
            <a:r>
              <a:rPr lang="en-US" sz="1500" dirty="0">
                <a:solidFill>
                  <a:srgbClr val="1B2A33"/>
                </a:solidFill>
              </a:rPr>
              <a:t>Concessional grid and access finance, guarantees (none yet used in energy), preparation, technical assistance</a:t>
            </a:r>
            <a:endParaRPr lang="en-US" sz="1500" dirty="0"/>
          </a:p>
        </p:txBody>
      </p:sp>
      <p:sp>
        <p:nvSpPr>
          <p:cNvPr id="15" name="role-dot"/>
          <p:cNvSpPr/>
          <p:nvPr/>
        </p:nvSpPr>
        <p:spPr>
          <a:xfrm>
            <a:off x="548640" y="4809744"/>
            <a:ext cx="457200" cy="457200"/>
          </a:xfrm>
          <a:prstGeom prst="ellipse">
            <a:avLst/>
          </a:prstGeom>
          <a:solidFill>
            <a:srgbClr val="8C7B6B"/>
          </a:solidFill>
          <a:ln w="12700">
            <a:solidFill>
              <a:srgbClr val="FFFFFF"/>
            </a:solidFill>
            <a:prstDash val="solid"/>
          </a:ln>
        </p:spPr>
      </p:sp>
      <p:sp>
        <p:nvSpPr>
          <p:cNvPr id="16" name="Text 14"/>
          <p:cNvSpPr txBox="1"/>
          <p:nvPr/>
        </p:nvSpPr>
        <p:spPr>
          <a:xfrm>
            <a:off x="1188720" y="4645152"/>
            <a:ext cx="2834640" cy="786384"/>
          </a:xfrm>
          <a:prstGeom prst="rect">
            <a:avLst/>
          </a:prstGeom>
          <a:noFill/>
          <a:ln/>
        </p:spPr>
        <p:txBody>
          <a:bodyPr wrap="square" lIns="0" tIns="0" rIns="0" bIns="0" rtlCol="0" anchor="ctr"/>
          <a:lstStyle/>
          <a:p>
            <a:pPr indent="0" marL="0">
              <a:buNone/>
            </a:pPr>
            <a:r>
              <a:rPr lang="en-US" sz="1700" b="1" dirty="0">
                <a:solidFill>
                  <a:srgbClr val="123B4F"/>
                </a:solidFill>
                <a:latin typeface="Cambria" pitchFamily="34" charset="0"/>
                <a:ea typeface="Cambria" pitchFamily="34" charset="-122"/>
                <a:cs typeface="Cambria" pitchFamily="34" charset="-120"/>
              </a:rPr>
              <a:t>Private investors</a:t>
            </a:r>
            <a:endParaRPr lang="en-US" sz="1700" dirty="0"/>
          </a:p>
        </p:txBody>
      </p:sp>
      <p:sp>
        <p:nvSpPr>
          <p:cNvPr id="17" name="Text 15"/>
          <p:cNvSpPr txBox="1"/>
          <p:nvPr/>
        </p:nvSpPr>
        <p:spPr>
          <a:xfrm>
            <a:off x="4114800" y="4645152"/>
            <a:ext cx="7498080" cy="786384"/>
          </a:xfrm>
          <a:prstGeom prst="rect">
            <a:avLst/>
          </a:prstGeom>
          <a:noFill/>
          <a:ln/>
        </p:spPr>
        <p:txBody>
          <a:bodyPr wrap="square" lIns="0" tIns="0" rIns="0" bIns="0" rtlCol="0" anchor="ctr"/>
          <a:lstStyle/>
          <a:p>
            <a:pPr indent="0" marL="0">
              <a:buNone/>
            </a:pPr>
            <a:r>
              <a:rPr lang="en-US" sz="1500" dirty="0">
                <a:solidFill>
                  <a:srgbClr val="1B2A33"/>
                </a:solidFill>
              </a:rPr>
              <a:t>Generation and storage, EPC and O&amp;M, mini-grid concessions, mining-load supply, once payment security exists</a:t>
            </a:r>
            <a:endParaRPr lang="en-US" sz="1500" dirty="0"/>
          </a:p>
        </p:txBody>
      </p:sp>
      <p:sp>
        <p:nvSpPr>
          <p:cNvPr id="18" name="sponsor"/>
          <p:cNvSpPr/>
          <p:nvPr/>
        </p:nvSpPr>
        <p:spPr>
          <a:xfrm>
            <a:off x="548640" y="5532120"/>
            <a:ext cx="11064240" cy="868680"/>
          </a:xfrm>
          <a:prstGeom prst="roundRect">
            <a:avLst>
              <a:gd name="adj" fmla="val 6316"/>
            </a:avLst>
          </a:prstGeom>
          <a:solidFill>
            <a:srgbClr val="EAF3F5"/>
          </a:solidFill>
          <a:ln w="9525">
            <a:solidFill>
              <a:srgbClr val="1F7A8C"/>
            </a:solidFill>
            <a:prstDash val="solid"/>
          </a:ln>
        </p:spPr>
      </p:sp>
      <p:sp>
        <p:nvSpPr>
          <p:cNvPr id="19" name="Text 17"/>
          <p:cNvSpPr txBox="1"/>
          <p:nvPr/>
        </p:nvSpPr>
        <p:spPr>
          <a:xfrm>
            <a:off x="685800" y="5559552"/>
            <a:ext cx="10789920" cy="822960"/>
          </a:xfrm>
          <a:prstGeom prst="rect">
            <a:avLst/>
          </a:prstGeom>
          <a:noFill/>
          <a:ln/>
        </p:spPr>
        <p:txBody>
          <a:bodyPr wrap="square" lIns="0" tIns="0" rIns="0" bIns="0" rtlCol="0" anchor="ctr"/>
          <a:lstStyle/>
          <a:p>
            <a:pPr indent="0" marL="0">
              <a:buNone/>
            </a:pPr>
            <a:r>
              <a:rPr lang="en-US" sz="850" b="1" dirty="0">
                <a:solidFill>
                  <a:srgbClr val="123B4F"/>
                </a:solidFill>
              </a:rPr>
              <a:t>About the sponsor. </a:t>
            </a:r>
            <a:pPr indent="0" marL="0">
              <a:buNone/>
            </a:pPr>
            <a:r>
              <a:rPr lang="en-US" sz="850" dirty="0">
                <a:solidFill>
                  <a:srgbClr val="1B2A33"/>
                </a:solidFill>
              </a:rPr>
              <a:t>This research was prepared by Alendei Green RE Pvt. Ltd. (Alendei Group, Vadodara, India), a company with a commercial interest in Guinea's energy sector. Alendei describes its activities as solar EPC, commercial and industrial solar, battery integration and renewable project development, mainly in India; these capabilities have not been independently verified in this research. Alendei has no project, office, licence, partnership or financing commitment in Guinea. Any future participation would be through competitive procurement or commercial agreements and is not implied by this material. The national findings and priorities were established before private-sector roles were considered and are technology-neutral.</a:t>
            </a:r>
            <a:endParaRPr lang="en-US" sz="850" dirty="0"/>
          </a:p>
        </p:txBody>
      </p:sp>
      <p:sp>
        <p:nvSpPr>
          <p:cNvPr id="25" name="Slide Number Placeholder 0"/>
          <p:cNvSpPr>
            <a:spLocks noGrp="1"/>
          </p:cNvSpPr>
          <p:nvPr>
            <p:ph type="sldNum" sz="quarter" idx="4294967295"/>
          </p:nvPr>
        </p:nvSpPr>
        <p:spPr>
          <a:xfrm>
            <a:off x="11155680" y="6446520"/>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4B5563"/>
                </a:solidFill>
                <a:latin typeface="Calibri"/>
                <a:ea typeface="Calibri"/>
                <a:cs typeface="Calibri"/>
              </a:defRPr>
            </a:lvl1pPr>
          </a:lstStyle>
          <a:p>
            <a:pPr algn="l"/>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rtlCol="0" anchor="ctr"/>
          <a:lstStyle/>
          <a:p>
            <a:pPr indent="0" marL="0">
              <a:buNone/>
            </a:pPr>
            <a:r>
              <a:rPr lang="en-US" sz="3000" b="1" dirty="0">
                <a:solidFill>
                  <a:srgbClr val="123B4F"/>
                </a:solidFill>
                <a:latin typeface="Cambria" pitchFamily="34" charset="0"/>
                <a:ea typeface="Cambria" pitchFamily="34" charset="-122"/>
                <a:cs typeface="Cambria" pitchFamily="34" charset="-120"/>
              </a:rPr>
              <a:t>Key risks and dependencies</a:t>
            </a:r>
            <a:endParaRPr lang="en-US" sz="3000" dirty="0"/>
          </a:p>
        </p:txBody>
      </p:sp>
      <p:graphicFrame>
        <p:nvGraphicFramePr>
          <p:cNvPr id="17" name="Table 0"/>
          <p:cNvGraphicFramePr>
            <a:graphicFrameLocks noGrp="1"/>
          </p:cNvGraphicFramePr>
          <p:nvPr>
            <p:extLst>
              <p:ext uri="{D42A27DB-BD31-4B8C-83A1-F6EECF244321}">
                <p14:modId xmlns:p14="http://schemas.microsoft.com/office/powerpoint/2010/main" val="1579011935"/>
              </p:ext>
            </p:extLst>
          </p:nvPr>
        </p:nvGraphicFramePr>
        <p:xfrm>
          <a:off x="548640" y="1325880"/>
          <a:ext cx="11064240" cy="914400"/>
        </p:xfrm>
        <a:graphic>
          <a:graphicData uri="http://schemas.openxmlformats.org/drawingml/2006/table">
            <a:tbl>
              <a:tblPr/>
              <a:tblGrid>
                <a:gridCol w="4023360"/>
                <a:gridCol w="1645920"/>
                <a:gridCol w="5394960"/>
              </a:tblGrid>
              <a:tr h="484632">
                <a:tc>
                  <a:txBody>
                    <a:bodyPr/>
                    <a:lstStyle/>
                    <a:p>
                      <a:pPr indent="0" marL="0">
                        <a:buNone/>
                      </a:pPr>
                      <a:r>
                        <a:rPr lang="en-US" sz="1350" b="1" dirty="0">
                          <a:solidFill>
                            <a:srgbClr val="FFFFFF"/>
                          </a:solidFill>
                        </a:rPr>
                        <a:t>Risk</a:t>
                      </a:r>
                      <a:endParaRPr lang="en-US" sz="1350" dirty="0"/>
                    </a:p>
                  </a:txBody>
                  <a:tcPr marL="91440" marR="91440" marT="45720" marB="45720" anchor="ctr">
                    <a:lnL w="9525" cap="flat" cmpd="sng" algn="ctr">
                      <a:solidFill>
                        <a:srgbClr val="D7E3E8"/>
                      </a:solidFill>
                      <a:prstDash val="solid"/>
                      <a:round/>
                      <a:headEnd type="none" w="med" len="med"/>
                      <a:tailEnd type="none" w="med" len="med"/>
                    </a:lnL>
                    <a:lnR w="9525" cap="flat" cmpd="sng" algn="ctr">
                      <a:solidFill>
                        <a:srgbClr val="D7E3E8"/>
                      </a:solidFill>
                      <a:prstDash val="solid"/>
                      <a:round/>
                      <a:headEnd type="none" w="med" len="med"/>
                      <a:tailEnd type="none" w="med" len="med"/>
                    </a:lnR>
                    <a:lnT w="9525" cap="flat" cmpd="sng" algn="ctr">
                      <a:solidFill>
                        <a:srgbClr val="D7E3E8"/>
                      </a:solidFill>
                      <a:prstDash val="solid"/>
                      <a:round/>
                      <a:headEnd type="none" w="med" len="med"/>
                      <a:tailEnd type="none" w="med" len="med"/>
                    </a:lnT>
                    <a:lnB w="9525" cap="flat" cmpd="sng" algn="ctr">
                      <a:solidFill>
                        <a:srgbClr val="D7E3E8"/>
                      </a:solidFill>
                      <a:prstDash val="solid"/>
                      <a:round/>
                      <a:headEnd type="none" w="med" len="med"/>
                      <a:tailEnd type="none" w="med" len="med"/>
                    </a:lnB>
                    <a:solidFill>
                      <a:srgbClr val="123B4F"/>
                    </a:solidFill>
                  </a:tcPr>
                </a:tc>
                <a:tc>
                  <a:txBody>
                    <a:bodyPr/>
                    <a:lstStyle/>
                    <a:p>
                      <a:pPr indent="0" marL="0">
                        <a:buNone/>
                      </a:pPr>
                      <a:r>
                        <a:rPr lang="en-US" sz="1350" b="1" dirty="0">
                          <a:solidFill>
                            <a:srgbClr val="FFFFFF"/>
                          </a:solidFill>
                        </a:rPr>
                        <a:t>Rating</a:t>
                      </a:r>
                      <a:endParaRPr lang="en-US" sz="1350" dirty="0"/>
                    </a:p>
                  </a:txBody>
                  <a:tcPr marL="91440" marR="91440" marT="45720" marB="45720" anchor="ctr">
                    <a:lnL w="9525" cap="flat" cmpd="sng" algn="ctr">
                      <a:solidFill>
                        <a:srgbClr val="D7E3E8"/>
                      </a:solidFill>
                      <a:prstDash val="solid"/>
                      <a:round/>
                      <a:headEnd type="none" w="med" len="med"/>
                      <a:tailEnd type="none" w="med" len="med"/>
                    </a:lnL>
                    <a:lnR w="9525" cap="flat" cmpd="sng" algn="ctr">
                      <a:solidFill>
                        <a:srgbClr val="D7E3E8"/>
                      </a:solidFill>
                      <a:prstDash val="solid"/>
                      <a:round/>
                      <a:headEnd type="none" w="med" len="med"/>
                      <a:tailEnd type="none" w="med" len="med"/>
                    </a:lnR>
                    <a:lnT w="9525" cap="flat" cmpd="sng" algn="ctr">
                      <a:solidFill>
                        <a:srgbClr val="D7E3E8"/>
                      </a:solidFill>
                      <a:prstDash val="solid"/>
                      <a:round/>
                      <a:headEnd type="none" w="med" len="med"/>
                      <a:tailEnd type="none" w="med" len="med"/>
                    </a:lnT>
                    <a:lnB w="9525" cap="flat" cmpd="sng" algn="ctr">
                      <a:solidFill>
                        <a:srgbClr val="D7E3E8"/>
                      </a:solidFill>
                      <a:prstDash val="solid"/>
                      <a:round/>
                      <a:headEnd type="none" w="med" len="med"/>
                      <a:tailEnd type="none" w="med" len="med"/>
                    </a:lnB>
                    <a:solidFill>
                      <a:srgbClr val="123B4F"/>
                    </a:solidFill>
                  </a:tcPr>
                </a:tc>
                <a:tc>
                  <a:txBody>
                    <a:bodyPr/>
                    <a:lstStyle/>
                    <a:p>
                      <a:pPr indent="0" marL="0">
                        <a:buNone/>
                      </a:pPr>
                      <a:r>
                        <a:rPr lang="en-US" sz="1350" b="1" dirty="0">
                          <a:solidFill>
                            <a:srgbClr val="FFFFFF"/>
                          </a:solidFill>
                        </a:rPr>
                        <a:t>Mitigation</a:t>
                      </a:r>
                      <a:endParaRPr lang="en-US" sz="1350" dirty="0"/>
                    </a:p>
                  </a:txBody>
                  <a:tcPr marL="91440" marR="91440" marT="45720" marB="45720" anchor="ctr">
                    <a:lnL w="9525" cap="flat" cmpd="sng" algn="ctr">
                      <a:solidFill>
                        <a:srgbClr val="D7E3E8"/>
                      </a:solidFill>
                      <a:prstDash val="solid"/>
                      <a:round/>
                      <a:headEnd type="none" w="med" len="med"/>
                      <a:tailEnd type="none" w="med" len="med"/>
                    </a:lnL>
                    <a:lnR w="9525" cap="flat" cmpd="sng" algn="ctr">
                      <a:solidFill>
                        <a:srgbClr val="D7E3E8"/>
                      </a:solidFill>
                      <a:prstDash val="solid"/>
                      <a:round/>
                      <a:headEnd type="none" w="med" len="med"/>
                      <a:tailEnd type="none" w="med" len="med"/>
                    </a:lnR>
                    <a:lnT w="9525" cap="flat" cmpd="sng" algn="ctr">
                      <a:solidFill>
                        <a:srgbClr val="D7E3E8"/>
                      </a:solidFill>
                      <a:prstDash val="solid"/>
                      <a:round/>
                      <a:headEnd type="none" w="med" len="med"/>
                      <a:tailEnd type="none" w="med" len="med"/>
                    </a:lnT>
                    <a:lnB w="9525" cap="flat" cmpd="sng" algn="ctr">
                      <a:solidFill>
                        <a:srgbClr val="D7E3E8"/>
                      </a:solidFill>
                      <a:prstDash val="solid"/>
                      <a:round/>
                      <a:headEnd type="none" w="med" len="med"/>
                      <a:tailEnd type="none" w="med" len="med"/>
                    </a:lnB>
                    <a:solidFill>
                      <a:srgbClr val="123B4F"/>
                    </a:solidFill>
                  </a:tcPr>
                </a:tc>
              </a:tr>
              <a:tr h="484632">
                <a:tc>
                  <a:txBody>
                    <a:bodyPr/>
                    <a:lstStyle/>
                    <a:p>
                      <a:pPr indent="0" marL="0">
                        <a:buNone/>
                      </a:pPr>
                      <a:r>
                        <a:rPr lang="en-US" sz="1350" dirty="0">
                          <a:solidFill>
                            <a:srgbClr val="1B2A33"/>
                          </a:solidFill>
                        </a:rPr>
                        <a:t>Dry-season supply shortfall</a:t>
                      </a:r>
                      <a:endParaRPr lang="en-US" sz="1350" dirty="0"/>
                    </a:p>
                  </a:txBody>
                  <a:tcPr marL="91440" marR="91440" marT="45720" marB="45720" anchor="ctr">
                    <a:lnL w="9525" cap="flat" cmpd="sng" algn="ctr">
                      <a:solidFill>
                        <a:srgbClr val="D7E3E8"/>
                      </a:solidFill>
                      <a:prstDash val="solid"/>
                      <a:round/>
                      <a:headEnd type="none" w="med" len="med"/>
                      <a:tailEnd type="none" w="med" len="med"/>
                    </a:lnL>
                    <a:lnR w="9525" cap="flat" cmpd="sng" algn="ctr">
                      <a:solidFill>
                        <a:srgbClr val="D7E3E8"/>
                      </a:solidFill>
                      <a:prstDash val="solid"/>
                      <a:round/>
                      <a:headEnd type="none" w="med" len="med"/>
                      <a:tailEnd type="none" w="med" len="med"/>
                    </a:lnR>
                    <a:lnT w="9525" cap="flat" cmpd="sng" algn="ctr">
                      <a:solidFill>
                        <a:srgbClr val="D7E3E8"/>
                      </a:solidFill>
                      <a:prstDash val="solid"/>
                      <a:round/>
                      <a:headEnd type="none" w="med" len="med"/>
                      <a:tailEnd type="none" w="med" len="med"/>
                    </a:lnT>
                    <a:lnB w="9525" cap="flat" cmpd="sng" algn="ctr">
                      <a:solidFill>
                        <a:srgbClr val="D7E3E8"/>
                      </a:solidFill>
                      <a:prstDash val="solid"/>
                      <a:round/>
                      <a:headEnd type="none" w="med" len="med"/>
                      <a:tailEnd type="none" w="med" len="med"/>
                    </a:lnB>
                    <a:solidFill>
                      <a:srgbClr val="FFFFFF"/>
                    </a:solidFill>
                  </a:tcPr>
                </a:tc>
                <a:tc>
                  <a:txBody>
                    <a:bodyPr/>
                    <a:lstStyle/>
                    <a:p>
                      <a:pPr indent="0" marL="0">
                        <a:buNone/>
                      </a:pPr>
                      <a:r>
                        <a:rPr lang="en-US" sz="1350" b="1" dirty="0">
                          <a:solidFill>
                            <a:srgbClr val="B5452E"/>
                          </a:solidFill>
                        </a:rPr>
                        <a:t>High</a:t>
                      </a:r>
                      <a:endParaRPr lang="en-US" sz="1350" dirty="0"/>
                    </a:p>
                  </a:txBody>
                  <a:tcPr marL="91440" marR="91440" marT="45720" marB="45720" anchor="ctr">
                    <a:lnL w="9525" cap="flat" cmpd="sng" algn="ctr">
                      <a:solidFill>
                        <a:srgbClr val="D7E3E8"/>
                      </a:solidFill>
                      <a:prstDash val="solid"/>
                      <a:round/>
                      <a:headEnd type="none" w="med" len="med"/>
                      <a:tailEnd type="none" w="med" len="med"/>
                    </a:lnL>
                    <a:lnR w="9525" cap="flat" cmpd="sng" algn="ctr">
                      <a:solidFill>
                        <a:srgbClr val="D7E3E8"/>
                      </a:solidFill>
                      <a:prstDash val="solid"/>
                      <a:round/>
                      <a:headEnd type="none" w="med" len="med"/>
                      <a:tailEnd type="none" w="med" len="med"/>
                    </a:lnR>
                    <a:lnT w="9525" cap="flat" cmpd="sng" algn="ctr">
                      <a:solidFill>
                        <a:srgbClr val="D7E3E8"/>
                      </a:solidFill>
                      <a:prstDash val="solid"/>
                      <a:round/>
                      <a:headEnd type="none" w="med" len="med"/>
                      <a:tailEnd type="none" w="med" len="med"/>
                    </a:lnT>
                    <a:lnB w="9525" cap="flat" cmpd="sng" algn="ctr">
                      <a:solidFill>
                        <a:srgbClr val="D7E3E8"/>
                      </a:solidFill>
                      <a:prstDash val="solid"/>
                      <a:round/>
                      <a:headEnd type="none" w="med" len="med"/>
                      <a:tailEnd type="none" w="med" len="med"/>
                    </a:lnB>
                    <a:solidFill>
                      <a:srgbClr val="FFFFFF"/>
                    </a:solidFill>
                  </a:tcPr>
                </a:tc>
                <a:tc>
                  <a:txBody>
                    <a:bodyPr/>
                    <a:lstStyle/>
                    <a:p>
                      <a:pPr indent="0" marL="0">
                        <a:buNone/>
                      </a:pPr>
                      <a:r>
                        <a:rPr lang="en-US" sz="1350" dirty="0">
                          <a:solidFill>
                            <a:srgbClr val="1B2A33"/>
                          </a:solidFill>
                        </a:rPr>
                        <a:t>Cascade study; firm capacity; storage; imports</a:t>
                      </a:r>
                      <a:endParaRPr lang="en-US" sz="1350" dirty="0"/>
                    </a:p>
                  </a:txBody>
                  <a:tcPr marL="91440" marR="91440" marT="45720" marB="45720" anchor="ctr">
                    <a:lnL w="9525" cap="flat" cmpd="sng" algn="ctr">
                      <a:solidFill>
                        <a:srgbClr val="D7E3E8"/>
                      </a:solidFill>
                      <a:prstDash val="solid"/>
                      <a:round/>
                      <a:headEnd type="none" w="med" len="med"/>
                      <a:tailEnd type="none" w="med" len="med"/>
                    </a:lnL>
                    <a:lnR w="9525" cap="flat" cmpd="sng" algn="ctr">
                      <a:solidFill>
                        <a:srgbClr val="D7E3E8"/>
                      </a:solidFill>
                      <a:prstDash val="solid"/>
                      <a:round/>
                      <a:headEnd type="none" w="med" len="med"/>
                      <a:tailEnd type="none" w="med" len="med"/>
                    </a:lnR>
                    <a:lnT w="9525" cap="flat" cmpd="sng" algn="ctr">
                      <a:solidFill>
                        <a:srgbClr val="D7E3E8"/>
                      </a:solidFill>
                      <a:prstDash val="solid"/>
                      <a:round/>
                      <a:headEnd type="none" w="med" len="med"/>
                      <a:tailEnd type="none" w="med" len="med"/>
                    </a:lnT>
                    <a:lnB w="9525" cap="flat" cmpd="sng" algn="ctr">
                      <a:solidFill>
                        <a:srgbClr val="D7E3E8"/>
                      </a:solidFill>
                      <a:prstDash val="solid"/>
                      <a:round/>
                      <a:headEnd type="none" w="med" len="med"/>
                      <a:tailEnd type="none" w="med" len="med"/>
                    </a:lnB>
                    <a:solidFill>
                      <a:srgbClr val="FFFFFF"/>
                    </a:solidFill>
                  </a:tcPr>
                </a:tc>
              </a:tr>
              <a:tr h="484632">
                <a:tc>
                  <a:txBody>
                    <a:bodyPr/>
                    <a:lstStyle/>
                    <a:p>
                      <a:pPr indent="0" marL="0">
                        <a:buNone/>
                      </a:pPr>
                      <a:r>
                        <a:rPr lang="en-US" sz="1350" dirty="0">
                          <a:solidFill>
                            <a:srgbClr val="1B2A33"/>
                          </a:solidFill>
                        </a:rPr>
                        <a:t>Delivery of financed works</a:t>
                      </a:r>
                      <a:endParaRPr lang="en-US" sz="1350" dirty="0"/>
                    </a:p>
                  </a:txBody>
                  <a:tcPr marL="91440" marR="91440" marT="45720" marB="45720" anchor="ctr">
                    <a:lnL w="9525" cap="flat" cmpd="sng" algn="ctr">
                      <a:solidFill>
                        <a:srgbClr val="D7E3E8"/>
                      </a:solidFill>
                      <a:prstDash val="solid"/>
                      <a:round/>
                      <a:headEnd type="none" w="med" len="med"/>
                      <a:tailEnd type="none" w="med" len="med"/>
                    </a:lnL>
                    <a:lnR w="9525" cap="flat" cmpd="sng" algn="ctr">
                      <a:solidFill>
                        <a:srgbClr val="D7E3E8"/>
                      </a:solidFill>
                      <a:prstDash val="solid"/>
                      <a:round/>
                      <a:headEnd type="none" w="med" len="med"/>
                      <a:tailEnd type="none" w="med" len="med"/>
                    </a:lnR>
                    <a:lnT w="9525" cap="flat" cmpd="sng" algn="ctr">
                      <a:solidFill>
                        <a:srgbClr val="D7E3E8"/>
                      </a:solidFill>
                      <a:prstDash val="solid"/>
                      <a:round/>
                      <a:headEnd type="none" w="med" len="med"/>
                      <a:tailEnd type="none" w="med" len="med"/>
                    </a:lnT>
                    <a:lnB w="9525" cap="flat" cmpd="sng" algn="ctr">
                      <a:solidFill>
                        <a:srgbClr val="D7E3E8"/>
                      </a:solidFill>
                      <a:prstDash val="solid"/>
                      <a:round/>
                      <a:headEnd type="none" w="med" len="med"/>
                      <a:tailEnd type="none" w="med" len="med"/>
                    </a:lnB>
                    <a:solidFill>
                      <a:srgbClr val="FFFFFF"/>
                    </a:solidFill>
                  </a:tcPr>
                </a:tc>
                <a:tc>
                  <a:txBody>
                    <a:bodyPr/>
                    <a:lstStyle/>
                    <a:p>
                      <a:pPr indent="0" marL="0">
                        <a:buNone/>
                      </a:pPr>
                      <a:r>
                        <a:rPr lang="en-US" sz="1350" b="1" dirty="0">
                          <a:solidFill>
                            <a:srgbClr val="B5452E"/>
                          </a:solidFill>
                        </a:rPr>
                        <a:t>High</a:t>
                      </a:r>
                      <a:endParaRPr lang="en-US" sz="1350" dirty="0"/>
                    </a:p>
                  </a:txBody>
                  <a:tcPr marL="91440" marR="91440" marT="45720" marB="45720" anchor="ctr">
                    <a:lnL w="9525" cap="flat" cmpd="sng" algn="ctr">
                      <a:solidFill>
                        <a:srgbClr val="D7E3E8"/>
                      </a:solidFill>
                      <a:prstDash val="solid"/>
                      <a:round/>
                      <a:headEnd type="none" w="med" len="med"/>
                      <a:tailEnd type="none" w="med" len="med"/>
                    </a:lnL>
                    <a:lnR w="9525" cap="flat" cmpd="sng" algn="ctr">
                      <a:solidFill>
                        <a:srgbClr val="D7E3E8"/>
                      </a:solidFill>
                      <a:prstDash val="solid"/>
                      <a:round/>
                      <a:headEnd type="none" w="med" len="med"/>
                      <a:tailEnd type="none" w="med" len="med"/>
                    </a:lnR>
                    <a:lnT w="9525" cap="flat" cmpd="sng" algn="ctr">
                      <a:solidFill>
                        <a:srgbClr val="D7E3E8"/>
                      </a:solidFill>
                      <a:prstDash val="solid"/>
                      <a:round/>
                      <a:headEnd type="none" w="med" len="med"/>
                      <a:tailEnd type="none" w="med" len="med"/>
                    </a:lnT>
                    <a:lnB w="9525" cap="flat" cmpd="sng" algn="ctr">
                      <a:solidFill>
                        <a:srgbClr val="D7E3E8"/>
                      </a:solidFill>
                      <a:prstDash val="solid"/>
                      <a:round/>
                      <a:headEnd type="none" w="med" len="med"/>
                      <a:tailEnd type="none" w="med" len="med"/>
                    </a:lnB>
                    <a:solidFill>
                      <a:srgbClr val="FFFFFF"/>
                    </a:solidFill>
                  </a:tcPr>
                </a:tc>
                <a:tc>
                  <a:txBody>
                    <a:bodyPr/>
                    <a:lstStyle/>
                    <a:p>
                      <a:pPr indent="0" marL="0">
                        <a:buNone/>
                      </a:pPr>
                      <a:r>
                        <a:rPr lang="en-US" sz="1350" dirty="0">
                          <a:solidFill>
                            <a:srgbClr val="1B2A33"/>
                          </a:solidFill>
                        </a:rPr>
                        <a:t>Project delivery unit; published schedules; development-partner supervision</a:t>
                      </a:r>
                      <a:endParaRPr lang="en-US" sz="1350" dirty="0"/>
                    </a:p>
                  </a:txBody>
                  <a:tcPr marL="91440" marR="91440" marT="45720" marB="45720" anchor="ctr">
                    <a:lnL w="9525" cap="flat" cmpd="sng" algn="ctr">
                      <a:solidFill>
                        <a:srgbClr val="D7E3E8"/>
                      </a:solidFill>
                      <a:prstDash val="solid"/>
                      <a:round/>
                      <a:headEnd type="none" w="med" len="med"/>
                      <a:tailEnd type="none" w="med" len="med"/>
                    </a:lnL>
                    <a:lnR w="9525" cap="flat" cmpd="sng" algn="ctr">
                      <a:solidFill>
                        <a:srgbClr val="D7E3E8"/>
                      </a:solidFill>
                      <a:prstDash val="solid"/>
                      <a:round/>
                      <a:headEnd type="none" w="med" len="med"/>
                      <a:tailEnd type="none" w="med" len="med"/>
                    </a:lnR>
                    <a:lnT w="9525" cap="flat" cmpd="sng" algn="ctr">
                      <a:solidFill>
                        <a:srgbClr val="D7E3E8"/>
                      </a:solidFill>
                      <a:prstDash val="solid"/>
                      <a:round/>
                      <a:headEnd type="none" w="med" len="med"/>
                      <a:tailEnd type="none" w="med" len="med"/>
                    </a:lnT>
                    <a:lnB w="9525" cap="flat" cmpd="sng" algn="ctr">
                      <a:solidFill>
                        <a:srgbClr val="D7E3E8"/>
                      </a:solidFill>
                      <a:prstDash val="solid"/>
                      <a:round/>
                      <a:headEnd type="none" w="med" len="med"/>
                      <a:tailEnd type="none" w="med" len="med"/>
                    </a:lnB>
                    <a:solidFill>
                      <a:srgbClr val="FFFFFF"/>
                    </a:solidFill>
                  </a:tcPr>
                </a:tc>
              </a:tr>
              <a:tr h="484632">
                <a:tc>
                  <a:txBody>
                    <a:bodyPr/>
                    <a:lstStyle/>
                    <a:p>
                      <a:pPr indent="0" marL="0">
                        <a:buNone/>
                      </a:pPr>
                      <a:r>
                        <a:rPr lang="en-US" sz="1350" dirty="0">
                          <a:solidFill>
                            <a:srgbClr val="1B2A33"/>
                          </a:solidFill>
                        </a:rPr>
                        <a:t>Utility finances and arrears</a:t>
                      </a:r>
                      <a:endParaRPr lang="en-US" sz="1350" dirty="0"/>
                    </a:p>
                  </a:txBody>
                  <a:tcPr marL="91440" marR="91440" marT="45720" marB="45720" anchor="ctr">
                    <a:lnL w="9525" cap="flat" cmpd="sng" algn="ctr">
                      <a:solidFill>
                        <a:srgbClr val="D7E3E8"/>
                      </a:solidFill>
                      <a:prstDash val="solid"/>
                      <a:round/>
                      <a:headEnd type="none" w="med" len="med"/>
                      <a:tailEnd type="none" w="med" len="med"/>
                    </a:lnL>
                    <a:lnR w="9525" cap="flat" cmpd="sng" algn="ctr">
                      <a:solidFill>
                        <a:srgbClr val="D7E3E8"/>
                      </a:solidFill>
                      <a:prstDash val="solid"/>
                      <a:round/>
                      <a:headEnd type="none" w="med" len="med"/>
                      <a:tailEnd type="none" w="med" len="med"/>
                    </a:lnR>
                    <a:lnT w="9525" cap="flat" cmpd="sng" algn="ctr">
                      <a:solidFill>
                        <a:srgbClr val="D7E3E8"/>
                      </a:solidFill>
                      <a:prstDash val="solid"/>
                      <a:round/>
                      <a:headEnd type="none" w="med" len="med"/>
                      <a:tailEnd type="none" w="med" len="med"/>
                    </a:lnT>
                    <a:lnB w="9525" cap="flat" cmpd="sng" algn="ctr">
                      <a:solidFill>
                        <a:srgbClr val="D7E3E8"/>
                      </a:solidFill>
                      <a:prstDash val="solid"/>
                      <a:round/>
                      <a:headEnd type="none" w="med" len="med"/>
                      <a:tailEnd type="none" w="med" len="med"/>
                    </a:lnB>
                    <a:solidFill>
                      <a:srgbClr val="FFFFFF"/>
                    </a:solidFill>
                  </a:tcPr>
                </a:tc>
                <a:tc>
                  <a:txBody>
                    <a:bodyPr/>
                    <a:lstStyle/>
                    <a:p>
                      <a:pPr indent="0" marL="0">
                        <a:buNone/>
                      </a:pPr>
                      <a:r>
                        <a:rPr lang="en-US" sz="1350" b="1" dirty="0">
                          <a:solidFill>
                            <a:srgbClr val="B5452E"/>
                          </a:solidFill>
                        </a:rPr>
                        <a:t>High</a:t>
                      </a:r>
                      <a:endParaRPr lang="en-US" sz="1350" dirty="0"/>
                    </a:p>
                  </a:txBody>
                  <a:tcPr marL="91440" marR="91440" marT="45720" marB="45720" anchor="ctr">
                    <a:lnL w="9525" cap="flat" cmpd="sng" algn="ctr">
                      <a:solidFill>
                        <a:srgbClr val="D7E3E8"/>
                      </a:solidFill>
                      <a:prstDash val="solid"/>
                      <a:round/>
                      <a:headEnd type="none" w="med" len="med"/>
                      <a:tailEnd type="none" w="med" len="med"/>
                    </a:lnL>
                    <a:lnR w="9525" cap="flat" cmpd="sng" algn="ctr">
                      <a:solidFill>
                        <a:srgbClr val="D7E3E8"/>
                      </a:solidFill>
                      <a:prstDash val="solid"/>
                      <a:round/>
                      <a:headEnd type="none" w="med" len="med"/>
                      <a:tailEnd type="none" w="med" len="med"/>
                    </a:lnR>
                    <a:lnT w="9525" cap="flat" cmpd="sng" algn="ctr">
                      <a:solidFill>
                        <a:srgbClr val="D7E3E8"/>
                      </a:solidFill>
                      <a:prstDash val="solid"/>
                      <a:round/>
                      <a:headEnd type="none" w="med" len="med"/>
                      <a:tailEnd type="none" w="med" len="med"/>
                    </a:lnT>
                    <a:lnB w="9525" cap="flat" cmpd="sng" algn="ctr">
                      <a:solidFill>
                        <a:srgbClr val="D7E3E8"/>
                      </a:solidFill>
                      <a:prstDash val="solid"/>
                      <a:round/>
                      <a:headEnd type="none" w="med" len="med"/>
                      <a:tailEnd type="none" w="med" len="med"/>
                    </a:lnB>
                    <a:solidFill>
                      <a:srgbClr val="FFFFFF"/>
                    </a:solidFill>
                  </a:tcPr>
                </a:tc>
                <a:tc>
                  <a:txBody>
                    <a:bodyPr/>
                    <a:lstStyle/>
                    <a:p>
                      <a:pPr indent="0" marL="0">
                        <a:buNone/>
                      </a:pPr>
                      <a:r>
                        <a:rPr lang="en-US" sz="1350" dirty="0">
                          <a:solidFill>
                            <a:srgbClr val="1B2A33"/>
                          </a:solidFill>
                        </a:rPr>
                        <a:t>Tariff path; arrears plan; loss reduction</a:t>
                      </a:r>
                      <a:endParaRPr lang="en-US" sz="1350" dirty="0"/>
                    </a:p>
                  </a:txBody>
                  <a:tcPr marL="91440" marR="91440" marT="45720" marB="45720" anchor="ctr">
                    <a:lnL w="9525" cap="flat" cmpd="sng" algn="ctr">
                      <a:solidFill>
                        <a:srgbClr val="D7E3E8"/>
                      </a:solidFill>
                      <a:prstDash val="solid"/>
                      <a:round/>
                      <a:headEnd type="none" w="med" len="med"/>
                      <a:tailEnd type="none" w="med" len="med"/>
                    </a:lnL>
                    <a:lnR w="9525" cap="flat" cmpd="sng" algn="ctr">
                      <a:solidFill>
                        <a:srgbClr val="D7E3E8"/>
                      </a:solidFill>
                      <a:prstDash val="solid"/>
                      <a:round/>
                      <a:headEnd type="none" w="med" len="med"/>
                      <a:tailEnd type="none" w="med" len="med"/>
                    </a:lnR>
                    <a:lnT w="9525" cap="flat" cmpd="sng" algn="ctr">
                      <a:solidFill>
                        <a:srgbClr val="D7E3E8"/>
                      </a:solidFill>
                      <a:prstDash val="solid"/>
                      <a:round/>
                      <a:headEnd type="none" w="med" len="med"/>
                      <a:tailEnd type="none" w="med" len="med"/>
                    </a:lnT>
                    <a:lnB w="9525" cap="flat" cmpd="sng" algn="ctr">
                      <a:solidFill>
                        <a:srgbClr val="D7E3E8"/>
                      </a:solidFill>
                      <a:prstDash val="solid"/>
                      <a:round/>
                      <a:headEnd type="none" w="med" len="med"/>
                      <a:tailEnd type="none" w="med" len="med"/>
                    </a:lnB>
                    <a:solidFill>
                      <a:srgbClr val="FFFFFF"/>
                    </a:solidFill>
                  </a:tcPr>
                </a:tc>
              </a:tr>
              <a:tr h="484632">
                <a:tc>
                  <a:txBody>
                    <a:bodyPr/>
                    <a:lstStyle/>
                    <a:p>
                      <a:pPr indent="0" marL="0">
                        <a:buNone/>
                      </a:pPr>
                      <a:r>
                        <a:rPr lang="en-US" sz="1350" dirty="0">
                          <a:solidFill>
                            <a:srgbClr val="1B2A33"/>
                          </a:solidFill>
                        </a:rPr>
                        <a:t>Climate and hydrological variability</a:t>
                      </a:r>
                      <a:endParaRPr lang="en-US" sz="1350" dirty="0"/>
                    </a:p>
                  </a:txBody>
                  <a:tcPr marL="91440" marR="91440" marT="45720" marB="45720" anchor="ctr">
                    <a:lnL w="9525" cap="flat" cmpd="sng" algn="ctr">
                      <a:solidFill>
                        <a:srgbClr val="D7E3E8"/>
                      </a:solidFill>
                      <a:prstDash val="solid"/>
                      <a:round/>
                      <a:headEnd type="none" w="med" len="med"/>
                      <a:tailEnd type="none" w="med" len="med"/>
                    </a:lnL>
                    <a:lnR w="9525" cap="flat" cmpd="sng" algn="ctr">
                      <a:solidFill>
                        <a:srgbClr val="D7E3E8"/>
                      </a:solidFill>
                      <a:prstDash val="solid"/>
                      <a:round/>
                      <a:headEnd type="none" w="med" len="med"/>
                      <a:tailEnd type="none" w="med" len="med"/>
                    </a:lnR>
                    <a:lnT w="9525" cap="flat" cmpd="sng" algn="ctr">
                      <a:solidFill>
                        <a:srgbClr val="D7E3E8"/>
                      </a:solidFill>
                      <a:prstDash val="solid"/>
                      <a:round/>
                      <a:headEnd type="none" w="med" len="med"/>
                      <a:tailEnd type="none" w="med" len="med"/>
                    </a:lnT>
                    <a:lnB w="9525" cap="flat" cmpd="sng" algn="ctr">
                      <a:solidFill>
                        <a:srgbClr val="D7E3E8"/>
                      </a:solidFill>
                      <a:prstDash val="solid"/>
                      <a:round/>
                      <a:headEnd type="none" w="med" len="med"/>
                      <a:tailEnd type="none" w="med" len="med"/>
                    </a:lnB>
                    <a:solidFill>
                      <a:srgbClr val="FFFFFF"/>
                    </a:solidFill>
                  </a:tcPr>
                </a:tc>
                <a:tc>
                  <a:txBody>
                    <a:bodyPr/>
                    <a:lstStyle/>
                    <a:p>
                      <a:pPr indent="0" marL="0">
                        <a:buNone/>
                      </a:pPr>
                      <a:r>
                        <a:rPr lang="en-US" sz="1350" b="1" dirty="0">
                          <a:solidFill>
                            <a:srgbClr val="B5452E"/>
                          </a:solidFill>
                        </a:rPr>
                        <a:t>High</a:t>
                      </a:r>
                      <a:endParaRPr lang="en-US" sz="1350" dirty="0"/>
                    </a:p>
                  </a:txBody>
                  <a:tcPr marL="91440" marR="91440" marT="45720" marB="45720" anchor="ctr">
                    <a:lnL w="9525" cap="flat" cmpd="sng" algn="ctr">
                      <a:solidFill>
                        <a:srgbClr val="D7E3E8"/>
                      </a:solidFill>
                      <a:prstDash val="solid"/>
                      <a:round/>
                      <a:headEnd type="none" w="med" len="med"/>
                      <a:tailEnd type="none" w="med" len="med"/>
                    </a:lnL>
                    <a:lnR w="9525" cap="flat" cmpd="sng" algn="ctr">
                      <a:solidFill>
                        <a:srgbClr val="D7E3E8"/>
                      </a:solidFill>
                      <a:prstDash val="solid"/>
                      <a:round/>
                      <a:headEnd type="none" w="med" len="med"/>
                      <a:tailEnd type="none" w="med" len="med"/>
                    </a:lnR>
                    <a:lnT w="9525" cap="flat" cmpd="sng" algn="ctr">
                      <a:solidFill>
                        <a:srgbClr val="D7E3E8"/>
                      </a:solidFill>
                      <a:prstDash val="solid"/>
                      <a:round/>
                      <a:headEnd type="none" w="med" len="med"/>
                      <a:tailEnd type="none" w="med" len="med"/>
                    </a:lnT>
                    <a:lnB w="9525" cap="flat" cmpd="sng" algn="ctr">
                      <a:solidFill>
                        <a:srgbClr val="D7E3E8"/>
                      </a:solidFill>
                      <a:prstDash val="solid"/>
                      <a:round/>
                      <a:headEnd type="none" w="med" len="med"/>
                      <a:tailEnd type="none" w="med" len="med"/>
                    </a:lnB>
                    <a:solidFill>
                      <a:srgbClr val="FFFFFF"/>
                    </a:solidFill>
                  </a:tcPr>
                </a:tc>
                <a:tc>
                  <a:txBody>
                    <a:bodyPr/>
                    <a:lstStyle/>
                    <a:p>
                      <a:pPr indent="0" marL="0">
                        <a:buNone/>
                      </a:pPr>
                      <a:r>
                        <a:rPr lang="en-US" sz="1350" dirty="0">
                          <a:solidFill>
                            <a:srgbClr val="1B2A33"/>
                          </a:solidFill>
                        </a:rPr>
                        <a:t>Monitoring; diversification; spillway reviews</a:t>
                      </a:r>
                      <a:endParaRPr lang="en-US" sz="1350" dirty="0"/>
                    </a:p>
                  </a:txBody>
                  <a:tcPr marL="91440" marR="91440" marT="45720" marB="45720" anchor="ctr">
                    <a:lnL w="9525" cap="flat" cmpd="sng" algn="ctr">
                      <a:solidFill>
                        <a:srgbClr val="D7E3E8"/>
                      </a:solidFill>
                      <a:prstDash val="solid"/>
                      <a:round/>
                      <a:headEnd type="none" w="med" len="med"/>
                      <a:tailEnd type="none" w="med" len="med"/>
                    </a:lnL>
                    <a:lnR w="9525" cap="flat" cmpd="sng" algn="ctr">
                      <a:solidFill>
                        <a:srgbClr val="D7E3E8"/>
                      </a:solidFill>
                      <a:prstDash val="solid"/>
                      <a:round/>
                      <a:headEnd type="none" w="med" len="med"/>
                      <a:tailEnd type="none" w="med" len="med"/>
                    </a:lnR>
                    <a:lnT w="9525" cap="flat" cmpd="sng" algn="ctr">
                      <a:solidFill>
                        <a:srgbClr val="D7E3E8"/>
                      </a:solidFill>
                      <a:prstDash val="solid"/>
                      <a:round/>
                      <a:headEnd type="none" w="med" len="med"/>
                      <a:tailEnd type="none" w="med" len="med"/>
                    </a:lnT>
                    <a:lnB w="9525" cap="flat" cmpd="sng" algn="ctr">
                      <a:solidFill>
                        <a:srgbClr val="D7E3E8"/>
                      </a:solidFill>
                      <a:prstDash val="solid"/>
                      <a:round/>
                      <a:headEnd type="none" w="med" len="med"/>
                      <a:tailEnd type="none" w="med" len="med"/>
                    </a:lnB>
                    <a:solidFill>
                      <a:srgbClr val="FFFFFF"/>
                    </a:solidFill>
                  </a:tcPr>
                </a:tc>
              </a:tr>
              <a:tr h="484632">
                <a:tc>
                  <a:txBody>
                    <a:bodyPr/>
                    <a:lstStyle/>
                    <a:p>
                      <a:pPr indent="0" marL="0">
                        <a:buNone/>
                      </a:pPr>
                      <a:r>
                        <a:rPr lang="en-US" sz="1350" dirty="0">
                          <a:solidFill>
                            <a:srgbClr val="1B2A33"/>
                          </a:solidFill>
                        </a:rPr>
                        <a:t>Fuel supply disruption</a:t>
                      </a:r>
                      <a:endParaRPr lang="en-US" sz="1350" dirty="0"/>
                    </a:p>
                  </a:txBody>
                  <a:tcPr marL="91440" marR="91440" marT="45720" marB="45720" anchor="ctr">
                    <a:lnL w="9525" cap="flat" cmpd="sng" algn="ctr">
                      <a:solidFill>
                        <a:srgbClr val="D7E3E8"/>
                      </a:solidFill>
                      <a:prstDash val="solid"/>
                      <a:round/>
                      <a:headEnd type="none" w="med" len="med"/>
                      <a:tailEnd type="none" w="med" len="med"/>
                    </a:lnL>
                    <a:lnR w="9525" cap="flat" cmpd="sng" algn="ctr">
                      <a:solidFill>
                        <a:srgbClr val="D7E3E8"/>
                      </a:solidFill>
                      <a:prstDash val="solid"/>
                      <a:round/>
                      <a:headEnd type="none" w="med" len="med"/>
                      <a:tailEnd type="none" w="med" len="med"/>
                    </a:lnR>
                    <a:lnT w="9525" cap="flat" cmpd="sng" algn="ctr">
                      <a:solidFill>
                        <a:srgbClr val="D7E3E8"/>
                      </a:solidFill>
                      <a:prstDash val="solid"/>
                      <a:round/>
                      <a:headEnd type="none" w="med" len="med"/>
                      <a:tailEnd type="none" w="med" len="med"/>
                    </a:lnT>
                    <a:lnB w="9525" cap="flat" cmpd="sng" algn="ctr">
                      <a:solidFill>
                        <a:srgbClr val="D7E3E8"/>
                      </a:solidFill>
                      <a:prstDash val="solid"/>
                      <a:round/>
                      <a:headEnd type="none" w="med" len="med"/>
                      <a:tailEnd type="none" w="med" len="med"/>
                    </a:lnB>
                    <a:solidFill>
                      <a:srgbClr val="FFFFFF"/>
                    </a:solidFill>
                  </a:tcPr>
                </a:tc>
                <a:tc>
                  <a:txBody>
                    <a:bodyPr/>
                    <a:lstStyle/>
                    <a:p>
                      <a:pPr indent="0" marL="0">
                        <a:buNone/>
                      </a:pPr>
                      <a:r>
                        <a:rPr lang="en-US" sz="1350" b="1" dirty="0">
                          <a:solidFill>
                            <a:srgbClr val="8A5A00"/>
                          </a:solidFill>
                        </a:rPr>
                        <a:t>Medium</a:t>
                      </a:r>
                      <a:endParaRPr lang="en-US" sz="1350" dirty="0"/>
                    </a:p>
                  </a:txBody>
                  <a:tcPr marL="91440" marR="91440" marT="45720" marB="45720" anchor="ctr">
                    <a:lnL w="9525" cap="flat" cmpd="sng" algn="ctr">
                      <a:solidFill>
                        <a:srgbClr val="D7E3E8"/>
                      </a:solidFill>
                      <a:prstDash val="solid"/>
                      <a:round/>
                      <a:headEnd type="none" w="med" len="med"/>
                      <a:tailEnd type="none" w="med" len="med"/>
                    </a:lnL>
                    <a:lnR w="9525" cap="flat" cmpd="sng" algn="ctr">
                      <a:solidFill>
                        <a:srgbClr val="D7E3E8"/>
                      </a:solidFill>
                      <a:prstDash val="solid"/>
                      <a:round/>
                      <a:headEnd type="none" w="med" len="med"/>
                      <a:tailEnd type="none" w="med" len="med"/>
                    </a:lnR>
                    <a:lnT w="9525" cap="flat" cmpd="sng" algn="ctr">
                      <a:solidFill>
                        <a:srgbClr val="D7E3E8"/>
                      </a:solidFill>
                      <a:prstDash val="solid"/>
                      <a:round/>
                      <a:headEnd type="none" w="med" len="med"/>
                      <a:tailEnd type="none" w="med" len="med"/>
                    </a:lnT>
                    <a:lnB w="9525" cap="flat" cmpd="sng" algn="ctr">
                      <a:solidFill>
                        <a:srgbClr val="D7E3E8"/>
                      </a:solidFill>
                      <a:prstDash val="solid"/>
                      <a:round/>
                      <a:headEnd type="none" w="med" len="med"/>
                      <a:tailEnd type="none" w="med" len="med"/>
                    </a:lnB>
                    <a:solidFill>
                      <a:srgbClr val="FFFFFF"/>
                    </a:solidFill>
                  </a:tcPr>
                </a:tc>
                <a:tc>
                  <a:txBody>
                    <a:bodyPr/>
                    <a:lstStyle/>
                    <a:p>
                      <a:pPr indent="0" marL="0">
                        <a:buNone/>
                      </a:pPr>
                      <a:r>
                        <a:rPr lang="en-US" sz="1350" dirty="0">
                          <a:solidFill>
                            <a:srgbClr val="1B2A33"/>
                          </a:solidFill>
                        </a:rPr>
                        <a:t>Moribaya depot; reserve stocks; diversification</a:t>
                      </a:r>
                      <a:endParaRPr lang="en-US" sz="1350" dirty="0"/>
                    </a:p>
                  </a:txBody>
                  <a:tcPr marL="91440" marR="91440" marT="45720" marB="45720" anchor="ctr">
                    <a:lnL w="9525" cap="flat" cmpd="sng" algn="ctr">
                      <a:solidFill>
                        <a:srgbClr val="D7E3E8"/>
                      </a:solidFill>
                      <a:prstDash val="solid"/>
                      <a:round/>
                      <a:headEnd type="none" w="med" len="med"/>
                      <a:tailEnd type="none" w="med" len="med"/>
                    </a:lnL>
                    <a:lnR w="9525" cap="flat" cmpd="sng" algn="ctr">
                      <a:solidFill>
                        <a:srgbClr val="D7E3E8"/>
                      </a:solidFill>
                      <a:prstDash val="solid"/>
                      <a:round/>
                      <a:headEnd type="none" w="med" len="med"/>
                      <a:tailEnd type="none" w="med" len="med"/>
                    </a:lnR>
                    <a:lnT w="9525" cap="flat" cmpd="sng" algn="ctr">
                      <a:solidFill>
                        <a:srgbClr val="D7E3E8"/>
                      </a:solidFill>
                      <a:prstDash val="solid"/>
                      <a:round/>
                      <a:headEnd type="none" w="med" len="med"/>
                      <a:tailEnd type="none" w="med" len="med"/>
                    </a:lnT>
                    <a:lnB w="9525" cap="flat" cmpd="sng" algn="ctr">
                      <a:solidFill>
                        <a:srgbClr val="D7E3E8"/>
                      </a:solidFill>
                      <a:prstDash val="solid"/>
                      <a:round/>
                      <a:headEnd type="none" w="med" len="med"/>
                      <a:tailEnd type="none" w="med" len="med"/>
                    </a:lnB>
                    <a:solidFill>
                      <a:srgbClr val="FFFFFF"/>
                    </a:solidFill>
                  </a:tcPr>
                </a:tc>
              </a:tr>
              <a:tr h="484632">
                <a:tc>
                  <a:txBody>
                    <a:bodyPr/>
                    <a:lstStyle/>
                    <a:p>
                      <a:pPr indent="0" marL="0">
                        <a:buNone/>
                      </a:pPr>
                      <a:r>
                        <a:rPr lang="en-US" sz="1350" dirty="0">
                          <a:solidFill>
                            <a:srgbClr val="1B2A33"/>
                          </a:solidFill>
                        </a:rPr>
                        <a:t>Financing and country risk</a:t>
                      </a:r>
                      <a:endParaRPr lang="en-US" sz="1350" dirty="0"/>
                    </a:p>
                  </a:txBody>
                  <a:tcPr marL="91440" marR="91440" marT="45720" marB="45720" anchor="ctr">
                    <a:lnL w="9525" cap="flat" cmpd="sng" algn="ctr">
                      <a:solidFill>
                        <a:srgbClr val="D7E3E8"/>
                      </a:solidFill>
                      <a:prstDash val="solid"/>
                      <a:round/>
                      <a:headEnd type="none" w="med" len="med"/>
                      <a:tailEnd type="none" w="med" len="med"/>
                    </a:lnL>
                    <a:lnR w="9525" cap="flat" cmpd="sng" algn="ctr">
                      <a:solidFill>
                        <a:srgbClr val="D7E3E8"/>
                      </a:solidFill>
                      <a:prstDash val="solid"/>
                      <a:round/>
                      <a:headEnd type="none" w="med" len="med"/>
                      <a:tailEnd type="none" w="med" len="med"/>
                    </a:lnR>
                    <a:lnT w="9525" cap="flat" cmpd="sng" algn="ctr">
                      <a:solidFill>
                        <a:srgbClr val="D7E3E8"/>
                      </a:solidFill>
                      <a:prstDash val="solid"/>
                      <a:round/>
                      <a:headEnd type="none" w="med" len="med"/>
                      <a:tailEnd type="none" w="med" len="med"/>
                    </a:lnT>
                    <a:lnB w="9525" cap="flat" cmpd="sng" algn="ctr">
                      <a:solidFill>
                        <a:srgbClr val="D7E3E8"/>
                      </a:solidFill>
                      <a:prstDash val="solid"/>
                      <a:round/>
                      <a:headEnd type="none" w="med" len="med"/>
                      <a:tailEnd type="none" w="med" len="med"/>
                    </a:lnB>
                    <a:solidFill>
                      <a:srgbClr val="FFFFFF"/>
                    </a:solidFill>
                  </a:tcPr>
                </a:tc>
                <a:tc>
                  <a:txBody>
                    <a:bodyPr/>
                    <a:lstStyle/>
                    <a:p>
                      <a:pPr indent="0" marL="0">
                        <a:buNone/>
                      </a:pPr>
                      <a:r>
                        <a:rPr lang="en-US" sz="1350" b="1" dirty="0">
                          <a:solidFill>
                            <a:srgbClr val="8A5A00"/>
                          </a:solidFill>
                        </a:rPr>
                        <a:t>Medium–High</a:t>
                      </a:r>
                      <a:endParaRPr lang="en-US" sz="1350" dirty="0"/>
                    </a:p>
                  </a:txBody>
                  <a:tcPr marL="91440" marR="91440" marT="45720" marB="45720" anchor="ctr">
                    <a:lnL w="9525" cap="flat" cmpd="sng" algn="ctr">
                      <a:solidFill>
                        <a:srgbClr val="D7E3E8"/>
                      </a:solidFill>
                      <a:prstDash val="solid"/>
                      <a:round/>
                      <a:headEnd type="none" w="med" len="med"/>
                      <a:tailEnd type="none" w="med" len="med"/>
                    </a:lnL>
                    <a:lnR w="9525" cap="flat" cmpd="sng" algn="ctr">
                      <a:solidFill>
                        <a:srgbClr val="D7E3E8"/>
                      </a:solidFill>
                      <a:prstDash val="solid"/>
                      <a:round/>
                      <a:headEnd type="none" w="med" len="med"/>
                      <a:tailEnd type="none" w="med" len="med"/>
                    </a:lnR>
                    <a:lnT w="9525" cap="flat" cmpd="sng" algn="ctr">
                      <a:solidFill>
                        <a:srgbClr val="D7E3E8"/>
                      </a:solidFill>
                      <a:prstDash val="solid"/>
                      <a:round/>
                      <a:headEnd type="none" w="med" len="med"/>
                      <a:tailEnd type="none" w="med" len="med"/>
                    </a:lnT>
                    <a:lnB w="9525" cap="flat" cmpd="sng" algn="ctr">
                      <a:solidFill>
                        <a:srgbClr val="D7E3E8"/>
                      </a:solidFill>
                      <a:prstDash val="solid"/>
                      <a:round/>
                      <a:headEnd type="none" w="med" len="med"/>
                      <a:tailEnd type="none" w="med" len="med"/>
                    </a:lnB>
                    <a:solidFill>
                      <a:srgbClr val="FFFFFF"/>
                    </a:solidFill>
                  </a:tcPr>
                </a:tc>
                <a:tc>
                  <a:txBody>
                    <a:bodyPr/>
                    <a:lstStyle/>
                    <a:p>
                      <a:pPr indent="0" marL="0">
                        <a:buNone/>
                      </a:pPr>
                      <a:r>
                        <a:rPr lang="en-US" sz="1350" dirty="0">
                          <a:solidFill>
                            <a:srgbClr val="1B2A33"/>
                          </a:solidFill>
                        </a:rPr>
                        <a:t>Guarantees; concessional blending; transparent PPAs</a:t>
                      </a:r>
                      <a:endParaRPr lang="en-US" sz="1350" dirty="0"/>
                    </a:p>
                  </a:txBody>
                  <a:tcPr marL="91440" marR="91440" marT="45720" marB="45720" anchor="ctr">
                    <a:lnL w="9525" cap="flat" cmpd="sng" algn="ctr">
                      <a:solidFill>
                        <a:srgbClr val="D7E3E8"/>
                      </a:solidFill>
                      <a:prstDash val="solid"/>
                      <a:round/>
                      <a:headEnd type="none" w="med" len="med"/>
                      <a:tailEnd type="none" w="med" len="med"/>
                    </a:lnL>
                    <a:lnR w="9525" cap="flat" cmpd="sng" algn="ctr">
                      <a:solidFill>
                        <a:srgbClr val="D7E3E8"/>
                      </a:solidFill>
                      <a:prstDash val="solid"/>
                      <a:round/>
                      <a:headEnd type="none" w="med" len="med"/>
                      <a:tailEnd type="none" w="med" len="med"/>
                    </a:lnR>
                    <a:lnT w="9525" cap="flat" cmpd="sng" algn="ctr">
                      <a:solidFill>
                        <a:srgbClr val="D7E3E8"/>
                      </a:solidFill>
                      <a:prstDash val="solid"/>
                      <a:round/>
                      <a:headEnd type="none" w="med" len="med"/>
                      <a:tailEnd type="none" w="med" len="med"/>
                    </a:lnT>
                    <a:lnB w="9525" cap="flat" cmpd="sng" algn="ctr">
                      <a:solidFill>
                        <a:srgbClr val="D7E3E8"/>
                      </a:solidFill>
                      <a:prstDash val="solid"/>
                      <a:round/>
                      <a:headEnd type="none" w="med" len="med"/>
                      <a:tailEnd type="none" w="med" len="med"/>
                    </a:lnB>
                    <a:solidFill>
                      <a:srgbClr val="FFFFFF"/>
                    </a:solidFill>
                  </a:tcPr>
                </a:tc>
              </a:tr>
              <a:tr h="484632">
                <a:tc>
                  <a:txBody>
                    <a:bodyPr/>
                    <a:lstStyle/>
                    <a:p>
                      <a:pPr indent="0" marL="0">
                        <a:buNone/>
                      </a:pPr>
                      <a:r>
                        <a:rPr lang="en-US" sz="1350" dirty="0">
                          <a:solidFill>
                            <a:srgbClr val="1B2A33"/>
                          </a:solidFill>
                        </a:rPr>
                        <a:t>Transboundary and environmental/social constraints</a:t>
                      </a:r>
                      <a:endParaRPr lang="en-US" sz="1350" dirty="0"/>
                    </a:p>
                  </a:txBody>
                  <a:tcPr marL="91440" marR="91440" marT="45720" marB="45720" anchor="ctr">
                    <a:lnL w="9525" cap="flat" cmpd="sng" algn="ctr">
                      <a:solidFill>
                        <a:srgbClr val="D7E3E8"/>
                      </a:solidFill>
                      <a:prstDash val="solid"/>
                      <a:round/>
                      <a:headEnd type="none" w="med" len="med"/>
                      <a:tailEnd type="none" w="med" len="med"/>
                    </a:lnL>
                    <a:lnR w="9525" cap="flat" cmpd="sng" algn="ctr">
                      <a:solidFill>
                        <a:srgbClr val="D7E3E8"/>
                      </a:solidFill>
                      <a:prstDash val="solid"/>
                      <a:round/>
                      <a:headEnd type="none" w="med" len="med"/>
                      <a:tailEnd type="none" w="med" len="med"/>
                    </a:lnR>
                    <a:lnT w="9525" cap="flat" cmpd="sng" algn="ctr">
                      <a:solidFill>
                        <a:srgbClr val="D7E3E8"/>
                      </a:solidFill>
                      <a:prstDash val="solid"/>
                      <a:round/>
                      <a:headEnd type="none" w="med" len="med"/>
                      <a:tailEnd type="none" w="med" len="med"/>
                    </a:lnT>
                    <a:lnB w="9525" cap="flat" cmpd="sng" algn="ctr">
                      <a:solidFill>
                        <a:srgbClr val="D7E3E8"/>
                      </a:solidFill>
                      <a:prstDash val="solid"/>
                      <a:round/>
                      <a:headEnd type="none" w="med" len="med"/>
                      <a:tailEnd type="none" w="med" len="med"/>
                    </a:lnB>
                    <a:solidFill>
                      <a:srgbClr val="FFFFFF"/>
                    </a:solidFill>
                  </a:tcPr>
                </a:tc>
                <a:tc>
                  <a:txBody>
                    <a:bodyPr/>
                    <a:lstStyle/>
                    <a:p>
                      <a:pPr indent="0" marL="0">
                        <a:buNone/>
                      </a:pPr>
                      <a:r>
                        <a:rPr lang="en-US" sz="1350" b="1" dirty="0">
                          <a:solidFill>
                            <a:srgbClr val="8A5A00"/>
                          </a:solidFill>
                        </a:rPr>
                        <a:t>Medium</a:t>
                      </a:r>
                      <a:endParaRPr lang="en-US" sz="1350" dirty="0"/>
                    </a:p>
                  </a:txBody>
                  <a:tcPr marL="91440" marR="91440" marT="45720" marB="45720" anchor="ctr">
                    <a:lnL w="9525" cap="flat" cmpd="sng" algn="ctr">
                      <a:solidFill>
                        <a:srgbClr val="D7E3E8"/>
                      </a:solidFill>
                      <a:prstDash val="solid"/>
                      <a:round/>
                      <a:headEnd type="none" w="med" len="med"/>
                      <a:tailEnd type="none" w="med" len="med"/>
                    </a:lnL>
                    <a:lnR w="9525" cap="flat" cmpd="sng" algn="ctr">
                      <a:solidFill>
                        <a:srgbClr val="D7E3E8"/>
                      </a:solidFill>
                      <a:prstDash val="solid"/>
                      <a:round/>
                      <a:headEnd type="none" w="med" len="med"/>
                      <a:tailEnd type="none" w="med" len="med"/>
                    </a:lnR>
                    <a:lnT w="9525" cap="flat" cmpd="sng" algn="ctr">
                      <a:solidFill>
                        <a:srgbClr val="D7E3E8"/>
                      </a:solidFill>
                      <a:prstDash val="solid"/>
                      <a:round/>
                      <a:headEnd type="none" w="med" len="med"/>
                      <a:tailEnd type="none" w="med" len="med"/>
                    </a:lnT>
                    <a:lnB w="9525" cap="flat" cmpd="sng" algn="ctr">
                      <a:solidFill>
                        <a:srgbClr val="D7E3E8"/>
                      </a:solidFill>
                      <a:prstDash val="solid"/>
                      <a:round/>
                      <a:headEnd type="none" w="med" len="med"/>
                      <a:tailEnd type="none" w="med" len="med"/>
                    </a:lnB>
                    <a:solidFill>
                      <a:srgbClr val="FFFFFF"/>
                    </a:solidFill>
                  </a:tcPr>
                </a:tc>
                <a:tc>
                  <a:txBody>
                    <a:bodyPr/>
                    <a:lstStyle/>
                    <a:p>
                      <a:pPr indent="0" marL="0">
                        <a:buNone/>
                      </a:pPr>
                      <a:r>
                        <a:rPr lang="en-US" sz="1350" dirty="0">
                          <a:solidFill>
                            <a:srgbClr val="1B2A33"/>
                          </a:solidFill>
                        </a:rPr>
                        <a:t>Early impact assessment; basin consultation</a:t>
                      </a:r>
                      <a:endParaRPr lang="en-US" sz="1350" dirty="0"/>
                    </a:p>
                  </a:txBody>
                  <a:tcPr marL="91440" marR="91440" marT="45720" marB="45720" anchor="ctr">
                    <a:lnL w="9525" cap="flat" cmpd="sng" algn="ctr">
                      <a:solidFill>
                        <a:srgbClr val="D7E3E8"/>
                      </a:solidFill>
                      <a:prstDash val="solid"/>
                      <a:round/>
                      <a:headEnd type="none" w="med" len="med"/>
                      <a:tailEnd type="none" w="med" len="med"/>
                    </a:lnL>
                    <a:lnR w="9525" cap="flat" cmpd="sng" algn="ctr">
                      <a:solidFill>
                        <a:srgbClr val="D7E3E8"/>
                      </a:solidFill>
                      <a:prstDash val="solid"/>
                      <a:round/>
                      <a:headEnd type="none" w="med" len="med"/>
                      <a:tailEnd type="none" w="med" len="med"/>
                    </a:lnR>
                    <a:lnT w="9525" cap="flat" cmpd="sng" algn="ctr">
                      <a:solidFill>
                        <a:srgbClr val="D7E3E8"/>
                      </a:solidFill>
                      <a:prstDash val="solid"/>
                      <a:round/>
                      <a:headEnd type="none" w="med" len="med"/>
                      <a:tailEnd type="none" w="med" len="med"/>
                    </a:lnT>
                    <a:lnB w="9525" cap="flat" cmpd="sng" algn="ctr">
                      <a:solidFill>
                        <a:srgbClr val="D7E3E8"/>
                      </a:solidFill>
                      <a:prstDash val="solid"/>
                      <a:round/>
                      <a:headEnd type="none" w="med" len="med"/>
                      <a:tailEnd type="none" w="med" len="med"/>
                    </a:lnB>
                    <a:solidFill>
                      <a:srgbClr val="FFFFFF"/>
                    </a:solidFill>
                  </a:tcPr>
                </a:tc>
              </a:tr>
              <a:tr h="484632">
                <a:tc>
                  <a:txBody>
                    <a:bodyPr/>
                    <a:lstStyle/>
                    <a:p>
                      <a:pPr indent="0" marL="0">
                        <a:buNone/>
                      </a:pPr>
                      <a:r>
                        <a:rPr lang="en-US" sz="1350" dirty="0">
                          <a:solidFill>
                            <a:srgbClr val="1B2A33"/>
                          </a:solidFill>
                        </a:rPr>
                        <a:t>Data gaps and conflicting statistics</a:t>
                      </a:r>
                      <a:endParaRPr lang="en-US" sz="1350" dirty="0"/>
                    </a:p>
                  </a:txBody>
                  <a:tcPr marL="91440" marR="91440" marT="45720" marB="45720" anchor="ctr">
                    <a:lnL w="9525" cap="flat" cmpd="sng" algn="ctr">
                      <a:solidFill>
                        <a:srgbClr val="D7E3E8"/>
                      </a:solidFill>
                      <a:prstDash val="solid"/>
                      <a:round/>
                      <a:headEnd type="none" w="med" len="med"/>
                      <a:tailEnd type="none" w="med" len="med"/>
                    </a:lnL>
                    <a:lnR w="9525" cap="flat" cmpd="sng" algn="ctr">
                      <a:solidFill>
                        <a:srgbClr val="D7E3E8"/>
                      </a:solidFill>
                      <a:prstDash val="solid"/>
                      <a:round/>
                      <a:headEnd type="none" w="med" len="med"/>
                      <a:tailEnd type="none" w="med" len="med"/>
                    </a:lnR>
                    <a:lnT w="9525" cap="flat" cmpd="sng" algn="ctr">
                      <a:solidFill>
                        <a:srgbClr val="D7E3E8"/>
                      </a:solidFill>
                      <a:prstDash val="solid"/>
                      <a:round/>
                      <a:headEnd type="none" w="med" len="med"/>
                      <a:tailEnd type="none" w="med" len="med"/>
                    </a:lnT>
                    <a:lnB w="9525" cap="flat" cmpd="sng" algn="ctr">
                      <a:solidFill>
                        <a:srgbClr val="D7E3E8"/>
                      </a:solidFill>
                      <a:prstDash val="solid"/>
                      <a:round/>
                      <a:headEnd type="none" w="med" len="med"/>
                      <a:tailEnd type="none" w="med" len="med"/>
                    </a:lnB>
                    <a:solidFill>
                      <a:srgbClr val="FFFFFF"/>
                    </a:solidFill>
                  </a:tcPr>
                </a:tc>
                <a:tc>
                  <a:txBody>
                    <a:bodyPr/>
                    <a:lstStyle/>
                    <a:p>
                      <a:pPr indent="0" marL="0">
                        <a:buNone/>
                      </a:pPr>
                      <a:r>
                        <a:rPr lang="en-US" sz="1350" b="1" dirty="0">
                          <a:solidFill>
                            <a:srgbClr val="8A5A00"/>
                          </a:solidFill>
                        </a:rPr>
                        <a:t>Medium</a:t>
                      </a:r>
                      <a:endParaRPr lang="en-US" sz="1350" dirty="0"/>
                    </a:p>
                  </a:txBody>
                  <a:tcPr marL="91440" marR="91440" marT="45720" marB="45720" anchor="ctr">
                    <a:lnL w="9525" cap="flat" cmpd="sng" algn="ctr">
                      <a:solidFill>
                        <a:srgbClr val="D7E3E8"/>
                      </a:solidFill>
                      <a:prstDash val="solid"/>
                      <a:round/>
                      <a:headEnd type="none" w="med" len="med"/>
                      <a:tailEnd type="none" w="med" len="med"/>
                    </a:lnL>
                    <a:lnR w="9525" cap="flat" cmpd="sng" algn="ctr">
                      <a:solidFill>
                        <a:srgbClr val="D7E3E8"/>
                      </a:solidFill>
                      <a:prstDash val="solid"/>
                      <a:round/>
                      <a:headEnd type="none" w="med" len="med"/>
                      <a:tailEnd type="none" w="med" len="med"/>
                    </a:lnR>
                    <a:lnT w="9525" cap="flat" cmpd="sng" algn="ctr">
                      <a:solidFill>
                        <a:srgbClr val="D7E3E8"/>
                      </a:solidFill>
                      <a:prstDash val="solid"/>
                      <a:round/>
                      <a:headEnd type="none" w="med" len="med"/>
                      <a:tailEnd type="none" w="med" len="med"/>
                    </a:lnT>
                    <a:lnB w="9525" cap="flat" cmpd="sng" algn="ctr">
                      <a:solidFill>
                        <a:srgbClr val="D7E3E8"/>
                      </a:solidFill>
                      <a:prstDash val="solid"/>
                      <a:round/>
                      <a:headEnd type="none" w="med" len="med"/>
                      <a:tailEnd type="none" w="med" len="med"/>
                    </a:lnB>
                    <a:solidFill>
                      <a:srgbClr val="FFFFFF"/>
                    </a:solidFill>
                  </a:tcPr>
                </a:tc>
                <a:tc>
                  <a:txBody>
                    <a:bodyPr/>
                    <a:lstStyle/>
                    <a:p>
                      <a:pPr indent="0" marL="0">
                        <a:buNone/>
                      </a:pPr>
                      <a:r>
                        <a:rPr lang="en-US" sz="1350" dirty="0">
                          <a:solidFill>
                            <a:srgbClr val="1B2A33"/>
                          </a:solidFill>
                        </a:rPr>
                        <a:t>Data reconciliation; publication of load curves</a:t>
                      </a:r>
                      <a:endParaRPr lang="en-US" sz="1350" dirty="0"/>
                    </a:p>
                  </a:txBody>
                  <a:tcPr marL="91440" marR="91440" marT="45720" marB="45720" anchor="ctr">
                    <a:lnL w="9525" cap="flat" cmpd="sng" algn="ctr">
                      <a:solidFill>
                        <a:srgbClr val="D7E3E8"/>
                      </a:solidFill>
                      <a:prstDash val="solid"/>
                      <a:round/>
                      <a:headEnd type="none" w="med" len="med"/>
                      <a:tailEnd type="none" w="med" len="med"/>
                    </a:lnL>
                    <a:lnR w="9525" cap="flat" cmpd="sng" algn="ctr">
                      <a:solidFill>
                        <a:srgbClr val="D7E3E8"/>
                      </a:solidFill>
                      <a:prstDash val="solid"/>
                      <a:round/>
                      <a:headEnd type="none" w="med" len="med"/>
                      <a:tailEnd type="none" w="med" len="med"/>
                    </a:lnR>
                    <a:lnT w="9525" cap="flat" cmpd="sng" algn="ctr">
                      <a:solidFill>
                        <a:srgbClr val="D7E3E8"/>
                      </a:solidFill>
                      <a:prstDash val="solid"/>
                      <a:round/>
                      <a:headEnd type="none" w="med" len="med"/>
                      <a:tailEnd type="none" w="med" len="med"/>
                    </a:lnT>
                    <a:lnB w="9525" cap="flat" cmpd="sng" algn="ctr">
                      <a:solidFill>
                        <a:srgbClr val="D7E3E8"/>
                      </a:solidFill>
                      <a:prstDash val="solid"/>
                      <a:round/>
                      <a:headEnd type="none" w="med" len="med"/>
                      <a:tailEnd type="none" w="med" len="med"/>
                    </a:lnB>
                    <a:solidFill>
                      <a:srgbClr val="FFFFFF"/>
                    </a:solidFill>
                  </a:tcPr>
                </a:tc>
              </a:tr>
            </a:tbl>
          </a:graphicData>
        </a:graphic>
      </p:graphicFrame>
      <p:sp>
        <p:nvSpPr>
          <p:cNvPr id="4" name="source"/>
          <p:cNvSpPr txBox="1"/>
          <p:nvPr/>
        </p:nvSpPr>
        <p:spPr>
          <a:xfrm>
            <a:off x="548640" y="5989320"/>
            <a:ext cx="11064240" cy="420624"/>
          </a:xfrm>
          <a:prstGeom prst="rect">
            <a:avLst/>
          </a:prstGeom>
          <a:noFill/>
          <a:ln/>
        </p:spPr>
        <p:txBody>
          <a:bodyPr wrap="square" rtlCol="0" anchor="t"/>
          <a:lstStyle/>
          <a:p>
            <a:pPr indent="0" marL="0">
              <a:buNone/>
            </a:pPr>
            <a:r>
              <a:rPr lang="en-US" sz="900" dirty="0">
                <a:solidFill>
                  <a:srgbClr val="4B5563"/>
                </a:solidFill>
              </a:rPr>
              <a:t>Ratings are the preparer's qualitative judgement based on the evidence cited in this presentation; they are not an official risk assessment.</a:t>
            </a:r>
            <a:endParaRPr lang="en-US" sz="900" dirty="0"/>
          </a:p>
        </p:txBody>
      </p:sp>
      <p:sp>
        <p:nvSpPr>
          <p:cNvPr id="25" name="Slide Number Placeholder 0"/>
          <p:cNvSpPr>
            <a:spLocks noGrp="1"/>
          </p:cNvSpPr>
          <p:nvPr>
            <p:ph type="sldNum" sz="quarter" idx="4294967295"/>
          </p:nvPr>
        </p:nvSpPr>
        <p:spPr>
          <a:xfrm>
            <a:off x="11155680" y="6446520"/>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4B5563"/>
                </a:solidFill>
                <a:latin typeface="Calibri"/>
                <a:ea typeface="Calibri"/>
                <a:cs typeface="Calibri"/>
              </a:defRPr>
            </a:lvl1pPr>
          </a:lstStyle>
          <a:p>
            <a:pPr algn="l"/>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rtlCol="0" anchor="ctr"/>
          <a:lstStyle/>
          <a:p>
            <a:pPr indent="0" marL="0">
              <a:buNone/>
            </a:pPr>
            <a:r>
              <a:rPr lang="en-US" sz="3000" b="1" dirty="0">
                <a:solidFill>
                  <a:srgbClr val="123B4F"/>
                </a:solidFill>
                <a:latin typeface="Cambria" pitchFamily="34" charset="0"/>
                <a:ea typeface="Cambria" pitchFamily="34" charset="-122"/>
                <a:cs typeface="Cambria" pitchFamily="34" charset="-120"/>
              </a:rPr>
              <a:t>Decisions needed and evidence to obtain</a:t>
            </a:r>
            <a:endParaRPr lang="en-US" sz="3000" dirty="0"/>
          </a:p>
        </p:txBody>
      </p:sp>
      <p:sp>
        <p:nvSpPr>
          <p:cNvPr id="3" name="decisions"/>
          <p:cNvSpPr/>
          <p:nvPr/>
        </p:nvSpPr>
        <p:spPr>
          <a:xfrm>
            <a:off x="548640" y="1325880"/>
            <a:ext cx="5394960" cy="4572000"/>
          </a:xfrm>
          <a:prstGeom prst="roundRect">
            <a:avLst>
              <a:gd name="adj" fmla="val 1600"/>
            </a:avLst>
          </a:prstGeom>
          <a:solidFill>
            <a:srgbClr val="EEF3F5"/>
          </a:solidFill>
          <a:ln w="12700">
            <a:solidFill>
              <a:srgbClr val="EEF3F5"/>
            </a:solidFill>
            <a:prstDash val="solid"/>
          </a:ln>
        </p:spPr>
      </p:sp>
      <p:sp>
        <p:nvSpPr>
          <p:cNvPr id="4" name="Text 2"/>
          <p:cNvSpPr txBox="1"/>
          <p:nvPr/>
        </p:nvSpPr>
        <p:spPr>
          <a:xfrm>
            <a:off x="777240" y="1463040"/>
            <a:ext cx="4937760" cy="457200"/>
          </a:xfrm>
          <a:prstGeom prst="rect">
            <a:avLst/>
          </a:prstGeom>
          <a:noFill/>
          <a:ln/>
        </p:spPr>
        <p:txBody>
          <a:bodyPr wrap="square" lIns="0" tIns="0" rIns="0" bIns="0" rtlCol="0" anchor="ctr"/>
          <a:lstStyle/>
          <a:p>
            <a:pPr indent="0" marL="0">
              <a:buNone/>
            </a:pPr>
            <a:r>
              <a:rPr lang="en-US" sz="1800" b="1" dirty="0">
                <a:solidFill>
                  <a:srgbClr val="123B4F"/>
                </a:solidFill>
                <a:latin typeface="Cambria" pitchFamily="34" charset="0"/>
                <a:ea typeface="Cambria" pitchFamily="34" charset="-122"/>
                <a:cs typeface="Cambria" pitchFamily="34" charset="-120"/>
              </a:rPr>
              <a:t>Decisions for the authorities</a:t>
            </a:r>
            <a:endParaRPr lang="en-US" sz="1800" dirty="0"/>
          </a:p>
        </p:txBody>
      </p:sp>
      <p:sp>
        <p:nvSpPr>
          <p:cNvPr id="5" name="bullets"/>
          <p:cNvSpPr txBox="1"/>
          <p:nvPr/>
        </p:nvSpPr>
        <p:spPr>
          <a:xfrm>
            <a:off x="777240" y="1965960"/>
            <a:ext cx="4937760" cy="3840480"/>
          </a:xfrm>
          <a:prstGeom prst="rect">
            <a:avLst/>
          </a:prstGeom>
          <a:noFill/>
          <a:ln/>
        </p:spPr>
        <p:txBody>
          <a:bodyPr wrap="square" rtlCol="0" anchor="t"/>
          <a:lstStyle/>
          <a:p>
            <a:pPr marL="342900" indent="-342900">
              <a:spcAft>
                <a:spcPts val="800"/>
              </a:spcAft>
              <a:buSzPct val="100000"/>
              <a:buChar char="•"/>
            </a:pPr>
            <a:r>
              <a:rPr lang="en-US" sz="1400" dirty="0">
                <a:solidFill>
                  <a:srgbClr val="1B2A33"/>
                </a:solidFill>
              </a:rPr>
              <a:t>Mandate the cascade dependable-capacity study and data sharing</a:t>
            </a:r>
            <a:endParaRPr lang="en-US" sz="1400" dirty="0"/>
          </a:p>
          <a:p>
            <a:pPr marL="342900" indent="-342900">
              <a:spcAft>
                <a:spcPts val="800"/>
              </a:spcAft>
              <a:buSzPct val="100000"/>
              <a:buChar char="•"/>
            </a:pPr>
            <a:r>
              <a:rPr lang="en-US" sz="1400" dirty="0">
                <a:solidFill>
                  <a:srgbClr val="1B2A33"/>
                </a:solidFill>
              </a:rPr>
              <a:t>Set up a delivery unit for financed works, with public schedules</a:t>
            </a:r>
            <a:endParaRPr lang="en-US" sz="1400" dirty="0"/>
          </a:p>
          <a:p>
            <a:pPr marL="342900" indent="-342900">
              <a:spcAft>
                <a:spcPts val="800"/>
              </a:spcAft>
              <a:buSzPct val="100000"/>
              <a:buChar char="•"/>
            </a:pPr>
            <a:r>
              <a:rPr lang="en-US" sz="1400" dirty="0">
                <a:solidFill>
                  <a:srgbClr val="1B2A33"/>
                </a:solidFill>
              </a:rPr>
              <a:t>Approve an arrears plan and tariff trajectory</a:t>
            </a:r>
            <a:endParaRPr lang="en-US" sz="1400" dirty="0"/>
          </a:p>
          <a:p>
            <a:pPr marL="342900" indent="-342900">
              <a:spcAft>
                <a:spcPts val="800"/>
              </a:spcAft>
              <a:buSzPct val="100000"/>
              <a:buChar char="•"/>
            </a:pPr>
            <a:r>
              <a:rPr lang="en-US" sz="1400" dirty="0">
                <a:solidFill>
                  <a:srgbClr val="1B2A33"/>
                </a:solidFill>
              </a:rPr>
              <a:t>Launch technology-open firm-capacity and solar procurement frameworks</a:t>
            </a:r>
            <a:endParaRPr lang="en-US" sz="1400" dirty="0"/>
          </a:p>
          <a:p>
            <a:pPr marL="342900" indent="-342900">
              <a:spcAft>
                <a:spcPts val="800"/>
              </a:spcAft>
              <a:buSzPct val="100000"/>
              <a:buChar char="•"/>
            </a:pPr>
            <a:r>
              <a:rPr lang="en-US" sz="1400" dirty="0">
                <a:solidFill>
                  <a:srgbClr val="1B2A33"/>
                </a:solidFill>
              </a:rPr>
              <a:t>Request development-partner guarantees and preparation support</a:t>
            </a:r>
            <a:endParaRPr lang="en-US" sz="1400" dirty="0"/>
          </a:p>
        </p:txBody>
      </p:sp>
      <p:sp>
        <p:nvSpPr>
          <p:cNvPr id="6" name="gaps"/>
          <p:cNvSpPr/>
          <p:nvPr/>
        </p:nvSpPr>
        <p:spPr>
          <a:xfrm>
            <a:off x="6217920" y="1325880"/>
            <a:ext cx="5394960" cy="4572000"/>
          </a:xfrm>
          <a:prstGeom prst="roundRect">
            <a:avLst>
              <a:gd name="adj" fmla="val 1600"/>
            </a:avLst>
          </a:prstGeom>
          <a:solidFill>
            <a:srgbClr val="FBF1E1"/>
          </a:solidFill>
          <a:ln w="12700">
            <a:solidFill>
              <a:srgbClr val="FBF1E1"/>
            </a:solidFill>
            <a:prstDash val="solid"/>
          </a:ln>
        </p:spPr>
      </p:sp>
      <p:sp>
        <p:nvSpPr>
          <p:cNvPr id="7" name="Text 5"/>
          <p:cNvSpPr txBox="1"/>
          <p:nvPr/>
        </p:nvSpPr>
        <p:spPr>
          <a:xfrm>
            <a:off x="6446520" y="1463040"/>
            <a:ext cx="4937760" cy="457200"/>
          </a:xfrm>
          <a:prstGeom prst="rect">
            <a:avLst/>
          </a:prstGeom>
          <a:noFill/>
          <a:ln/>
        </p:spPr>
        <p:txBody>
          <a:bodyPr wrap="square" lIns="0" tIns="0" rIns="0" bIns="0" rtlCol="0" anchor="ctr"/>
          <a:lstStyle/>
          <a:p>
            <a:pPr indent="0" marL="0">
              <a:buNone/>
            </a:pPr>
            <a:r>
              <a:rPr lang="en-US" sz="1800" b="1" dirty="0">
                <a:solidFill>
                  <a:srgbClr val="123B4F"/>
                </a:solidFill>
                <a:latin typeface="Cambria" pitchFamily="34" charset="0"/>
                <a:ea typeface="Cambria" pitchFamily="34" charset="-122"/>
                <a:cs typeface="Cambria" pitchFamily="34" charset="-120"/>
              </a:rPr>
              <a:t>Material evidence gaps</a:t>
            </a:r>
            <a:endParaRPr lang="en-US" sz="1800" dirty="0"/>
          </a:p>
        </p:txBody>
      </p:sp>
      <p:sp>
        <p:nvSpPr>
          <p:cNvPr id="8" name="bullets"/>
          <p:cNvSpPr txBox="1"/>
          <p:nvPr/>
        </p:nvSpPr>
        <p:spPr>
          <a:xfrm>
            <a:off x="6446520" y="1965960"/>
            <a:ext cx="4937760" cy="3840480"/>
          </a:xfrm>
          <a:prstGeom prst="rect">
            <a:avLst/>
          </a:prstGeom>
          <a:noFill/>
          <a:ln/>
        </p:spPr>
        <p:txBody>
          <a:bodyPr wrap="square" rtlCol="0" anchor="t"/>
          <a:lstStyle/>
          <a:p>
            <a:pPr marL="342900" indent="-342900">
              <a:spcAft>
                <a:spcPts val="800"/>
              </a:spcAft>
              <a:buSzPct val="100000"/>
              <a:buChar char="•"/>
            </a:pPr>
            <a:r>
              <a:rPr lang="en-US" sz="1400" dirty="0">
                <a:solidFill>
                  <a:srgbClr val="1B2A33"/>
                </a:solidFill>
              </a:rPr>
              <a:t>Seasonal dependable capacity of every hydro plant</a:t>
            </a:r>
            <a:endParaRPr lang="en-US" sz="1400" dirty="0"/>
          </a:p>
          <a:p>
            <a:pPr marL="342900" indent="-342900">
              <a:spcAft>
                <a:spcPts val="800"/>
              </a:spcAft>
              <a:buSzPct val="100000"/>
              <a:buChar char="•"/>
            </a:pPr>
            <a:r>
              <a:rPr lang="en-US" sz="1400" dirty="0">
                <a:solidFill>
                  <a:srgbClr val="1B2A33"/>
                </a:solidFill>
              </a:rPr>
              <a:t>Daily load curve; suppressed demand</a:t>
            </a:r>
            <a:endParaRPr lang="en-US" sz="1400" dirty="0"/>
          </a:p>
          <a:p>
            <a:pPr marL="342900" indent="-342900">
              <a:spcAft>
                <a:spcPts val="800"/>
              </a:spcAft>
              <a:buSzPct val="100000"/>
              <a:buChar char="•"/>
            </a:pPr>
            <a:r>
              <a:rPr lang="en-US" sz="1400" dirty="0">
                <a:solidFill>
                  <a:srgbClr val="1B2A33"/>
                </a:solidFill>
              </a:rPr>
              <a:t>PPA currency and payment terms; arrears by producer</a:t>
            </a:r>
            <a:endParaRPr lang="en-US" sz="1400" dirty="0"/>
          </a:p>
          <a:p>
            <a:pPr marL="342900" indent="-342900">
              <a:spcAft>
                <a:spcPts val="800"/>
              </a:spcAft>
              <a:buSzPct val="100000"/>
              <a:buChar char="•"/>
            </a:pPr>
            <a:r>
              <a:rPr lang="en-US" sz="1400" dirty="0">
                <a:solidFill>
                  <a:srgbClr val="1B2A33"/>
                </a:solidFill>
              </a:rPr>
              <a:t>Primary terms of the largest loans (Souapiti, Amaria)</a:t>
            </a:r>
            <a:endParaRPr lang="en-US" sz="1400" dirty="0"/>
          </a:p>
          <a:p>
            <a:pPr marL="342900" indent="-342900">
              <a:spcAft>
                <a:spcPts val="800"/>
              </a:spcAft>
              <a:buSzPct val="100000"/>
              <a:buChar char="•"/>
            </a:pPr>
            <a:r>
              <a:rPr lang="en-US" sz="1400" dirty="0">
                <a:solidFill>
                  <a:srgbClr val="1B2A33"/>
                </a:solidFill>
              </a:rPr>
              <a:t>Delivered fuel cost after 2019</a:t>
            </a:r>
            <a:endParaRPr lang="en-US" sz="1400" dirty="0"/>
          </a:p>
          <a:p>
            <a:pPr marL="342900" indent="-342900">
              <a:spcAft>
                <a:spcPts val="800"/>
              </a:spcAft>
              <a:buSzPct val="100000"/>
              <a:buChar char="•"/>
            </a:pPr>
            <a:r>
              <a:rPr lang="en-US" sz="1400" dirty="0">
                <a:solidFill>
                  <a:srgbClr val="1B2A33"/>
                </a:solidFill>
              </a:rPr>
              <a:t>Conflicting 2024 statistics (exports, billed, unserved energy)</a:t>
            </a:r>
            <a:endParaRPr lang="en-US" sz="1400" dirty="0"/>
          </a:p>
        </p:txBody>
      </p:sp>
      <p:sp>
        <p:nvSpPr>
          <p:cNvPr id="9" name="source"/>
          <p:cNvSpPr txBox="1"/>
          <p:nvPr/>
        </p:nvSpPr>
        <p:spPr>
          <a:xfrm>
            <a:off x="548640" y="5989320"/>
            <a:ext cx="11064240" cy="420624"/>
          </a:xfrm>
          <a:prstGeom prst="rect">
            <a:avLst/>
          </a:prstGeom>
          <a:noFill/>
          <a:ln/>
        </p:spPr>
        <p:txBody>
          <a:bodyPr wrap="square" rtlCol="0" anchor="t"/>
          <a:lstStyle/>
          <a:p>
            <a:pPr indent="0" marL="0">
              <a:buNone/>
            </a:pPr>
            <a:r>
              <a:rPr lang="en-US" sz="900" dirty="0">
                <a:solidFill>
                  <a:srgbClr val="4B5563"/>
                </a:solidFill>
              </a:rPr>
              <a:t>Conflicting statistics and gaps are listed with their sources in the online platform (Risks &amp; gaps tab).</a:t>
            </a:r>
            <a:endParaRPr lang="en-US" sz="900" dirty="0"/>
          </a:p>
        </p:txBody>
      </p:sp>
      <p:sp>
        <p:nvSpPr>
          <p:cNvPr id="25" name="Slide Number Placeholder 0"/>
          <p:cNvSpPr>
            <a:spLocks noGrp="1"/>
          </p:cNvSpPr>
          <p:nvPr>
            <p:ph type="sldNum" sz="quarter" idx="4294967295"/>
          </p:nvPr>
        </p:nvSpPr>
        <p:spPr>
          <a:xfrm>
            <a:off x="11155680" y="6446520"/>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4B5563"/>
                </a:solidFill>
                <a:latin typeface="Calibri"/>
                <a:ea typeface="Calibri"/>
                <a:cs typeface="Calibri"/>
              </a:defRPr>
            </a:lvl1pPr>
          </a:lstStyle>
          <a:p>
            <a:pPr algn="l"/>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ph idx="100" type="title" hasCustomPrompt="1"/>
          </p:nvPr>
        </p:nvSpPr>
        <p:spPr>
          <a:xfrm>
            <a:off x="640080" y="1737360"/>
            <a:ext cx="10881360" cy="1371600"/>
          </a:xfrm>
          <a:prstGeom prst="rect">
            <a:avLst/>
          </a:prstGeom>
          <a:noFill/>
          <a:ln/>
        </p:spPr>
        <p:txBody>
          <a:bodyPr wrap="square" rtlCol="0" anchor="b"/>
          <a:lstStyle/>
          <a:p>
            <a:pPr indent="0" marL="0">
              <a:buNone/>
            </a:pPr>
            <a:r>
              <a:rPr lang="en-US" sz="4000" b="1" dirty="0">
                <a:solidFill>
                  <a:srgbClr val="FFFFFF"/>
                </a:solidFill>
                <a:latin typeface="Cambria" pitchFamily="34" charset="0"/>
                <a:ea typeface="Cambria" pitchFamily="34" charset="-122"/>
                <a:cs typeface="Cambria" pitchFamily="34" charset="-120"/>
              </a:rPr>
              <a:t>Build firmness, deliver what is financed, restore the utility</a:t>
            </a:r>
            <a:endParaRPr lang="en-US" sz="4000" dirty="0"/>
          </a:p>
        </p:txBody>
      </p:sp>
      <p:sp>
        <p:nvSpPr>
          <p:cNvPr id="3" name="Text 0"/>
          <p:cNvSpPr/>
          <p:nvPr>
            <p:ph idx="101" type="body" hasCustomPrompt="1"/>
          </p:nvPr>
        </p:nvSpPr>
        <p:spPr>
          <a:xfrm>
            <a:off x="640080" y="3246120"/>
            <a:ext cx="10881360" cy="2377440"/>
          </a:xfrm>
          <a:prstGeom prst="rect">
            <a:avLst/>
          </a:prstGeom>
          <a:noFill/>
          <a:ln/>
        </p:spPr>
        <p:txBody>
          <a:bodyPr wrap="square" rtlCol="0" anchor="t"/>
          <a:lstStyle/>
          <a:p>
            <a:pPr indent="0" marL="0">
              <a:buNone/>
            </a:pPr>
            <a:r>
              <a:rPr lang="en-US" sz="1800" dirty="0">
                <a:solidFill>
                  <a:srgbClr val="DCE8EC"/>
                </a:solidFill>
                <a:latin typeface="Calibri" pitchFamily="34" charset="0"/>
                <a:ea typeface="Calibri" pitchFamily="34" charset="-122"/>
                <a:cs typeface="Calibri" pitchFamily="34" charset="-120"/>
              </a:rPr>
              <a:t>Interactive platform with all figures, projects and numbered sources accompanies this presentation.</a:t>
            </a:r>
            <a:endParaRPr lang="en-US" sz="1800" dirty="0"/>
          </a:p>
          <a:p>
            <a:pPr indent="0" marL="0">
              <a:buNone/>
            </a:pPr>
            <a:r>
              <a:rPr lang="en-US" sz="1800" dirty="0">
                <a:solidFill>
                  <a:srgbClr val="DCE8EC"/>
                </a:solidFill>
                <a:latin typeface="Calibri" pitchFamily="34" charset="0"/>
                <a:ea typeface="Calibri" pitchFamily="34" charset="-122"/>
                <a:cs typeface="Calibri" pitchFamily="34" charset="-120"/>
              </a:rPr>
              <a:t>Evidence-led research submission · not a government-approved dataset · not reviewed or endorsed by any government or cited institution.</a:t>
            </a:r>
            <a:endParaRPr lang="en-US" sz="1800" dirty="0"/>
          </a:p>
          <a:p>
            <a:pPr indent="0" marL="0">
              <a:buNone/>
            </a:pPr>
            <a:r>
              <a:rPr lang="en-US" sz="1800" dirty="0">
                <a:solidFill>
                  <a:srgbClr val="DCE8EC"/>
                </a:solidFill>
                <a:latin typeface="Calibri" pitchFamily="34" charset="0"/>
                <a:ea typeface="Calibri" pitchFamily="34" charset="-122"/>
                <a:cs typeface="Calibri" pitchFamily="34" charset="-120"/>
              </a:rPr>
              <a:t>Evidence retrieved 08–15 October 2026 · verify legal, financial, tariff and regulatory points with a qualified professional before acting.</a:t>
            </a:r>
            <a:endParaRPr lang="en-US" sz="1800" dirty="0"/>
          </a:p>
          <a:p>
            <a:pPr indent="0" marL="0">
              <a:buNone/>
            </a:pPr>
            <a:r>
              <a:rPr lang="en-US" sz="1800" dirty="0">
                <a:solidFill>
                  <a:srgbClr val="DCE8EC"/>
                </a:solidFill>
                <a:latin typeface="Calibri" pitchFamily="34" charset="0"/>
                <a:ea typeface="Calibri" pitchFamily="34" charset="-122"/>
                <a:cs typeface="Calibri" pitchFamily="34" charset="-120"/>
              </a:rPr>
              <a:t>Figures have not been independently verified by a human subject-matter expert.</a:t>
            </a:r>
            <a:endParaRPr lang="en-US" sz="1800" dirty="0"/>
          </a:p>
          <a:p>
            <a:pPr indent="0" marL="0">
              <a:buNone/>
            </a:pPr>
            <a:r>
              <a:rPr lang="en-US" sz="1800" dirty="0">
                <a:solidFill>
                  <a:srgbClr val="DCE8EC"/>
                </a:solidFill>
                <a:latin typeface="Calibri" pitchFamily="34" charset="0"/>
                <a:ea typeface="Calibri" pitchFamily="34" charset="-122"/>
                <a:cs typeface="Calibri" pitchFamily="34" charset="-120"/>
              </a:rPr>
              <a:t>Prepared by Alendei Green RE Pvt. Ltd. (Alendei Group), Vadodara, India · 16-Oct-2026</a:t>
            </a:r>
            <a:endParaRPr lang="en-US" sz="18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rtlCol="0" anchor="ctr"/>
          <a:lstStyle/>
          <a:p>
            <a:pPr indent="0" marL="0">
              <a:buNone/>
            </a:pPr>
            <a:r>
              <a:rPr lang="en-US" sz="3000" b="1" dirty="0">
                <a:solidFill>
                  <a:srgbClr val="123B4F"/>
                </a:solidFill>
                <a:latin typeface="Cambria" pitchFamily="34" charset="0"/>
                <a:ea typeface="Cambria" pitchFamily="34" charset="-122"/>
                <a:cs typeface="Cambria" pitchFamily="34" charset="-120"/>
              </a:rPr>
              <a:t>References (1 of 3)</a:t>
            </a:r>
            <a:endParaRPr lang="en-US" sz="3000" dirty="0"/>
          </a:p>
        </p:txBody>
      </p:sp>
      <p:sp>
        <p:nvSpPr>
          <p:cNvPr id="3" name="references"/>
          <p:cNvSpPr txBox="1"/>
          <p:nvPr/>
        </p:nvSpPr>
        <p:spPr>
          <a:xfrm>
            <a:off x="548640" y="1234440"/>
            <a:ext cx="11064240" cy="5074920"/>
          </a:xfrm>
          <a:prstGeom prst="rect">
            <a:avLst/>
          </a:prstGeom>
          <a:noFill/>
          <a:ln/>
        </p:spPr>
        <p:txBody>
          <a:bodyPr wrap="square" rtlCol="0" anchor="t"/>
          <a:lstStyle/>
          <a:p>
            <a:pPr indent="0" marL="0">
              <a:spcAft>
                <a:spcPts val="400"/>
              </a:spcAft>
              <a:buNone/>
            </a:pPr>
            <a:r>
              <a:rPr lang="en-US" sz="900" dirty="0">
                <a:solidFill>
                  <a:srgbClr val="1B2A33"/>
                </a:solidFill>
              </a:rPr>
              <a:t>[4] African Trade &amp; Investment Development Insurance (ATIDI, formerly ATI) (n.d.). Investor Relations - Member States (African Trade &amp; Investment Development Insurance, ATIDI). https://www.atidi.africa/investor-relations/member-states/</a:t>
            </a:r>
            <a:endParaRPr lang="en-US" sz="900" dirty="0"/>
          </a:p>
          <a:p>
            <a:pPr indent="0" marL="0">
              <a:spcAft>
                <a:spcPts val="400"/>
              </a:spcAft>
              <a:buNone/>
            </a:pPr>
            <a:r>
              <a:rPr lang="en-US" sz="900" dirty="0">
                <a:solidFill>
                  <a:srgbClr val="1B2A33"/>
                </a:solidFill>
              </a:rPr>
              <a:t>[7] AidData, William &amp; Mary (Chinese Loans and Grants dataset) (n.d.). China Eximbank provides $1.175 billion buyer's credit loan for 450MW Souapiti Hydroelectric Power Plant Construction Project (AidData record ID 187). https://china.aiddata.org/projects/187</a:t>
            </a:r>
            <a:endParaRPr lang="en-US" sz="900" dirty="0"/>
          </a:p>
          <a:p>
            <a:pPr indent="0" marL="0">
              <a:spcAft>
                <a:spcPts val="400"/>
              </a:spcAft>
              <a:buNone/>
            </a:pPr>
            <a:r>
              <a:rPr lang="en-US" sz="900" dirty="0">
                <a:solidFill>
                  <a:srgbClr val="1B2A33"/>
                </a:solidFill>
              </a:rPr>
              <a:t>[10] DTU Wind Energy / World Bank Group (ESMAP) (12-Jun-2025). Global Wind Atlas – country layers for Guinea (mean wind speed at 100 m). https://globalwindatlas.info/</a:t>
            </a:r>
            <a:endParaRPr lang="en-US" sz="900" dirty="0"/>
          </a:p>
          <a:p>
            <a:pPr indent="0" marL="0">
              <a:spcAft>
                <a:spcPts val="400"/>
              </a:spcAft>
              <a:buNone/>
            </a:pPr>
            <a:r>
              <a:rPr lang="en-US" sz="900" dirty="0">
                <a:solidFill>
                  <a:srgbClr val="1B2A33"/>
                </a:solidFill>
              </a:rPr>
              <a:t>[11] ECOWAS Bank for Investment and Development (EBID/BIDC) (11-Nov-2025). EBID signs EUR 123.451 million facility to advance agricultural education and rural electrification in the Republic of Guinea. https://www.bidc-ebid.org/en/?p=278382</a:t>
            </a:r>
            <a:endParaRPr lang="en-US" sz="900" dirty="0"/>
          </a:p>
          <a:p>
            <a:pPr indent="0" marL="0">
              <a:spcAft>
                <a:spcPts val="400"/>
              </a:spcAft>
              <a:buNone/>
            </a:pPr>
            <a:r>
              <a:rPr lang="en-US" sz="900" dirty="0">
                <a:solidFill>
                  <a:srgbClr val="1B2A33"/>
                </a:solidFill>
              </a:rPr>
              <a:t>[12] ECOWAS Bank for Investment and Development (EBID/BIDC) (12-Aug-2026). EBID commits over USD 510 million to drive development across West Africa (100th Board Meeting). https://www.bidc-ebid.org/en/ebid-commits-over-usd-510-million-to-drive-development-across-west-africa/</a:t>
            </a:r>
            <a:endParaRPr lang="en-US" sz="900" dirty="0"/>
          </a:p>
          <a:p>
            <a:pPr indent="0" marL="0">
              <a:spcAft>
                <a:spcPts val="400"/>
              </a:spcAft>
              <a:buNone/>
            </a:pPr>
            <a:r>
              <a:rPr lang="en-US" sz="900" dirty="0">
                <a:solidFill>
                  <a:srgbClr val="1B2A33"/>
                </a:solidFill>
              </a:rPr>
              <a:t>[13] ECOWAS Bank for Investment and Development (EBID/BIDC) (14-Sep-2026). EBID commits EUR 269.5 million to development in the Republic of Guinea. https://www.bidc-ebid.org/en/ebid-commits-eur-269-5-million-to-development-in-the-republic-of-guinea/</a:t>
            </a:r>
            <a:endParaRPr lang="en-US" sz="900" dirty="0"/>
          </a:p>
          <a:p>
            <a:pPr indent="0" marL="0">
              <a:spcAft>
                <a:spcPts val="400"/>
              </a:spcAft>
              <a:buNone/>
            </a:pPr>
            <a:r>
              <a:rPr lang="en-US" sz="900" dirty="0">
                <a:solidFill>
                  <a:srgbClr val="1B2A33"/>
                </a:solidFill>
              </a:rPr>
              <a:t>[18] European Investment Bank (23-Apr-2021). 330 millions d'EUR de l'Equipe Europe a la construction de la nouvelle ligne electrique de 225 kV Guinee-Mali (press release 2021-138-FR). https://www.eib.org/fr/press/all/2021-138-330-millions-d-eur-de-l-equipe-europe-a-la-construction-de-la-nouvelle-ligne-electrique-de-225-kv-guinee-mali-qui-approvisionnera-en-energie-propre-et-abordable-des-millions-de-personnes-en-afrique-de-l-ouest</a:t>
            </a:r>
            <a:endParaRPr lang="en-US" sz="900" dirty="0"/>
          </a:p>
          <a:p>
            <a:pPr indent="0" marL="0">
              <a:spcAft>
                <a:spcPts val="400"/>
              </a:spcAft>
              <a:buNone/>
            </a:pPr>
            <a:r>
              <a:rPr lang="en-US" sz="900" dirty="0">
                <a:solidFill>
                  <a:srgbClr val="1B2A33"/>
                </a:solidFill>
              </a:rPr>
              <a:t>[20] Financial Afrik (24-Apr-2026). Guinée : Cegelec décroche la construction d'une centrale solaire de 50 MWc. https://www.financialafrik.com/2026/04/24/guinee-cegelec-decroche-la-construction-dune-centrale-solaire-de-50-mwc/</a:t>
            </a:r>
            <a:endParaRPr lang="en-US" sz="900" dirty="0"/>
          </a:p>
          <a:p>
            <a:pPr indent="0" marL="0">
              <a:spcAft>
                <a:spcPts val="400"/>
              </a:spcAft>
              <a:buNone/>
            </a:pPr>
            <a:r>
              <a:rPr lang="en-US" sz="900" dirty="0">
                <a:solidFill>
                  <a:srgbClr val="1B2A33"/>
                </a:solidFill>
              </a:rPr>
              <a:t>[22] Government of Guinea (published by the World Bank, M300 energy compacts) (2025). Pacte National de l'Énergie pour la République de Guinée (Mission 300 National Energy Compact). https://thedocs.worldbank.org/en/doc/e8d7d425ed2300100ec9574759a5590d-0010012025/original/Guinea-Compact-M300.pdf</a:t>
            </a:r>
            <a:endParaRPr lang="en-US" sz="900" dirty="0"/>
          </a:p>
          <a:p>
            <a:pPr indent="0" marL="0">
              <a:spcAft>
                <a:spcPts val="400"/>
              </a:spcAft>
              <a:buNone/>
            </a:pPr>
            <a:r>
              <a:rPr lang="en-US" sz="900" dirty="0">
                <a:solidFill>
                  <a:srgbClr val="1B2A33"/>
                </a:solidFill>
              </a:rPr>
              <a:t>[23] Groupement d'Intérêt Economique ORSTOM-EDF, for Ministère des Ressources Naturelles, des Energies et de l'Environnement (Guinée) (Jul-1994). Aménagement hydro-électrique de Kaléta sur le Konkouré - Synthèse des données de base - Hydrologie. https://horizon.documentation.ird.fr/exl-doc/pleins_textes/divers17-01/010024879.pdf</a:t>
            </a:r>
            <a:endParaRPr lang="en-US" sz="900" dirty="0"/>
          </a:p>
          <a:p>
            <a:pPr indent="0" marL="0">
              <a:spcAft>
                <a:spcPts val="400"/>
              </a:spcAft>
              <a:buNone/>
            </a:pPr>
            <a:r>
              <a:rPr lang="en-US" sz="900" dirty="0">
                <a:solidFill>
                  <a:srgbClr val="1B2A33"/>
                </a:solidFill>
              </a:rPr>
              <a:t>[30] Guinéenews (reproducing presidential decree of 25-Apr-2026) (26-Apr-2026). Guinée : le projet de construction de la Centrale hydroélectrique d'Amaria (300 MW) déclaré « Projet d'Intérêt National » (décret intégral). https://guineenews.org/2026/04/26/guinee-la-construction-de-la-centrale-hydroelectrique-damaria-declaree-projet-dinteret-national-decret/</a:t>
            </a:r>
            <a:endParaRPr lang="en-US" sz="900" dirty="0"/>
          </a:p>
        </p:txBody>
      </p:sp>
      <p:sp>
        <p:nvSpPr>
          <p:cNvPr id="25" name="Slide Number Placeholder 0"/>
          <p:cNvSpPr>
            <a:spLocks noGrp="1"/>
          </p:cNvSpPr>
          <p:nvPr>
            <p:ph type="sldNum" sz="quarter" idx="4294967295"/>
          </p:nvPr>
        </p:nvSpPr>
        <p:spPr>
          <a:xfrm>
            <a:off x="11155680" y="6446520"/>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4B5563"/>
                </a:solidFill>
                <a:latin typeface="Calibri"/>
                <a:ea typeface="Calibri"/>
                <a:cs typeface="Calibri"/>
              </a:defRPr>
            </a:lvl1pPr>
          </a:lstStyle>
          <a:p>
            <a:pPr algn="l"/>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rtlCol="0" anchor="ctr"/>
          <a:lstStyle/>
          <a:p>
            <a:pPr indent="0" marL="0">
              <a:buNone/>
            </a:pPr>
            <a:r>
              <a:rPr lang="en-US" sz="3000" b="1" dirty="0">
                <a:solidFill>
                  <a:srgbClr val="123B4F"/>
                </a:solidFill>
                <a:latin typeface="Cambria" pitchFamily="34" charset="0"/>
                <a:ea typeface="Cambria" pitchFamily="34" charset="-122"/>
                <a:cs typeface="Cambria" pitchFamily="34" charset="-120"/>
              </a:rPr>
              <a:t>References (2 of 3)</a:t>
            </a:r>
            <a:endParaRPr lang="en-US" sz="3000" dirty="0"/>
          </a:p>
        </p:txBody>
      </p:sp>
      <p:sp>
        <p:nvSpPr>
          <p:cNvPr id="3" name="references"/>
          <p:cNvSpPr txBox="1"/>
          <p:nvPr/>
        </p:nvSpPr>
        <p:spPr>
          <a:xfrm>
            <a:off x="548640" y="1234440"/>
            <a:ext cx="11064240" cy="5074920"/>
          </a:xfrm>
          <a:prstGeom prst="rect">
            <a:avLst/>
          </a:prstGeom>
          <a:noFill/>
          <a:ln/>
        </p:spPr>
        <p:txBody>
          <a:bodyPr wrap="square" rtlCol="0" anchor="t"/>
          <a:lstStyle/>
          <a:p>
            <a:pPr indent="0" marL="0">
              <a:spcAft>
                <a:spcPts val="400"/>
              </a:spcAft>
              <a:buNone/>
            </a:pPr>
            <a:r>
              <a:rPr lang="en-US" sz="900" dirty="0">
                <a:solidFill>
                  <a:srgbClr val="1B2A33"/>
                </a:solidFill>
              </a:rPr>
              <a:t>[32] Islamic Development Bank (project procurement portal) / Gouvernement de Guinée (Apr-2025). Avis général de passation des marchés (AGPM) - Projet de construction d'une centrale thermique de 40 MW à Kankan et de réhabilitation et d'extension du réseau MT/BT de Kouroussa et seize localités. https://www.isdb.org/project-procurement/sites/pproc/files/2025-05/AGPM-Projet%20Kankan-Kouroussa-%20Avril%202025%20%28002%29.docx</a:t>
            </a:r>
            <a:endParaRPr lang="en-US" sz="900" dirty="0"/>
          </a:p>
          <a:p>
            <a:pPr indent="0" marL="0">
              <a:spcAft>
                <a:spcPts val="400"/>
              </a:spcAft>
              <a:buNone/>
            </a:pPr>
            <a:r>
              <a:rPr lang="en-US" sz="900" dirty="0">
                <a:solidFill>
                  <a:srgbClr val="1B2A33"/>
                </a:solidFill>
              </a:rPr>
              <a:t>[33] Ministère de l'Énergie (Cellule de communication), republished by Mediaguinee (14-Jul-2026). Barrage hydroélectrique d'Amaria : le ministre de l'Énergie salue l'avancement satisfaisant des travaux. https://mediaguinee.com/2026/07/%F0%9D%90%81%F0%9D%90%9A%F0%9D%90%AB%F0%9D%90%AB%F0%9D%90%9A%F0%9D%90%A0%F0%9D%90%9E-%F0%9D%90%A1%F0%9D%90%B2%F0%9D%90%9D%F0%9D%90%AB%F0%9D%90%A8%F0%9D%90%9E%F0%9D%90%A5%F0%9D%90%9E%F0%9D%90%9C</a:t>
            </a:r>
            <a:endParaRPr lang="en-US" sz="900" dirty="0"/>
          </a:p>
          <a:p>
            <a:pPr indent="0" marL="0">
              <a:spcAft>
                <a:spcPts val="400"/>
              </a:spcAft>
              <a:buNone/>
            </a:pPr>
            <a:r>
              <a:rPr lang="en-US" sz="900" dirty="0">
                <a:solidFill>
                  <a:srgbClr val="1B2A33"/>
                </a:solidFill>
              </a:rPr>
              <a:t>[35] Ministère de l'Énergie et de l'Hydraulique (MEH), Guinea / World Bank (prepared by AECOM) (15-Feb-2018). Study for the Development of a Hydropower Resources Atlas of Guinea - Final Report (Atlas Report Phase 3, Revision 1). </a:t>
            </a:r>
            <a:endParaRPr lang="en-US" sz="900" dirty="0"/>
          </a:p>
          <a:p>
            <a:pPr indent="0" marL="0">
              <a:spcAft>
                <a:spcPts val="400"/>
              </a:spcAft>
              <a:buNone/>
            </a:pPr>
            <a:r>
              <a:rPr lang="en-US" sz="900" dirty="0">
                <a:solidFill>
                  <a:srgbClr val="1B2A33"/>
                </a:solidFill>
              </a:rPr>
              <a:t>[39] OECD (26-Jun-2026). Country Risk Classifications of the Participants to the Arrangement on Officially Supported Export Credits (valid as of 26 June 2026). https://www.oecd.org/content/dam/oecd/en/topics/policy-sub-issues/country-risk-classification/cre-crc-current-english.pdf</a:t>
            </a:r>
            <a:endParaRPr lang="en-US" sz="900" dirty="0"/>
          </a:p>
          <a:p>
            <a:pPr indent="0" marL="0">
              <a:spcAft>
                <a:spcPts val="400"/>
              </a:spcAft>
              <a:buNone/>
            </a:pPr>
            <a:r>
              <a:rPr lang="en-US" sz="900" dirty="0">
                <a:solidFill>
                  <a:srgbClr val="1B2A33"/>
                </a:solidFill>
              </a:rPr>
              <a:t>[54] West African Power Pool (WAPP) / ECOWAS (consultant-prepared, Tractebel) (Dec-2018). Update of the ECOWAS revised master plan for the development of power generation and transmission of electrical energy - Final Report - Volume 2: State of play of the current situation of the electricity system and perspectives. https://www.ecowapp.org/sites/default/files/volume_2.pdf</a:t>
            </a:r>
            <a:endParaRPr lang="en-US" sz="900" dirty="0"/>
          </a:p>
          <a:p>
            <a:pPr indent="0" marL="0">
              <a:spcAft>
                <a:spcPts val="400"/>
              </a:spcAft>
              <a:buNone/>
            </a:pPr>
            <a:r>
              <a:rPr lang="en-US" sz="900" dirty="0">
                <a:solidFill>
                  <a:srgbClr val="1B2A33"/>
                </a:solidFill>
              </a:rPr>
              <a:t>[55] West African Power Pool (WAPP) / GIZ PROCEM II (consultant report) (24-Jun-2024). Development of a least cost investment plan and regulatory frameworks for BESS deployment in West Africa (WAPP grid) - Report on BESS's Lower-Cost Investment Plan (6279-BESS-RP-006, Rev. R4 FINAL). https://www.ecowapp.org/sites/default/files/1bess_investement_plan_fv_en.pdf</a:t>
            </a:r>
            <a:endParaRPr lang="en-US" sz="900" dirty="0"/>
          </a:p>
          <a:p>
            <a:pPr indent="0" marL="0">
              <a:spcAft>
                <a:spcPts val="400"/>
              </a:spcAft>
              <a:buNone/>
            </a:pPr>
            <a:r>
              <a:rPr lang="en-US" sz="900" dirty="0">
                <a:solidFill>
                  <a:srgbClr val="1B2A33"/>
                </a:solidFill>
              </a:rPr>
              <a:t>[64] World Bank (06-Jun-2025). Guinea – Second Phase of the Electricity Access Scale Up Project (P511453): Project Appraisal Document. https://documents.worldbank.org/curated/en/099080425213535308/text/BOSIB-e7b1cb57-9078-490e-8988-30bc9fe608c0.txt</a:t>
            </a:r>
            <a:endParaRPr lang="en-US" sz="900" dirty="0"/>
          </a:p>
          <a:p>
            <a:pPr indent="0" marL="0">
              <a:spcAft>
                <a:spcPts val="400"/>
              </a:spcAft>
              <a:buNone/>
            </a:pPr>
            <a:r>
              <a:rPr lang="en-US" sz="900" dirty="0">
                <a:solidFill>
                  <a:srgbClr val="1B2A33"/>
                </a:solidFill>
              </a:rPr>
              <a:t>[65] World Bank (17-Dec-2025). Restructuring Paper on a Proposed Project Restructuring of Guinea - Mali Interconnection Project. https://documents.worldbank.org/curated/en/099121625205531404/pdf/P166042-10e30b22-6151-4c15-8c67-b3c75a6ddb03.pdf</a:t>
            </a:r>
            <a:endParaRPr lang="en-US" sz="900" dirty="0"/>
          </a:p>
          <a:p>
            <a:pPr indent="0" marL="0">
              <a:spcAft>
                <a:spcPts val="400"/>
              </a:spcAft>
              <a:buNone/>
            </a:pPr>
            <a:r>
              <a:rPr lang="en-US" sz="900" dirty="0">
                <a:solidFill>
                  <a:srgbClr val="1B2A33"/>
                </a:solidFill>
              </a:rPr>
              <a:t>[66] World Bank (11-May-2026). Disclosable Version of the ISR - Guinea - Mali Interconnection Project - P166042 - Sequence No: 13. https://documents.worldbank.org/curated/en/099051126091010144/pdf/P166042-48ef2d03-2ed3-4e71-9237-8d147dbc496e.pdf</a:t>
            </a:r>
            <a:endParaRPr lang="en-US" sz="900" dirty="0"/>
          </a:p>
          <a:p>
            <a:pPr indent="0" marL="0">
              <a:spcAft>
                <a:spcPts val="400"/>
              </a:spcAft>
              <a:buNone/>
            </a:pPr>
            <a:r>
              <a:rPr lang="en-US" sz="900" dirty="0">
                <a:solidFill>
                  <a:srgbClr val="1B2A33"/>
                </a:solidFill>
              </a:rPr>
              <a:t>[67] World Bank (25-Jun-2026). Implementation Completion and Results Report: OMVG Interconnection Project (P146830). https://documents.worldbank.org/curated/en/099062426204526346/pdf/BOSIB-6b92f372-724e-4687-9ef0-da35498f0056.pdf</a:t>
            </a:r>
            <a:endParaRPr lang="en-US" sz="900" dirty="0"/>
          </a:p>
          <a:p>
            <a:pPr indent="0" marL="0">
              <a:spcAft>
                <a:spcPts val="400"/>
              </a:spcAft>
              <a:buNone/>
            </a:pPr>
            <a:r>
              <a:rPr lang="en-US" sz="900" dirty="0">
                <a:solidFill>
                  <a:srgbClr val="1B2A33"/>
                </a:solidFill>
              </a:rPr>
              <a:t>[69] World Bank (13-Jul-2026). World Development Indicators: Access to electricity (% of population), urban, rural — Guinea (API extract) + series metadata. https://data.worldbank.org/indicator/EG.ELC.ACCS.ZS?locations=GN</a:t>
            </a:r>
            <a:endParaRPr lang="en-US" sz="900" dirty="0"/>
          </a:p>
        </p:txBody>
      </p:sp>
      <p:sp>
        <p:nvSpPr>
          <p:cNvPr id="25" name="Slide Number Placeholder 0"/>
          <p:cNvSpPr>
            <a:spLocks noGrp="1"/>
          </p:cNvSpPr>
          <p:nvPr>
            <p:ph type="sldNum" sz="quarter" idx="4294967295"/>
          </p:nvPr>
        </p:nvSpPr>
        <p:spPr>
          <a:xfrm>
            <a:off x="11155680" y="6446520"/>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4B5563"/>
                </a:solidFill>
                <a:latin typeface="Calibri"/>
                <a:ea typeface="Calibri"/>
                <a:cs typeface="Calibri"/>
              </a:defRPr>
            </a:lvl1pPr>
          </a:lstStyle>
          <a:p>
            <a:pPr algn="l"/>
            <a:fld id="{F7021451-1387-4CA6-816F-3879F97B5CBC}" type="slidenum">
              <a:rPr b="0"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rtlCol="0" anchor="ctr"/>
          <a:lstStyle/>
          <a:p>
            <a:pPr indent="0" marL="0">
              <a:buNone/>
            </a:pPr>
            <a:r>
              <a:rPr lang="en-US" sz="3000" b="1" dirty="0">
                <a:solidFill>
                  <a:srgbClr val="123B4F"/>
                </a:solidFill>
                <a:latin typeface="Cambria" pitchFamily="34" charset="0"/>
                <a:ea typeface="Cambria" pitchFamily="34" charset="-122"/>
                <a:cs typeface="Cambria" pitchFamily="34" charset="-120"/>
              </a:rPr>
              <a:t>References (3 of 3)</a:t>
            </a:r>
            <a:endParaRPr lang="en-US" sz="3000" dirty="0"/>
          </a:p>
        </p:txBody>
      </p:sp>
      <p:sp>
        <p:nvSpPr>
          <p:cNvPr id="3" name="references"/>
          <p:cNvSpPr txBox="1"/>
          <p:nvPr/>
        </p:nvSpPr>
        <p:spPr>
          <a:xfrm>
            <a:off x="548640" y="1234440"/>
            <a:ext cx="11064240" cy="5074920"/>
          </a:xfrm>
          <a:prstGeom prst="rect">
            <a:avLst/>
          </a:prstGeom>
          <a:noFill/>
          <a:ln/>
        </p:spPr>
        <p:txBody>
          <a:bodyPr wrap="square" rtlCol="0" anchor="t"/>
          <a:lstStyle/>
          <a:p>
            <a:pPr indent="0" marL="0">
              <a:spcAft>
                <a:spcPts val="400"/>
              </a:spcAft>
              <a:buNone/>
            </a:pPr>
            <a:r>
              <a:rPr lang="en-US" sz="900" dirty="0">
                <a:solidFill>
                  <a:srgbClr val="1B2A33"/>
                </a:solidFill>
              </a:rPr>
              <a:t>[71] World Bank Group (Dec-2025). Guinea - Country Climate and Development Report. https://documents1.worldbank.org/curated/en/099021226050013303/pdf/P501474-e1a9833f-7eb7-4b58-bee2-81c8ab479282.pdf</a:t>
            </a:r>
            <a:endParaRPr lang="en-US" sz="900" dirty="0"/>
          </a:p>
          <a:p>
            <a:pPr indent="0" marL="0">
              <a:spcAft>
                <a:spcPts val="400"/>
              </a:spcAft>
              <a:buNone/>
            </a:pPr>
            <a:r>
              <a:rPr lang="en-US" sz="900" dirty="0">
                <a:solidFill>
                  <a:srgbClr val="1B2A33"/>
                </a:solidFill>
              </a:rPr>
              <a:t>[72] World Bank Group (Jun-2026). Guinea Country Partnership Framework – Annex 3: Financing and Implementation Arrangements. https://documents1.worldbank.org/curated/en/099802106252635272/pdf/SECBOS-5a27d0cd-0524-4e7c-8f00-0e44094e6890.pdf</a:t>
            </a:r>
            <a:endParaRPr lang="en-US" sz="900" dirty="0"/>
          </a:p>
          <a:p>
            <a:pPr indent="0" marL="0">
              <a:spcAft>
                <a:spcPts val="400"/>
              </a:spcAft>
              <a:buNone/>
            </a:pPr>
            <a:r>
              <a:rPr lang="en-US" sz="900" dirty="0">
                <a:solidFill>
                  <a:srgbClr val="1B2A33"/>
                </a:solidFill>
              </a:rPr>
              <a:t>[74] Électricité de Guinée (EDG / EDG-SA) (n.d.). Électricité de Guinée - Rapport annuel 2017. https://edg.com.gn/wp-content/uploads/2024/07/RAPPORT-ANNUEL-EDG-2017_VF.pdf</a:t>
            </a:r>
            <a:endParaRPr lang="en-US" sz="900" dirty="0"/>
          </a:p>
          <a:p>
            <a:pPr indent="0" marL="0">
              <a:spcAft>
                <a:spcPts val="400"/>
              </a:spcAft>
              <a:buNone/>
            </a:pPr>
            <a:r>
              <a:rPr lang="en-US" sz="900" dirty="0">
                <a:solidFill>
                  <a:srgbClr val="1B2A33"/>
                </a:solidFill>
              </a:rPr>
              <a:t>[75] Électricité de Guinée (EDG / EDG-SA) (17-Mar-2022). Électricité de Guinée - Rapport annuel 2021. https://edg.com.gn/wp-content/uploads/2023/02/RAPPORT-2021_EDG-MEP1_definitif_17032022.pdf</a:t>
            </a:r>
            <a:endParaRPr lang="en-US" sz="900" dirty="0"/>
          </a:p>
          <a:p>
            <a:pPr indent="0" marL="0">
              <a:spcAft>
                <a:spcPts val="400"/>
              </a:spcAft>
              <a:buNone/>
            </a:pPr>
            <a:r>
              <a:rPr lang="en-US" sz="900" dirty="0">
                <a:solidFill>
                  <a:srgbClr val="1B2A33"/>
                </a:solidFill>
              </a:rPr>
              <a:t>[78] Électricité de Guinée (EDG / EDG-SA) (Jul-2025). Électricité de Guinée - Rapport annuel 2024. https://edg.com.gn/wp-content/uploads/2025/07/Rapport-annuel-exercice-2024.pdf</a:t>
            </a:r>
            <a:endParaRPr lang="en-US" sz="900" dirty="0"/>
          </a:p>
          <a:p>
            <a:pPr indent="0" marL="0">
              <a:spcAft>
                <a:spcPts val="400"/>
              </a:spcAft>
              <a:buNone/>
            </a:pPr>
            <a:r>
              <a:rPr lang="en-US" sz="900" dirty="0">
                <a:solidFill>
                  <a:srgbClr val="1B2A33"/>
                </a:solidFill>
              </a:rPr>
              <a:t>[79] Électricité de Guinée (EDG / EDG-SA) (Aug-2026). Électricité de Guinée - Rapport annuel 2025. https://edg.com.gn/wp-content/uploads/2026/08/RAPPORT-ANNUEL-EDG-2025-Vf.pdf</a:t>
            </a:r>
            <a:endParaRPr lang="en-US" sz="900" dirty="0"/>
          </a:p>
          <a:p>
            <a:pPr indent="0" marL="0">
              <a:spcAft>
                <a:spcPts val="400"/>
              </a:spcAft>
              <a:buNone/>
            </a:pPr>
            <a:r>
              <a:rPr lang="en-US" sz="900" dirty="0">
                <a:solidFill>
                  <a:srgbClr val="1B2A33"/>
                </a:solidFill>
              </a:rPr>
              <a:t>[80] Électricité de Guinée (EDG-SA) for the Ministère de l'Énergie (21-Jan-2026). Appel à manifestation d'intérêt - Contrôle et supervision des travaux de construction de la centrale thermique HFO de 40 MW à Kankan (Financement BID GIN-1057). https://edg.com.gn/wp-content/uploads/2026/01/20250722_161811_BID-Avis_a_Manifestation_dinteret_Centrale_thermique_40_MW.pdf</a:t>
            </a:r>
            <a:endParaRPr lang="en-US" sz="900" dirty="0"/>
          </a:p>
          <a:p>
            <a:pPr indent="0" marL="0">
              <a:spcAft>
                <a:spcPts val="400"/>
              </a:spcAft>
              <a:buNone/>
            </a:pPr>
            <a:r>
              <a:rPr lang="en-US" sz="900" dirty="0">
                <a:solidFill>
                  <a:srgbClr val="1B2A33"/>
                </a:solidFill>
              </a:rPr>
              <a:t>[81] Électricité de Guinée / MEHH (16-Dec-2024). Avis à manifestation d'intérêt – L'actualisation et la finalisation du Projet de loi cadre du secteur de l'Energie et ses textes d'application (PPF BAD). https://edg.com.gn/wp-content/uploads/2024/12/Guinee_PPF-energie_AMI_Loi_cadre_VFii_BAD.pdf</a:t>
            </a:r>
            <a:endParaRPr lang="en-US" sz="900" dirty="0"/>
          </a:p>
          <a:p>
            <a:pPr indent="0" marL="0">
              <a:spcAft>
                <a:spcPts val="400"/>
              </a:spcAft>
              <a:buNone/>
            </a:pPr>
            <a:r>
              <a:rPr lang="en-US" sz="900" dirty="0">
                <a:solidFill>
                  <a:srgbClr val="1B2A33"/>
                </a:solidFill>
              </a:rPr>
              <a:t>[82] Électricité de Guinée SA (Feb-2025). Rapport annuel 2023 – EDG-SA (Rapport d'activités exercice 2023). https://edg.com.gn/wp-content/uploads/2025/02/RAPPORT-ACTIVITES-EDG-SA-Excercice-2023.pdf</a:t>
            </a:r>
            <a:endParaRPr lang="en-US" sz="900" dirty="0"/>
          </a:p>
        </p:txBody>
      </p:sp>
      <p:sp>
        <p:nvSpPr>
          <p:cNvPr id="25" name="Slide Number Placeholder 0"/>
          <p:cNvSpPr>
            <a:spLocks noGrp="1"/>
          </p:cNvSpPr>
          <p:nvPr>
            <p:ph type="sldNum" sz="quarter" idx="4294967295"/>
          </p:nvPr>
        </p:nvSpPr>
        <p:spPr>
          <a:xfrm>
            <a:off x="11155680" y="6446520"/>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4B5563"/>
                </a:solidFill>
                <a:latin typeface="Calibri"/>
                <a:ea typeface="Calibri"/>
                <a:cs typeface="Calibri"/>
              </a:defRPr>
            </a:lvl1pPr>
          </a:lstStyle>
          <a:p>
            <a:pPr algn="l"/>
            <a:fld id="{F7021451-1387-4CA6-816F-3879F97B5CBC}" type="slidenum">
              <a:rPr b="0" lang="en-US"/>
              <a:t>21</a:t>
            </a:fld>
            <a:endParaRPr lang="en-US"/>
          </a:p>
        </p:txBody>
      </p:sp>
    </p:spTree>
  </p:cSld>
  <p:clrMapOvr>
    <a:masterClrMapping/>
  </p:clrMapOvr>
</p:sld>
</file>

<file path=ppt/theme/theme1.xml><?xml version="1.0" encoding="utf-8"?>
<a:theme xmlns:a="http://schemas.openxmlformats.org/drawingml/2006/main" name="Guinea Energy 2026">
  <a:themeElements>
    <a:clrScheme name="Guinea Energy 2026">
      <a:dk1>
        <a:srgbClr val="1B2A33"/>
      </a:dk1>
      <a:lt1>
        <a:srgbClr val="FFFFFF"/>
      </a:lt1>
      <a:dk2>
        <a:srgbClr val="123B4F"/>
      </a:dk2>
      <a:lt2>
        <a:srgbClr val="EEF3F5"/>
      </a:lt2>
      <a:accent1>
        <a:srgbClr val="1F7A8C"/>
      </a:accent1>
      <a:accent2>
        <a:srgbClr val="E8A33D"/>
      </a:accent2>
      <a:accent3>
        <a:srgbClr val="B5452E"/>
      </a:accent3>
      <a:accent4>
        <a:srgbClr val="8C7B6B"/>
      </a:accent4>
      <a:accent5>
        <a:srgbClr val="5B8C5A"/>
      </a:accent5>
      <a:accent6>
        <a:srgbClr val="6B7280"/>
      </a:accent6>
      <a:hlink>
        <a:srgbClr val="155E6E"/>
      </a:hlink>
      <a:folHlink>
        <a:srgbClr val="123B4F"/>
      </a:folHlink>
    </a:clrScheme>
    <a:fontScheme name="Guinea Energy 2026">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21</Slides>
  <Notes>21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21</vt:i4>
      </vt:variant>
    </vt:vector>
  </HeadingPairs>
  <TitlesOfParts>
    <vt:vector size="2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vector>
  </TitlesOfParts>
  <Company>Alendei Green RE Pvt. Ltd.</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Guinea Energy Intelligence — Public/Government Edition — v1.3 — Executive presentation</dc:title>
  <dc:subject>Power-sector assessment, investment pipeline and priorities for 2027–2035</dc:subject>
  <dc:creator>Alendei Green RE Pvt. Ltd.</dc:creator>
  <cp:lastModifiedBy>Alendei Green RE Pvt. Ltd.</cp:lastModifiedBy>
  <cp:revision>1</cp:revision>
  <dcterms:created xsi:type="dcterms:W3CDTF">2026-10-16T04:42:24Z</dcterms:created>
  <dcterms:modified xsi:type="dcterms:W3CDTF">2026-10-16T04:42:24Z</dcterms:modified>
</cp:coreProperties>
</file>